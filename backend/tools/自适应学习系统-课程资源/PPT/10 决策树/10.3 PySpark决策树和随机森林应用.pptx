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274" r:id="rId3"/>
    <p:sldId id="275" r:id="rId4"/>
    <p:sldId id="276" r:id="rId5"/>
    <p:sldId id="277" r:id="rId6"/>
    <p:sldId id="278" r:id="rId7"/>
    <p:sldId id="279" r:id="rId8"/>
    <p:sldId id="280" r:id="rId9"/>
    <p:sldId id="281" r:id="rId10"/>
    <p:sldId id="282" r:id="rId11"/>
    <p:sldId id="283" r:id="rId12"/>
    <p:sldId id="284" r:id="rId13"/>
    <p:sldId id="285" r:id="rId14"/>
    <p:sldId id="287" r:id="rId15"/>
    <p:sldId id="545" r:id="rId16"/>
    <p:sldId id="546" r:id="rId17"/>
    <p:sldId id="547" r:id="rId18"/>
    <p:sldId id="549" r:id="rId19"/>
    <p:sldId id="548" r:id="rId20"/>
    <p:sldId id="550" r:id="rId21"/>
    <p:sldId id="551" r:id="rId22"/>
    <p:sldId id="552" r:id="rId23"/>
    <p:sldId id="553" r:id="rId24"/>
    <p:sldId id="554" r:id="rId25"/>
    <p:sldId id="556" r:id="rId26"/>
    <p:sldId id="557" r:id="rId27"/>
    <p:sldId id="558" r:id="rId28"/>
    <p:sldId id="559" r:id="rId29"/>
    <p:sldId id="560" r:id="rId30"/>
    <p:sldId id="561" r:id="rId31"/>
    <p:sldId id="562" r:id="rId32"/>
    <p:sldId id="563" r:id="rId33"/>
    <p:sldId id="564" r:id="rId34"/>
    <p:sldId id="565" r:id="rId35"/>
    <p:sldId id="566" r:id="rId36"/>
    <p:sldId id="567" r:id="rId37"/>
    <p:sldId id="568" r:id="rId38"/>
    <p:sldId id="569" r:id="rId39"/>
    <p:sldId id="570" r:id="rId40"/>
    <p:sldId id="572" r:id="rId41"/>
    <p:sldId id="573" r:id="rId42"/>
    <p:sldId id="574" r:id="rId43"/>
    <p:sldId id="576" r:id="rId44"/>
    <p:sldId id="575" r:id="rId45"/>
    <p:sldId id="412" r:id="rId46"/>
    <p:sldId id="440" r:id="rId47"/>
    <p:sldId id="434" r:id="rId48"/>
    <p:sldId id="579" r:id="rId49"/>
    <p:sldId id="577" r:id="rId50"/>
    <p:sldId id="578" r:id="rId51"/>
    <p:sldId id="442" r:id="rId52"/>
    <p:sldId id="581" r:id="rId53"/>
    <p:sldId id="580" r:id="rId54"/>
    <p:sldId id="582" r:id="rId55"/>
    <p:sldId id="583"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6AC4"/>
    <a:srgbClr val="0B41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23" autoAdjust="0"/>
    <p:restoredTop sz="89688"/>
  </p:normalViewPr>
  <p:slideViewPr>
    <p:cSldViewPr snapToGrid="0" showGuides="1">
      <p:cViewPr varScale="1">
        <p:scale>
          <a:sx n="94" d="100"/>
          <a:sy n="94" d="100"/>
        </p:scale>
        <p:origin x="224" y="40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4611B-D63D-4827-9508-62293A02981D}" type="datetimeFigureOut">
              <a:rPr lang="zh-CN" altLang="en-US" smtClean="0"/>
              <a:t>2025/4/20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B7F5E-4F88-4111-B208-2F260B30BFD4}" type="slidenum">
              <a:rPr lang="zh-CN" altLang="en-US" smtClean="0"/>
              <a:t>‹#›</a:t>
            </a:fld>
            <a:endParaRPr lang="zh-CN" altLang="en-US"/>
          </a:p>
        </p:txBody>
      </p:sp>
    </p:spTree>
    <p:extLst>
      <p:ext uri="{BB962C8B-B14F-4D97-AF65-F5344CB8AC3E}">
        <p14:creationId xmlns:p14="http://schemas.microsoft.com/office/powerpoint/2010/main" val="2588663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a:extLst>
              <a:ext uri="{FF2B5EF4-FFF2-40B4-BE49-F238E27FC236}">
                <a16:creationId xmlns:a16="http://schemas.microsoft.com/office/drawing/2014/main" id="{DBAF6F56-11DB-4244-BD6A-EC92F2AD2F17}"/>
              </a:ext>
            </a:extLst>
          </p:cNvPr>
          <p:cNvSpPr>
            <a:spLocks noGrp="1" noRot="1" noChangeAspect="1" noChangeArrowheads="1" noTextEdit="1"/>
          </p:cNvSpPr>
          <p:nvPr>
            <p:ph type="sldImg"/>
          </p:nvPr>
        </p:nvSpPr>
        <p:spPr>
          <a:xfrm>
            <a:off x="685800" y="1143000"/>
            <a:ext cx="5486400" cy="3086100"/>
          </a:xfrm>
          <a:ln/>
        </p:spPr>
      </p:sp>
      <p:sp>
        <p:nvSpPr>
          <p:cNvPr id="61442" name="备注占位符 2">
            <a:extLst>
              <a:ext uri="{FF2B5EF4-FFF2-40B4-BE49-F238E27FC236}">
                <a16:creationId xmlns:a16="http://schemas.microsoft.com/office/drawing/2014/main" id="{2A511C46-1BA5-488B-84BD-8BBD138D36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3" name="灯片编号占位符 3">
            <a:extLst>
              <a:ext uri="{FF2B5EF4-FFF2-40B4-BE49-F238E27FC236}">
                <a16:creationId xmlns:a16="http://schemas.microsoft.com/office/drawing/2014/main" id="{5EF204F4-C00C-4EEA-97E0-FCEC175030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219200">
              <a:defRPr sz="2800">
                <a:solidFill>
                  <a:schemeClr val="tx1"/>
                </a:solidFill>
                <a:latin typeface="Tahoma" panose="020B0604030504040204" pitchFamily="34" charset="0"/>
                <a:ea typeface="宋体" panose="02010600030101010101" pitchFamily="2" charset="-122"/>
              </a:defRPr>
            </a:lvl1pPr>
            <a:lvl2pPr marL="742950" indent="-285750" defTabSz="1219200">
              <a:defRPr sz="2800">
                <a:solidFill>
                  <a:schemeClr val="tx1"/>
                </a:solidFill>
                <a:latin typeface="Tahoma" panose="020B0604030504040204" pitchFamily="34" charset="0"/>
                <a:ea typeface="宋体" panose="02010600030101010101" pitchFamily="2" charset="-122"/>
              </a:defRPr>
            </a:lvl2pPr>
            <a:lvl3pPr marL="1143000" indent="-228600" defTabSz="1219200">
              <a:defRPr sz="2800">
                <a:solidFill>
                  <a:schemeClr val="tx1"/>
                </a:solidFill>
                <a:latin typeface="Tahoma" panose="020B0604030504040204" pitchFamily="34" charset="0"/>
                <a:ea typeface="宋体" panose="02010600030101010101" pitchFamily="2" charset="-122"/>
              </a:defRPr>
            </a:lvl3pPr>
            <a:lvl4pPr marL="1600200" indent="-228600" defTabSz="1219200">
              <a:defRPr sz="2800">
                <a:solidFill>
                  <a:schemeClr val="tx1"/>
                </a:solidFill>
                <a:latin typeface="Tahoma" panose="020B0604030504040204" pitchFamily="34" charset="0"/>
                <a:ea typeface="宋体" panose="02010600030101010101" pitchFamily="2" charset="-122"/>
              </a:defRPr>
            </a:lvl4pPr>
            <a:lvl5pPr marL="2057400" indent="-228600" defTabSz="1219200">
              <a:defRPr sz="2800">
                <a:solidFill>
                  <a:schemeClr val="tx1"/>
                </a:solidFill>
                <a:latin typeface="Tahoma" panose="020B0604030504040204" pitchFamily="34" charset="0"/>
                <a:ea typeface="宋体" panose="02010600030101010101" pitchFamily="2" charset="-122"/>
              </a:defRPr>
            </a:lvl5pPr>
            <a:lvl6pPr marL="2514600" indent="-228600" defTabSz="12192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defTabSz="12192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defTabSz="12192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defTabSz="12192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fld id="{0C922773-0307-441B-BA0A-0716ED0A799C}" type="slidenum">
              <a:rPr lang="zh-CN" altLang="en-US" sz="1200">
                <a:solidFill>
                  <a:srgbClr val="000000"/>
                </a:solidFill>
                <a:latin typeface="Calibri" panose="020F0502020204030204" pitchFamily="34" charset="0"/>
              </a:rPr>
              <a:pPr/>
              <a:t>3</a:t>
            </a:fld>
            <a:endParaRPr lang="zh-CN"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8813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5</a:t>
            </a:fld>
            <a:endParaRPr lang="zh-CN" altLang="en-US"/>
          </a:p>
        </p:txBody>
      </p:sp>
    </p:spTree>
    <p:extLst>
      <p:ext uri="{BB962C8B-B14F-4D97-AF65-F5344CB8AC3E}">
        <p14:creationId xmlns:p14="http://schemas.microsoft.com/office/powerpoint/2010/main" val="143940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8</a:t>
            </a:fld>
            <a:endParaRPr lang="zh-CN" altLang="en-US"/>
          </a:p>
        </p:txBody>
      </p:sp>
    </p:spTree>
    <p:extLst>
      <p:ext uri="{BB962C8B-B14F-4D97-AF65-F5344CB8AC3E}">
        <p14:creationId xmlns:p14="http://schemas.microsoft.com/office/powerpoint/2010/main" val="2078455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9</a:t>
            </a:fld>
            <a:endParaRPr lang="zh-CN" altLang="en-US"/>
          </a:p>
        </p:txBody>
      </p:sp>
    </p:spTree>
    <p:extLst>
      <p:ext uri="{BB962C8B-B14F-4D97-AF65-F5344CB8AC3E}">
        <p14:creationId xmlns:p14="http://schemas.microsoft.com/office/powerpoint/2010/main" val="2406139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22</a:t>
            </a:fld>
            <a:endParaRPr lang="zh-CN" altLang="en-US"/>
          </a:p>
        </p:txBody>
      </p:sp>
    </p:spTree>
    <p:extLst>
      <p:ext uri="{BB962C8B-B14F-4D97-AF65-F5344CB8AC3E}">
        <p14:creationId xmlns:p14="http://schemas.microsoft.com/office/powerpoint/2010/main" val="283785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24</a:t>
            </a:fld>
            <a:endParaRPr lang="zh-CN" altLang="en-US"/>
          </a:p>
        </p:txBody>
      </p:sp>
    </p:spTree>
    <p:extLst>
      <p:ext uri="{BB962C8B-B14F-4D97-AF65-F5344CB8AC3E}">
        <p14:creationId xmlns:p14="http://schemas.microsoft.com/office/powerpoint/2010/main" val="516401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31</a:t>
            </a:fld>
            <a:endParaRPr lang="zh-CN" altLang="en-US"/>
          </a:p>
        </p:txBody>
      </p:sp>
    </p:spTree>
    <p:extLst>
      <p:ext uri="{BB962C8B-B14F-4D97-AF65-F5344CB8AC3E}">
        <p14:creationId xmlns:p14="http://schemas.microsoft.com/office/powerpoint/2010/main" val="2644693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32</a:t>
            </a:fld>
            <a:endParaRPr lang="zh-CN" altLang="en-US"/>
          </a:p>
        </p:txBody>
      </p:sp>
    </p:spTree>
    <p:extLst>
      <p:ext uri="{BB962C8B-B14F-4D97-AF65-F5344CB8AC3E}">
        <p14:creationId xmlns:p14="http://schemas.microsoft.com/office/powerpoint/2010/main" val="1759173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118720A-802B-4124-A8FE-D6F5FDE41EA1}"/>
              </a:ext>
            </a:extLst>
          </p:cNvPr>
          <p:cNvSpPr>
            <a:spLocks noGrp="1"/>
          </p:cNvSpPr>
          <p:nvPr>
            <p:ph type="sldNum" sz="quarter" idx="12"/>
          </p:nvPr>
        </p:nvSpPr>
        <p:spPr/>
        <p:txBody>
          <a:bodyPr/>
          <a:lstStyle/>
          <a:p>
            <a:fld id="{292A5E09-60C7-49E8-A9DF-8D1D9F6D10CD}" type="slidenum">
              <a:rPr lang="zh-CN" altLang="en-US" smtClean="0"/>
              <a:t>‹#›</a:t>
            </a:fld>
            <a:endParaRPr lang="zh-CN" altLang="en-US"/>
          </a:p>
        </p:txBody>
      </p:sp>
      <p:cxnSp>
        <p:nvCxnSpPr>
          <p:cNvPr id="5" name="直接连接符 4">
            <a:extLst>
              <a:ext uri="{FF2B5EF4-FFF2-40B4-BE49-F238E27FC236}">
                <a16:creationId xmlns:a16="http://schemas.microsoft.com/office/drawing/2014/main" id="{C1B39824-60B1-4087-9654-852D1F012284}"/>
              </a:ext>
            </a:extLst>
          </p:cNvPr>
          <p:cNvCxnSpPr>
            <a:cxnSpLocks/>
          </p:cNvCxnSpPr>
          <p:nvPr userDrawn="1"/>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980355FC-FEB3-439F-8098-5C06013AAE42}"/>
              </a:ext>
            </a:extLst>
          </p:cNvPr>
          <p:cNvSpPr/>
          <p:nvPr userDrawn="1"/>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133941" y="110649"/>
            <a:ext cx="10515600" cy="570979"/>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27705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50960-1701-48AC-A59F-767B6056322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C5D7F4C-19FA-4DBB-8E0E-50D86708B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3CEF640-BE20-4B67-A136-5F55CD33FFA3}"/>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93DE3503-87F1-4CF7-A256-C5FB9A222A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49AA02-E14A-4B76-9C38-2F9B89BBF602}"/>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47203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C072B-542B-4EB4-AE3E-3962BC96CA5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7FC81C-17BC-4E49-801A-5535D52E3D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EC2DB2-8954-4FAC-BDAC-A41CB9FD1E9C}"/>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FF45D9FA-8B05-43CE-A8C6-57D4B1B339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FB343-9089-4A86-8CDC-D72C628B1D49}"/>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67452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6AC339-9979-439E-AD47-69A80F8343D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0B08C4E-EFCC-422B-A0CC-66BF074855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4044901-1417-472E-9D15-16ECC0743305}"/>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8D930AA9-002C-4348-9998-8027E3DF51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58E8C9-BD1B-4A76-A9CB-27277C579657}"/>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72732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2C584-3CAE-47D4-911B-4E66212208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37A965-7AFF-413E-B0F9-9B383F4D7F7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72C38DE-AED2-4131-8C10-FF03B22F8B1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F95F5FA-8460-4FB5-BECF-082CB763FED1}"/>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00ECCEA3-CC62-4601-B76C-37ADB4AFA8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DFF4BD-83FA-48E8-9D3F-095F4C7C0D0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8151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C6E1C5-ECAF-42BE-9623-BCADD634BC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E1EBD31-3B49-47F1-94AD-B0C6385A0F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8F1D851-B286-458B-B0FF-37C11425C5C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EB0DAC4-251D-4CAB-AAC8-1816BA2ED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B3CAE68-B059-48A9-8FEA-AE16FDCBB6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91B7C04-5F54-4995-8205-02AE75A6B65C}"/>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8" name="页脚占位符 7">
            <a:extLst>
              <a:ext uri="{FF2B5EF4-FFF2-40B4-BE49-F238E27FC236}">
                <a16:creationId xmlns:a16="http://schemas.microsoft.com/office/drawing/2014/main" id="{243733C5-CACD-4D73-88DF-0FE47AEB4C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3CC8BD8-3103-46D8-B238-FEE49AA89B3C}"/>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065697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381B53-CFBA-4ED9-A856-C7F31BDC6B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F65807F-966E-4869-8987-657949B8D6F2}"/>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4" name="页脚占位符 3">
            <a:extLst>
              <a:ext uri="{FF2B5EF4-FFF2-40B4-BE49-F238E27FC236}">
                <a16:creationId xmlns:a16="http://schemas.microsoft.com/office/drawing/2014/main" id="{0610A72C-1EA5-4B8F-99BE-2B5DF012BE2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90E1FBD-CDF9-4E91-99E5-A833BABA4AD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180404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3F8982-6037-4234-AD00-3123D01C4A35}"/>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3" name="页脚占位符 2">
            <a:extLst>
              <a:ext uri="{FF2B5EF4-FFF2-40B4-BE49-F238E27FC236}">
                <a16:creationId xmlns:a16="http://schemas.microsoft.com/office/drawing/2014/main" id="{E94F0542-C8F2-4C1F-BB00-D0D1327075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6AEC53-34BE-4C4A-856B-8411CD692B7A}"/>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623614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AC9EE-3E5D-4DAD-862D-E4971473AD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9160C9A-3E3A-47B4-A1B2-682A69B92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AB7B40-FEFE-403A-A042-FE872B9EF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1366DE-EBE6-4AFE-B2AF-4C25890EC85A}"/>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5E2082D5-0599-48B5-8819-634575D362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555D9C-1A7C-4534-A584-4472E3B816D5}"/>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538075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87C38-82A2-4C25-AC3F-F06B1F2389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8ADE65-B3BE-4A96-890D-E7A188D83D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79A9D3-7F46-42D0-B4ED-1773CC926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080096-90BF-4736-A77E-82348CC61653}"/>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6" name="页脚占位符 5">
            <a:extLst>
              <a:ext uri="{FF2B5EF4-FFF2-40B4-BE49-F238E27FC236}">
                <a16:creationId xmlns:a16="http://schemas.microsoft.com/office/drawing/2014/main" id="{D9485590-E6CB-4FD1-A1EC-A9509A3465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DA4A82-6CE2-4CA5-BD5B-08DCB7A0D77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94983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CCFA93-FCE2-44E4-878C-8FEFA6018A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6DA7C2-F2E1-4F67-8B34-F05CBFC08C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C967AE-CDF3-4D67-A190-E46F86D01174}"/>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129B9F83-0BEE-42D3-99B3-055F58EB0F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16528D-DEBF-45D5-AA5C-2081D9B29428}"/>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224693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DBCEB34-32B0-4BD7-B39A-0AC8E1769C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086A30-6588-4D1F-833A-33C5E70663C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EA0ED4-AAED-4792-99F8-043A8A82BA14}"/>
              </a:ext>
            </a:extLst>
          </p:cNvPr>
          <p:cNvSpPr>
            <a:spLocks noGrp="1"/>
          </p:cNvSpPr>
          <p:nvPr>
            <p:ph type="dt" sz="half" idx="10"/>
          </p:nvPr>
        </p:nvSpPr>
        <p:spPr/>
        <p:txBody>
          <a:body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B247DCE7-E18C-4FD7-A653-9FE1C3A98E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9F1929-4F93-4E60-A024-16E632D7A1A0}"/>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58367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C9CE943-B56E-DB49-B8C4-6529A45E560F}"/>
              </a:ext>
            </a:extLst>
          </p:cNvPr>
          <p:cNvSpPr/>
          <p:nvPr userDrawn="1"/>
        </p:nvSpPr>
        <p:spPr>
          <a:xfrm>
            <a:off x="0" y="6378576"/>
            <a:ext cx="12192000" cy="4794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a:extLst>
              <a:ext uri="{FF2B5EF4-FFF2-40B4-BE49-F238E27FC236}">
                <a16:creationId xmlns:a16="http://schemas.microsoft.com/office/drawing/2014/main" id="{81B1CC48-0F36-E84A-AD3C-0A71484EADA6}"/>
              </a:ext>
            </a:extLst>
          </p:cNvPr>
          <p:cNvSpPr/>
          <p:nvPr userDrawn="1"/>
        </p:nvSpPr>
        <p:spPr>
          <a:xfrm>
            <a:off x="0" y="1"/>
            <a:ext cx="12192000" cy="479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六边形 4">
            <a:extLst>
              <a:ext uri="{FF2B5EF4-FFF2-40B4-BE49-F238E27FC236}">
                <a16:creationId xmlns:a16="http://schemas.microsoft.com/office/drawing/2014/main" id="{3C5888FC-F9A7-644B-A5F0-A432723D85D7}"/>
              </a:ext>
            </a:extLst>
          </p:cNvPr>
          <p:cNvSpPr/>
          <p:nvPr userDrawn="1"/>
        </p:nvSpPr>
        <p:spPr>
          <a:xfrm rot="5400000">
            <a:off x="11246645" y="6290469"/>
            <a:ext cx="531812" cy="457200"/>
          </a:xfrm>
          <a:prstGeom prst="hexagon">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六边形 5">
            <a:extLst>
              <a:ext uri="{FF2B5EF4-FFF2-40B4-BE49-F238E27FC236}">
                <a16:creationId xmlns:a16="http://schemas.microsoft.com/office/drawing/2014/main" id="{CF94DF91-7767-F74D-8028-A9B801123164}"/>
              </a:ext>
            </a:extLst>
          </p:cNvPr>
          <p:cNvSpPr/>
          <p:nvPr userDrawn="1"/>
        </p:nvSpPr>
        <p:spPr>
          <a:xfrm rot="5400000">
            <a:off x="406136" y="809361"/>
            <a:ext cx="627062" cy="541867"/>
          </a:xfrm>
          <a:prstGeom prst="hexagon">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24" name="文本占位符 23"/>
          <p:cNvSpPr>
            <a:spLocks noGrp="1"/>
          </p:cNvSpPr>
          <p:nvPr>
            <p:ph type="body" sz="quarter" idx="13"/>
          </p:nvPr>
        </p:nvSpPr>
        <p:spPr>
          <a:xfrm>
            <a:off x="1154224" y="861944"/>
            <a:ext cx="7416800" cy="584200"/>
          </a:xfrm>
        </p:spPr>
        <p:txBody>
          <a:bodyPr/>
          <a:lstStyle>
            <a:lvl1pPr marL="0" indent="0">
              <a:buNone/>
              <a:defRPr>
                <a:solidFill>
                  <a:schemeClr val="tx1">
                    <a:lumMod val="85000"/>
                    <a:lumOff val="15000"/>
                  </a:schemeClr>
                </a:solidFill>
                <a:latin typeface="+mj-ea"/>
                <a:ea typeface="+mj-ea"/>
              </a:defRPr>
            </a:lvl1pPr>
          </a:lstStyle>
          <a:p>
            <a:pPr lvl="0"/>
            <a:r>
              <a:rPr lang="zh-CN" altLang="en-US" dirty="0"/>
              <a:t>单击此处编辑母版文本样式</a:t>
            </a:r>
          </a:p>
        </p:txBody>
      </p:sp>
      <p:sp>
        <p:nvSpPr>
          <p:cNvPr id="7" name="日期占位符 1">
            <a:extLst>
              <a:ext uri="{FF2B5EF4-FFF2-40B4-BE49-F238E27FC236}">
                <a16:creationId xmlns:a16="http://schemas.microsoft.com/office/drawing/2014/main" id="{9B9D3675-0C0C-3B45-A517-171AAC008382}"/>
              </a:ext>
            </a:extLst>
          </p:cNvPr>
          <p:cNvSpPr>
            <a:spLocks noGrp="1"/>
          </p:cNvSpPr>
          <p:nvPr>
            <p:ph type="dt" sz="half" idx="14"/>
          </p:nvPr>
        </p:nvSpPr>
        <p:spPr/>
        <p:txBody>
          <a:bodyPr/>
          <a:lstStyle>
            <a:lvl1pPr>
              <a:defRPr/>
            </a:lvl1pPr>
          </a:lstStyle>
          <a:p>
            <a:pPr>
              <a:defRPr/>
            </a:pPr>
            <a:fld id="{51844997-DFC2-47A5-92F6-95BB1802E9B5}" type="datetime1">
              <a:rPr lang="zh-CN" altLang="en-US"/>
              <a:pPr>
                <a:defRPr/>
              </a:pPr>
              <a:t>2025/4/20</a:t>
            </a:fld>
            <a:endParaRPr lang="zh-CN" altLang="en-US"/>
          </a:p>
        </p:txBody>
      </p:sp>
      <p:sp>
        <p:nvSpPr>
          <p:cNvPr id="8" name="页脚占位符 2">
            <a:extLst>
              <a:ext uri="{FF2B5EF4-FFF2-40B4-BE49-F238E27FC236}">
                <a16:creationId xmlns:a16="http://schemas.microsoft.com/office/drawing/2014/main" id="{9F0F7022-D17C-0048-920D-05CC8A5983B4}"/>
              </a:ext>
            </a:extLst>
          </p:cNvPr>
          <p:cNvSpPr>
            <a:spLocks noGrp="1"/>
          </p:cNvSpPr>
          <p:nvPr>
            <p:ph type="ftr" sz="quarter" idx="15"/>
          </p:nvPr>
        </p:nvSpPr>
        <p:spPr/>
        <p:txBody>
          <a:bodyPr/>
          <a:lstStyle>
            <a:lvl1pPr>
              <a:defRPr/>
            </a:lvl1pPr>
          </a:lstStyle>
          <a:p>
            <a:pPr>
              <a:defRPr/>
            </a:pPr>
            <a:endParaRPr lang="zh-CN" altLang="en-US"/>
          </a:p>
        </p:txBody>
      </p:sp>
      <p:sp>
        <p:nvSpPr>
          <p:cNvPr id="9" name="灯片编号占位符 3">
            <a:extLst>
              <a:ext uri="{FF2B5EF4-FFF2-40B4-BE49-F238E27FC236}">
                <a16:creationId xmlns:a16="http://schemas.microsoft.com/office/drawing/2014/main" id="{301DA0A7-B2A6-C849-A3BD-62D2980A0C35}"/>
              </a:ext>
            </a:extLst>
          </p:cNvPr>
          <p:cNvSpPr>
            <a:spLocks noGrp="1"/>
          </p:cNvSpPr>
          <p:nvPr>
            <p:ph type="sldNum" sz="quarter" idx="16"/>
          </p:nvPr>
        </p:nvSpPr>
        <p:spPr>
          <a:xfrm>
            <a:off x="11137901" y="6343651"/>
            <a:ext cx="723900" cy="365125"/>
          </a:xfrm>
        </p:spPr>
        <p:txBody>
          <a:bodyPr/>
          <a:lstStyle>
            <a:lvl1pPr algn="ctr">
              <a:defRPr sz="1200">
                <a:solidFill>
                  <a:schemeClr val="bg1"/>
                </a:solidFill>
              </a:defRPr>
            </a:lvl1pPr>
          </a:lstStyle>
          <a:p>
            <a:pPr>
              <a:defRPr/>
            </a:pPr>
            <a:fld id="{6BD340BD-0C8F-4029-BC04-92E607371FC4}" type="slidenum">
              <a:rPr lang="zh-CN" altLang="en-US"/>
              <a:pPr>
                <a:defRPr/>
              </a:pPr>
              <a:t>‹#›</a:t>
            </a:fld>
            <a:endParaRPr lang="zh-CN" altLang="en-US" dirty="0"/>
          </a:p>
        </p:txBody>
      </p:sp>
    </p:spTree>
    <p:extLst>
      <p:ext uri="{BB962C8B-B14F-4D97-AF65-F5344CB8AC3E}">
        <p14:creationId xmlns:p14="http://schemas.microsoft.com/office/powerpoint/2010/main" val="256898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8" accel="50000" decel="50000" fill="hold" grpId="0" nodeType="withEffect">
                                  <p:stCondLst>
                                    <p:cond delay="7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0-#ppt_w/2"/>
                                          </p:val>
                                        </p:tav>
                                        <p:tav tm="100000">
                                          <p:val>
                                            <p:strVal val="#ppt_x"/>
                                          </p:val>
                                        </p:tav>
                                      </p:tavLst>
                                    </p:anim>
                                    <p:anim calcmode="lin" valueType="num">
                                      <p:cBhvr additive="base">
                                        <p:cTn id="16" dur="75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0" nodeType="withEffect">
                                  <p:stCondLst>
                                    <p:cond delay="15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ppt_x"/>
                                          </p:val>
                                        </p:tav>
                                        <p:tav tm="100000">
                                          <p:val>
                                            <p:strVal val="#ppt_x"/>
                                          </p:val>
                                        </p:tav>
                                      </p:tavLst>
                                    </p:anim>
                                    <p:anim calcmode="lin" valueType="num">
                                      <p:cBhvr additive="base">
                                        <p:cTn id="20"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cxnSp>
        <p:nvCxnSpPr>
          <p:cNvPr id="2" name="直接连接符 4">
            <a:extLst>
              <a:ext uri="{FF2B5EF4-FFF2-40B4-BE49-F238E27FC236}">
                <a16:creationId xmlns:a16="http://schemas.microsoft.com/office/drawing/2014/main" id="{B92E1F04-724F-4629-A9B5-D8CA7FD79886}"/>
              </a:ext>
            </a:extLst>
          </p:cNvPr>
          <p:cNvCxnSpPr/>
          <p:nvPr userDrawn="1"/>
        </p:nvCxnSpPr>
        <p:spPr>
          <a:xfrm>
            <a:off x="148167" y="693738"/>
            <a:ext cx="11906251" cy="0"/>
          </a:xfrm>
          <a:prstGeom prst="line">
            <a:avLst/>
          </a:prstGeom>
          <a:ln w="25400">
            <a:solidFill>
              <a:srgbClr val="F5A60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48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8A68784-9CD4-4F13-B6FF-DAFB8F5FA9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20A121-C4E0-491B-B35A-1ABE4E2B7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008CB-7359-4598-88B6-8073612796AA}" type="datetimeFigureOut">
              <a:rPr lang="zh-CN" altLang="en-US" smtClean="0"/>
              <a:t>2025/4/20</a:t>
            </a:fld>
            <a:endParaRPr lang="zh-CN" altLang="en-US"/>
          </a:p>
        </p:txBody>
      </p:sp>
      <p:sp>
        <p:nvSpPr>
          <p:cNvPr id="5" name="页脚占位符 4">
            <a:extLst>
              <a:ext uri="{FF2B5EF4-FFF2-40B4-BE49-F238E27FC236}">
                <a16:creationId xmlns:a16="http://schemas.microsoft.com/office/drawing/2014/main" id="{714455DE-3A94-44C9-BD40-E9A302C18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52AF917-03E6-4637-A084-DE343516B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1958961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5.xml"/><Relationship Id="rId7"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8.png"/><Relationship Id="rId5" Type="http://schemas.openxmlformats.org/officeDocument/2006/relationships/image" Target="../media/image6.wmf"/><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 Id="rId9"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7" Type="http://schemas.microsoft.com/office/2007/relationships/hdphoto" Target="../media/hdphoto3.wdp"/><Relationship Id="rId2" Type="http://schemas.openxmlformats.org/officeDocument/2006/relationships/oleObject" Target="../embeddings/oleObject8.bin"/><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6.png"/><Relationship Id="rId1" Type="http://schemas.openxmlformats.org/officeDocument/2006/relationships/slideLayout" Target="../slideLayouts/slideLayout1.xml"/><Relationship Id="rId5" Type="http://schemas.microsoft.com/office/2007/relationships/hdphoto" Target="../media/hdphoto5.wdp"/><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1.x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3.bin"/><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wmf"/><Relationship Id="rId5" Type="http://schemas.openxmlformats.org/officeDocument/2006/relationships/oleObject" Target="../embeddings/oleObject15.bin"/><Relationship Id="rId4" Type="http://schemas.openxmlformats.org/officeDocument/2006/relationships/image" Target="../media/image21.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14.wmf"/><Relationship Id="rId3" Type="http://schemas.openxmlformats.org/officeDocument/2006/relationships/notesSlide" Target="../notesSlides/notesSlide8.xml"/><Relationship Id="rId7" Type="http://schemas.microsoft.com/office/2007/relationships/hdphoto" Target="../media/hdphoto6.wdp"/><Relationship Id="rId12"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24.png"/><Relationship Id="rId11" Type="http://schemas.openxmlformats.org/officeDocument/2006/relationships/image" Target="../media/image13.wmf"/><Relationship Id="rId5" Type="http://schemas.openxmlformats.org/officeDocument/2006/relationships/image" Target="../media/image21.wmf"/><Relationship Id="rId10" Type="http://schemas.openxmlformats.org/officeDocument/2006/relationships/oleObject" Target="../embeddings/oleObject8.bin"/><Relationship Id="rId4" Type="http://schemas.openxmlformats.org/officeDocument/2006/relationships/oleObject" Target="../embeddings/oleObject16.bin"/><Relationship Id="rId9" Type="http://schemas.openxmlformats.org/officeDocument/2006/relationships/image" Target="../media/image22.wmf"/></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18.wmf"/></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0E3C0872-64D7-4B76-9B19-E1DAFDFDD242}"/>
              </a:ext>
            </a:extLst>
          </p:cNvPr>
          <p:cNvCxnSpPr>
            <a:cxnSpLocks/>
          </p:cNvCxnSpPr>
          <p:nvPr/>
        </p:nvCxnSpPr>
        <p:spPr>
          <a:xfrm>
            <a:off x="1422400" y="6113732"/>
            <a:ext cx="9093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1B39824-60B1-4087-9654-852D1F012284}"/>
              </a:ext>
            </a:extLst>
          </p:cNvPr>
          <p:cNvCxnSpPr>
            <a:cxnSpLocks/>
          </p:cNvCxnSpPr>
          <p:nvPr/>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80355FC-FEB3-439F-8098-5C06013AAE42}"/>
              </a:ext>
            </a:extLst>
          </p:cNvPr>
          <p:cNvSpPr/>
          <p:nvPr/>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1D4805B-0FE8-4E82-B102-EE270173D087}"/>
              </a:ext>
            </a:extLst>
          </p:cNvPr>
          <p:cNvSpPr txBox="1"/>
          <p:nvPr/>
        </p:nvSpPr>
        <p:spPr>
          <a:xfrm>
            <a:off x="5075440" y="2552789"/>
            <a:ext cx="1877437" cy="769441"/>
          </a:xfrm>
          <a:prstGeom prst="rect">
            <a:avLst/>
          </a:prstGeom>
          <a:noFill/>
        </p:spPr>
        <p:txBody>
          <a:bodyPr wrap="none" rtlCol="0">
            <a:spAutoFit/>
          </a:bodyPr>
          <a:lstStyle/>
          <a:p>
            <a:pPr algn="ctr"/>
            <a:r>
              <a:rPr lang="zh-CN" altLang="en-US" sz="4400" b="1" dirty="0">
                <a:solidFill>
                  <a:schemeClr val="accent1">
                    <a:lumMod val="75000"/>
                  </a:schemeClr>
                </a:solidFill>
              </a:rPr>
              <a:t>决策树</a:t>
            </a:r>
          </a:p>
        </p:txBody>
      </p:sp>
    </p:spTree>
    <p:extLst>
      <p:ext uri="{BB962C8B-B14F-4D97-AF65-F5344CB8AC3E}">
        <p14:creationId xmlns:p14="http://schemas.microsoft.com/office/powerpoint/2010/main" val="3994329357"/>
      </p:ext>
    </p:extLst>
  </p:cSld>
  <p:clrMapOvr>
    <a:masterClrMapping/>
  </p:clrMapOvr>
  <mc:AlternateContent xmlns:mc="http://schemas.openxmlformats.org/markup-compatibility/2006" xmlns:p14="http://schemas.microsoft.com/office/powerpoint/2010/main">
    <mc:Choice Requires="p14">
      <p:transition spd="slow" p14:dur="2000" advTm="10176"/>
    </mc:Choice>
    <mc:Fallback xmlns="">
      <p:transition spd="slow" advTm="1017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157619242"/>
              </p:ext>
            </p:extLst>
          </p:nvPr>
        </p:nvGraphicFramePr>
        <p:xfrm>
          <a:off x="671103" y="1690378"/>
          <a:ext cx="4581455" cy="2415603"/>
        </p:xfrm>
        <a:graphic>
          <a:graphicData uri="http://schemas.openxmlformats.org/drawingml/2006/table">
            <a:tbl>
              <a:tblPr>
                <a:tableStyleId>{5C22544A-7EE6-4342-B048-85BDC9FD1C3A}</a:tableStyleId>
              </a:tblPr>
              <a:tblGrid>
                <a:gridCol w="916291">
                  <a:extLst>
                    <a:ext uri="{9D8B030D-6E8A-4147-A177-3AD203B41FA5}">
                      <a16:colId xmlns:a16="http://schemas.microsoft.com/office/drawing/2014/main" val="3044455116"/>
                    </a:ext>
                  </a:extLst>
                </a:gridCol>
                <a:gridCol w="916291">
                  <a:extLst>
                    <a:ext uri="{9D8B030D-6E8A-4147-A177-3AD203B41FA5}">
                      <a16:colId xmlns:a16="http://schemas.microsoft.com/office/drawing/2014/main" val="71690534"/>
                    </a:ext>
                  </a:extLst>
                </a:gridCol>
                <a:gridCol w="916291">
                  <a:extLst>
                    <a:ext uri="{9D8B030D-6E8A-4147-A177-3AD203B41FA5}">
                      <a16:colId xmlns:a16="http://schemas.microsoft.com/office/drawing/2014/main" val="4293077210"/>
                    </a:ext>
                  </a:extLst>
                </a:gridCol>
                <a:gridCol w="916291">
                  <a:extLst>
                    <a:ext uri="{9D8B030D-6E8A-4147-A177-3AD203B41FA5}">
                      <a16:colId xmlns:a16="http://schemas.microsoft.com/office/drawing/2014/main" val="1785380721"/>
                    </a:ext>
                  </a:extLst>
                </a:gridCol>
                <a:gridCol w="916291">
                  <a:extLst>
                    <a:ext uri="{9D8B030D-6E8A-4147-A177-3AD203B41FA5}">
                      <a16:colId xmlns:a16="http://schemas.microsoft.com/office/drawing/2014/main" val="3796282373"/>
                    </a:ext>
                  </a:extLst>
                </a:gridCol>
              </a:tblGrid>
              <a:tr h="478085">
                <a:tc>
                  <a:txBody>
                    <a:bodyPr/>
                    <a:lstStyle/>
                    <a:p>
                      <a:pPr algn="ctr" fontAlgn="ctr"/>
                      <a:r>
                        <a:rPr lang="zh-CN" altLang="en-US" sz="1600" b="1" u="none" strike="noStrike" dirty="0">
                          <a:effectLst/>
                        </a:rPr>
                        <a:t>英雄</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600" b="1" u="none" strike="noStrike" dirty="0">
                          <a:effectLst/>
                        </a:rPr>
                        <a:t>生命</a:t>
                      </a:r>
                      <a:r>
                        <a:rPr lang="en-US" altLang="zh-CN" sz="1600" b="1" u="none" strike="noStrike" dirty="0">
                          <a:effectLst/>
                        </a:rPr>
                        <a:t>x1</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600" b="1" u="none" strike="noStrike" dirty="0">
                          <a:effectLst/>
                        </a:rPr>
                        <a:t>攻击</a:t>
                      </a:r>
                      <a:r>
                        <a:rPr lang="en-US" altLang="zh-CN" sz="1600" b="1" u="none" strike="noStrike" dirty="0">
                          <a:effectLst/>
                        </a:rPr>
                        <a:t>x2</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600" b="1" u="none" strike="noStrike" dirty="0">
                          <a:effectLst/>
                        </a:rPr>
                        <a:t>法强</a:t>
                      </a:r>
                      <a:r>
                        <a:rPr lang="en-US" altLang="zh-CN" sz="1600" b="1" u="none" strike="noStrike" dirty="0">
                          <a:effectLst/>
                        </a:rPr>
                        <a:t>x3</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600" b="1" u="none" strike="noStrike" dirty="0">
                          <a:effectLst/>
                        </a:rPr>
                        <a:t>前排</a:t>
                      </a:r>
                      <a:endParaRPr lang="en-US" altLang="zh-CN" sz="1600" b="1" u="none" strike="noStrike" dirty="0">
                        <a:effectLst/>
                      </a:endParaRPr>
                    </a:p>
                    <a:p>
                      <a:pPr algn="ctr" fontAlgn="ctr"/>
                      <a:r>
                        <a:rPr lang="en-US" altLang="zh-CN" sz="1600" b="1" u="none" strike="noStrike" dirty="0">
                          <a:effectLst/>
                        </a:rPr>
                        <a:t>/</a:t>
                      </a:r>
                      <a:r>
                        <a:rPr lang="zh-CN" altLang="en-US" sz="1600" b="1" u="none" strike="noStrike" dirty="0">
                          <a:effectLst/>
                        </a:rPr>
                        <a:t>后排</a:t>
                      </a:r>
                      <a:r>
                        <a:rPr lang="en-US" altLang="zh-CN" sz="1600" b="1" u="none" strike="noStrike" dirty="0">
                          <a:effectLst/>
                        </a:rPr>
                        <a:t>y</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3821463899"/>
                  </a:ext>
                </a:extLst>
              </a:tr>
              <a:tr h="243122">
                <a:tc>
                  <a:txBody>
                    <a:bodyPr/>
                    <a:lstStyle/>
                    <a:p>
                      <a:pPr algn="ctr" fontAlgn="ctr"/>
                      <a:r>
                        <a:rPr lang="zh-CN" altLang="en-US" sz="1600" b="1" u="none" strike="noStrike">
                          <a:effectLst/>
                        </a:rPr>
                        <a:t>赫卡里姆</a:t>
                      </a:r>
                      <a:endParaRPr lang="zh-CN" altLang="en-US" sz="16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600" b="0" u="none" strike="noStrike" dirty="0">
                          <a:effectLst/>
                        </a:rPr>
                        <a:t>900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a:effectLst/>
                        </a:rPr>
                        <a:t>50</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a:effectLst/>
                        </a:rPr>
                        <a:t>90</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i="0" u="none" strike="noStrike" dirty="0">
                          <a:solidFill>
                            <a:schemeClr val="tx1"/>
                          </a:solidFill>
                          <a:effectLst/>
                          <a:latin typeface="+mn-lt"/>
                          <a:ea typeface="+mn-ea"/>
                        </a:rPr>
                        <a:t>+1</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126110682"/>
                  </a:ext>
                </a:extLst>
              </a:tr>
              <a:tr h="243122">
                <a:tc>
                  <a:txBody>
                    <a:bodyPr/>
                    <a:lstStyle/>
                    <a:p>
                      <a:pPr algn="ctr" fontAlgn="ctr"/>
                      <a:r>
                        <a:rPr lang="zh-CN" altLang="en-US" sz="1600" b="1" u="none" strike="noStrike">
                          <a:effectLst/>
                        </a:rPr>
                        <a:t>李青</a:t>
                      </a:r>
                      <a:endParaRPr lang="zh-CN" altLang="en-US" sz="16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600" b="0" u="none" strike="noStrike" dirty="0">
                          <a:effectLst/>
                        </a:rPr>
                        <a:t>800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effectLst/>
                        </a:rPr>
                        <a:t>50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a:effectLst/>
                        </a:rPr>
                        <a:t>90</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i="0" u="none" strike="noStrike" dirty="0">
                          <a:solidFill>
                            <a:schemeClr val="tx1"/>
                          </a:solidFill>
                          <a:effectLst/>
                          <a:latin typeface="等线" panose="02010600030101010101" pitchFamily="2" charset="-122"/>
                          <a:ea typeface="等线" panose="02010600030101010101" pitchFamily="2" charset="-122"/>
                        </a:rPr>
                        <a:t>+1</a:t>
                      </a:r>
                    </a:p>
                  </a:txBody>
                  <a:tcPr marL="6350" marR="6350" marT="6350" marB="0" anchor="ctr"/>
                </a:tc>
                <a:extLst>
                  <a:ext uri="{0D108BD9-81ED-4DB2-BD59-A6C34878D82A}">
                    <a16:rowId xmlns:a16="http://schemas.microsoft.com/office/drawing/2014/main" val="1298378845"/>
                  </a:ext>
                </a:extLst>
              </a:tr>
              <a:tr h="243122">
                <a:tc>
                  <a:txBody>
                    <a:bodyPr/>
                    <a:lstStyle/>
                    <a:p>
                      <a:pPr algn="ctr" fontAlgn="ctr"/>
                      <a:r>
                        <a:rPr lang="zh-CN" altLang="en-US" sz="1600" b="1" u="none" strike="noStrike">
                          <a:effectLst/>
                        </a:rPr>
                        <a:t>婕拉</a:t>
                      </a:r>
                      <a:endParaRPr lang="zh-CN" altLang="en-US" sz="16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600" b="0" u="none" strike="noStrike" dirty="0">
                          <a:effectLst/>
                        </a:rPr>
                        <a:t>600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effectLst/>
                        </a:rPr>
                        <a:t>50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effectLst/>
                        </a:rPr>
                        <a:t>120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solidFill>
                            <a:schemeClr val="tx1"/>
                          </a:solidFill>
                          <a:effectLst/>
                        </a:rPr>
                        <a:t>-1</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284018243"/>
                  </a:ext>
                </a:extLst>
              </a:tr>
              <a:tr h="243122">
                <a:tc>
                  <a:txBody>
                    <a:bodyPr/>
                    <a:lstStyle/>
                    <a:p>
                      <a:pPr algn="ctr" fontAlgn="ctr"/>
                      <a:r>
                        <a:rPr lang="zh-CN" altLang="en-US" sz="1600" b="1" u="none" strike="noStrike" dirty="0">
                          <a:effectLst/>
                        </a:rPr>
                        <a:t>黑默丁格</a:t>
                      </a:r>
                      <a:endParaRPr lang="zh-CN" altLang="en-US" sz="16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600" b="0" u="none" strike="noStrike">
                          <a:effectLst/>
                        </a:rPr>
                        <a:t>500</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effectLst/>
                        </a:rPr>
                        <a:t>40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effectLst/>
                        </a:rPr>
                        <a:t>100</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solidFill>
                            <a:schemeClr val="tx1"/>
                          </a:solidFill>
                          <a:effectLst/>
                        </a:rPr>
                        <a:t>-1</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768064550"/>
                  </a:ext>
                </a:extLst>
              </a:tr>
              <a:tr h="243122">
                <a:tc>
                  <a:txBody>
                    <a:bodyPr/>
                    <a:lstStyle/>
                    <a:p>
                      <a:pPr algn="ctr" fontAlgn="ctr"/>
                      <a:r>
                        <a:rPr lang="zh-CN" altLang="en-US" sz="1600" b="1" u="none" strike="noStrike" dirty="0">
                          <a:solidFill>
                            <a:schemeClr val="tx1"/>
                          </a:solidFill>
                          <a:effectLst/>
                        </a:rPr>
                        <a:t>锤石</a:t>
                      </a:r>
                      <a:endParaRPr lang="zh-CN" altLang="en-US" sz="1600" b="1"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600" b="0" u="none" strike="noStrike" dirty="0">
                          <a:solidFill>
                            <a:schemeClr val="tx1"/>
                          </a:solidFill>
                          <a:effectLst/>
                        </a:rPr>
                        <a:t>750</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solidFill>
                            <a:schemeClr val="tx1"/>
                          </a:solidFill>
                          <a:effectLst/>
                        </a:rPr>
                        <a:t>60</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solidFill>
                            <a:schemeClr val="tx1"/>
                          </a:solidFill>
                          <a:effectLst/>
                        </a:rPr>
                        <a:t>150</a:t>
                      </a:r>
                      <a:endParaRPr lang="en-US" altLang="zh-CN"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600" b="0" u="none" strike="noStrike" dirty="0">
                          <a:solidFill>
                            <a:schemeClr val="tx1"/>
                          </a:solidFill>
                          <a:effectLst/>
                        </a:rPr>
                        <a:t>-1</a:t>
                      </a:r>
                      <a:endParaRPr lang="zh-CN" altLang="en-US" sz="1600" b="0" i="0" u="none" strike="noStrike" dirty="0">
                        <a:solidFill>
                          <a:schemeClr val="tx1"/>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54597870"/>
                  </a:ext>
                </a:extLst>
              </a:tr>
              <a:tr h="223541">
                <a:tc>
                  <a:txBody>
                    <a:bodyPr/>
                    <a:lstStyle/>
                    <a:p>
                      <a:pPr algn="ctr" fontAlgn="ctr"/>
                      <a:r>
                        <a:rPr lang="zh-CN" altLang="en-US" sz="1400" b="1" u="none" strike="noStrike" dirty="0">
                          <a:solidFill>
                            <a:srgbClr val="FF0000"/>
                          </a:solidFill>
                          <a:effectLst/>
                        </a:rPr>
                        <a:t>瑟庄妮</a:t>
                      </a:r>
                      <a:endParaRPr lang="zh-CN" altLang="en-US"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400" b="1" u="none" strike="noStrike" dirty="0">
                          <a:solidFill>
                            <a:srgbClr val="FF0000"/>
                          </a:solidFill>
                          <a:effectLst/>
                        </a:rPr>
                        <a:t>650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400" b="1" u="none" strike="noStrike" dirty="0">
                          <a:solidFill>
                            <a:srgbClr val="FF0000"/>
                          </a:solidFill>
                          <a:effectLst/>
                        </a:rPr>
                        <a:t>60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400" b="1" u="none" strike="noStrike" dirty="0">
                          <a:solidFill>
                            <a:srgbClr val="FF0000"/>
                          </a:solidFill>
                          <a:effectLst/>
                        </a:rPr>
                        <a:t>90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zh-CN" altLang="en-US" sz="1400" b="1" u="none" strike="noStrike" dirty="0">
                          <a:solidFill>
                            <a:srgbClr val="FF0000"/>
                          </a:solidFill>
                          <a:effectLst/>
                        </a:rPr>
                        <a:t>？</a:t>
                      </a:r>
                      <a:endParaRPr lang="zh-CN" altLang="en-US"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152813393"/>
                  </a:ext>
                </a:extLst>
              </a:tr>
              <a:tr h="223541">
                <a:tc>
                  <a:txBody>
                    <a:bodyPr/>
                    <a:lstStyle/>
                    <a:p>
                      <a:pPr algn="ctr" fontAlgn="ctr"/>
                      <a:r>
                        <a:rPr lang="zh-CN" altLang="en-US" sz="1400" b="1" u="none" strike="noStrike" dirty="0">
                          <a:solidFill>
                            <a:srgbClr val="FF0000"/>
                          </a:solidFill>
                          <a:effectLst/>
                        </a:rPr>
                        <a:t>娜美</a:t>
                      </a:r>
                      <a:endParaRPr lang="zh-CN" altLang="en-US"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400" b="1" u="none" strike="noStrike" dirty="0">
                          <a:solidFill>
                            <a:srgbClr val="FF0000"/>
                          </a:solidFill>
                          <a:effectLst/>
                        </a:rPr>
                        <a:t>600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400" b="1" u="none" strike="noStrike" dirty="0">
                          <a:solidFill>
                            <a:srgbClr val="FF0000"/>
                          </a:solidFill>
                          <a:effectLst/>
                        </a:rPr>
                        <a:t>40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400" b="1" u="none" strike="noStrike" dirty="0">
                          <a:solidFill>
                            <a:srgbClr val="FF0000"/>
                          </a:solidFill>
                          <a:effectLst/>
                        </a:rPr>
                        <a:t>90</a:t>
                      </a:r>
                      <a:endParaRPr lang="en-US" altLang="zh-CN"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zh-CN" altLang="en-US" sz="1400" b="1" u="none" strike="noStrike" dirty="0">
                          <a:solidFill>
                            <a:srgbClr val="FF0000"/>
                          </a:solidFill>
                          <a:effectLst/>
                        </a:rPr>
                        <a:t>？</a:t>
                      </a:r>
                      <a:endParaRPr lang="zh-CN" altLang="en-US"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165860173"/>
                  </a:ext>
                </a:extLst>
              </a:tr>
              <a:tr h="223541">
                <a:tc>
                  <a:txBody>
                    <a:bodyPr/>
                    <a:lstStyle/>
                    <a:p>
                      <a:pPr algn="ctr" fontAlgn="ctr"/>
                      <a:r>
                        <a:rPr lang="zh-CN" altLang="en-US" sz="1400" b="1" i="0" u="none" strike="noStrike" dirty="0">
                          <a:solidFill>
                            <a:srgbClr val="FF0000"/>
                          </a:solidFill>
                          <a:effectLst/>
                          <a:latin typeface="等线" panose="02010600030101010101" pitchFamily="2" charset="-122"/>
                          <a:ea typeface="+mn-ea"/>
                        </a:rPr>
                        <a:t>沃利贝尔</a:t>
                      </a:r>
                      <a:endParaRPr lang="zh-CN" altLang="en-US" sz="1400" b="1"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400" b="1" i="0" u="none" strike="noStrike" dirty="0">
                          <a:solidFill>
                            <a:srgbClr val="FF0000"/>
                          </a:solidFill>
                          <a:effectLst/>
                          <a:latin typeface="等线" panose="02010600030101010101" pitchFamily="2" charset="-122"/>
                          <a:ea typeface="等线" panose="02010600030101010101" pitchFamily="2" charset="-122"/>
                        </a:rPr>
                        <a:t>750</a:t>
                      </a:r>
                    </a:p>
                  </a:txBody>
                  <a:tcPr marL="6350" marR="6350" marT="6350" marB="0" anchor="ctr"/>
                </a:tc>
                <a:tc>
                  <a:txBody>
                    <a:bodyPr/>
                    <a:lstStyle/>
                    <a:p>
                      <a:pPr algn="ctr" fontAlgn="ctr"/>
                      <a:r>
                        <a:rPr lang="en-US" altLang="zh-CN" sz="1400" b="1" i="0" u="none" strike="noStrike" dirty="0">
                          <a:solidFill>
                            <a:srgbClr val="FF0000"/>
                          </a:solidFill>
                          <a:effectLst/>
                          <a:latin typeface="等线" panose="02010600030101010101" pitchFamily="2" charset="-122"/>
                          <a:ea typeface="等线" panose="02010600030101010101" pitchFamily="2" charset="-122"/>
                        </a:rPr>
                        <a:t>50</a:t>
                      </a:r>
                    </a:p>
                  </a:txBody>
                  <a:tcPr marL="6350" marR="6350" marT="6350" marB="0" anchor="ctr"/>
                </a:tc>
                <a:tc>
                  <a:txBody>
                    <a:bodyPr/>
                    <a:lstStyle/>
                    <a:p>
                      <a:pPr algn="ctr" fontAlgn="ctr"/>
                      <a:r>
                        <a:rPr lang="en-US" altLang="zh-CN" sz="1400" b="1" i="0" u="none" strike="noStrike" dirty="0">
                          <a:solidFill>
                            <a:srgbClr val="FF0000"/>
                          </a:solidFill>
                          <a:effectLst/>
                          <a:latin typeface="等线" panose="02010600030101010101" pitchFamily="2" charset="-122"/>
                          <a:ea typeface="等线" panose="02010600030101010101" pitchFamily="2" charset="-122"/>
                        </a:rPr>
                        <a:t>60</a:t>
                      </a:r>
                    </a:p>
                  </a:txBody>
                  <a:tcPr marL="6350" marR="6350" marT="6350" marB="0" anchor="ctr"/>
                </a:tc>
                <a:tc>
                  <a:txBody>
                    <a:bodyPr/>
                    <a:lstStyle/>
                    <a:p>
                      <a:pPr algn="ctr" fontAlgn="ctr"/>
                      <a:r>
                        <a:rPr lang="zh-CN" altLang="en-US" sz="1400" b="1" i="0" u="none" strike="noStrike" dirty="0">
                          <a:solidFill>
                            <a:srgbClr val="FF0000"/>
                          </a:solidFill>
                          <a:effectLst/>
                          <a:latin typeface="等线" panose="02010600030101010101" pitchFamily="2" charset="-122"/>
                          <a:ea typeface="等线" panose="02010600030101010101" pitchFamily="2" charset="-122"/>
                        </a:rPr>
                        <a:t>？</a:t>
                      </a:r>
                    </a:p>
                  </a:txBody>
                  <a:tcPr marL="6350" marR="6350" marT="6350" marB="0" anchor="ctr"/>
                </a:tc>
                <a:extLst>
                  <a:ext uri="{0D108BD9-81ED-4DB2-BD59-A6C34878D82A}">
                    <a16:rowId xmlns:a16="http://schemas.microsoft.com/office/drawing/2014/main" val="3354400833"/>
                  </a:ext>
                </a:extLst>
              </a:tr>
            </a:tbl>
          </a:graphicData>
        </a:graphic>
      </p:graphicFrame>
      <mc:AlternateContent xmlns:mc="http://schemas.openxmlformats.org/markup-compatibility/2006" xmlns:a14="http://schemas.microsoft.com/office/drawing/2010/main">
        <mc:Choice Requires="a14">
          <p:sp>
            <p:nvSpPr>
              <p:cNvPr id="6" name="文本框 5"/>
              <p:cNvSpPr txBox="1"/>
              <p:nvPr/>
            </p:nvSpPr>
            <p:spPr>
              <a:xfrm>
                <a:off x="396365" y="4385105"/>
                <a:ext cx="5745816" cy="2383666"/>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dirty="0"/>
                  <a:t>线性方程 （线性回归）</a:t>
                </a:r>
                <a:endParaRPr lang="en-US" altLang="zh-CN" sz="2000" b="1" dirty="0"/>
              </a:p>
              <a:p>
                <a:pPr lvl="0"/>
                <a:r>
                  <a:rPr lang="en-US" altLang="zh-CN" sz="2000" dirty="0"/>
                  <a:t>     </a:t>
                </a:r>
                <a:r>
                  <a:rPr lang="en-US" altLang="zh-CN" sz="2000" dirty="0">
                    <a:latin typeface="Calibri"/>
                    <a:ea typeface="宋体" panose="02010600030101010101" pitchFamily="2" charset="-122"/>
                  </a:rPr>
                  <a:t>2*x1-x2-x3-1300&gt;0  </a:t>
                </a:r>
              </a:p>
              <a:p>
                <a:pPr lvl="0"/>
                <a:endParaRPr lang="en-US" altLang="zh-CN" sz="2000" b="1" dirty="0">
                  <a:solidFill>
                    <a:srgbClr val="FF0000"/>
                  </a:solidFill>
                  <a:latin typeface="Calibri"/>
                  <a:ea typeface="宋体" panose="02010600030101010101" pitchFamily="2" charset="-122"/>
                </a:endParaRPr>
              </a:p>
              <a:p>
                <a:pPr marL="342900" indent="-342900">
                  <a:buFont typeface="Wingdings" panose="05000000000000000000" pitchFamily="2" charset="2"/>
                  <a:buChar char="u"/>
                </a:pPr>
                <a:r>
                  <a:rPr lang="zh-CN" altLang="en-US" sz="2000" b="1" dirty="0"/>
                  <a:t>其他方程</a:t>
                </a:r>
                <a:endParaRPr lang="en-US" altLang="zh-CN" sz="2000" b="1" dirty="0"/>
              </a:p>
              <a:p>
                <a:r>
                  <a:rPr lang="en-US" altLang="zh-CN" sz="2000" b="1" dirty="0"/>
                  <a:t>     </a:t>
                </a:r>
                <a14:m>
                  <m:oMath xmlns:m="http://schemas.openxmlformats.org/officeDocument/2006/math">
                    <m:f>
                      <m:fPr>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𝟏</m:t>
                        </m:r>
                      </m:num>
                      <m:den>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𝒆</m:t>
                            </m:r>
                          </m:e>
                          <m:sup>
                            <m:r>
                              <a:rPr lang="en-US" altLang="zh-CN" sz="2000" b="1" i="1" smtClean="0">
                                <a:latin typeface="Cambria Math" panose="02040503050406030204" pitchFamily="18" charset="0"/>
                              </a:rPr>
                              <m:t>𝟐</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𝟐</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𝟑</m:t>
                            </m:r>
                          </m:sup>
                        </m:sSup>
                      </m:den>
                    </m:f>
                    <m:r>
                      <a:rPr lang="en-US" altLang="zh-CN" sz="2000" b="1" i="1" smtClean="0">
                        <a:latin typeface="Cambria Math" panose="02040503050406030204" pitchFamily="18" charset="0"/>
                      </a:rPr>
                      <m:t>&gt;</m:t>
                    </m:r>
                    <m:r>
                      <a:rPr lang="en-US" altLang="zh-CN" sz="2000" b="1" i="1" smtClean="0">
                        <a:latin typeface="Cambria Math" panose="02040503050406030204" pitchFamily="18" charset="0"/>
                      </a:rPr>
                      <m:t>𝟎</m:t>
                    </m:r>
                  </m:oMath>
                </a14:m>
                <a:endParaRPr lang="en-US" altLang="zh-CN" sz="2000" b="1" dirty="0"/>
              </a:p>
              <a:p>
                <a:pPr marL="342900" indent="-342900">
                  <a:buFont typeface="Wingdings" panose="05000000000000000000" pitchFamily="2" charset="2"/>
                  <a:buChar char="u"/>
                </a:pPr>
                <a:endParaRPr lang="en-US" altLang="zh-CN" sz="2000" b="1" dirty="0"/>
              </a:p>
              <a:p>
                <a:endParaRPr lang="en-US" altLang="zh-CN" sz="2000" b="1" dirty="0"/>
              </a:p>
            </p:txBody>
          </p:sp>
        </mc:Choice>
        <mc:Fallback xmlns="">
          <p:sp>
            <p:nvSpPr>
              <p:cNvPr id="6" name="文本框 5"/>
              <p:cNvSpPr txBox="1">
                <a:spLocks noRot="1" noChangeAspect="1" noMove="1" noResize="1" noEditPoints="1" noAdjustHandles="1" noChangeArrowheads="1" noChangeShapeType="1" noTextEdit="1"/>
              </p:cNvSpPr>
              <p:nvPr/>
            </p:nvSpPr>
            <p:spPr>
              <a:xfrm>
                <a:off x="396365" y="4385105"/>
                <a:ext cx="5745816" cy="2383666"/>
              </a:xfrm>
              <a:prstGeom prst="rect">
                <a:avLst/>
              </a:prstGeom>
              <a:blipFill>
                <a:blip r:embed="rId2"/>
                <a:stretch>
                  <a:fillRect l="-883" t="-1596"/>
                </a:stretch>
              </a:blipFill>
            </p:spPr>
            <p:txBody>
              <a:bodyPr/>
              <a:lstStyle/>
              <a:p>
                <a:r>
                  <a:rPr lang="zh-CN" altLang="en-US">
                    <a:noFill/>
                  </a:rPr>
                  <a:t> </a:t>
                </a:r>
              </a:p>
            </p:txBody>
          </p:sp>
        </mc:Fallback>
      </mc:AlternateContent>
      <p:sp>
        <p:nvSpPr>
          <p:cNvPr id="7" name="文本框 6"/>
          <p:cNvSpPr txBox="1"/>
          <p:nvPr/>
        </p:nvSpPr>
        <p:spPr>
          <a:xfrm>
            <a:off x="830873" y="1002863"/>
            <a:ext cx="2438400" cy="523220"/>
          </a:xfrm>
          <a:prstGeom prst="rect">
            <a:avLst/>
          </a:prstGeom>
          <a:noFill/>
        </p:spPr>
        <p:txBody>
          <a:bodyPr wrap="square" rtlCol="0">
            <a:spAutoFit/>
          </a:bodyPr>
          <a:lstStyle/>
          <a:p>
            <a:pPr marL="457200" indent="-457200">
              <a:buFont typeface="Wingdings" panose="05000000000000000000" pitchFamily="2" charset="2"/>
              <a:buChar char="u"/>
            </a:pPr>
            <a:r>
              <a:rPr lang="zh-CN" altLang="en-US" sz="2800" b="1" dirty="0"/>
              <a:t>总结规律</a:t>
            </a:r>
          </a:p>
        </p:txBody>
      </p:sp>
      <p:sp>
        <p:nvSpPr>
          <p:cNvPr id="8" name="矩形 7"/>
          <p:cNvSpPr/>
          <p:nvPr/>
        </p:nvSpPr>
        <p:spPr>
          <a:xfrm>
            <a:off x="5724344" y="2708768"/>
            <a:ext cx="2379336"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buFont typeface="Wingdings" panose="05000000000000000000" pitchFamily="2" charset="2"/>
              <a:buChar char="u"/>
            </a:pPr>
            <a:r>
              <a:rPr lang="zh-CN" altLang="en-US" sz="2400" b="1" dirty="0"/>
              <a:t>树状模型</a:t>
            </a:r>
            <a:endParaRPr lang="en-US" altLang="zh-CN" sz="2400" b="1" dirty="0"/>
          </a:p>
          <a:p>
            <a:pPr lvl="0"/>
            <a:r>
              <a:rPr lang="en-US" altLang="zh-CN" sz="2000" b="1" dirty="0"/>
              <a:t>     </a:t>
            </a:r>
            <a:r>
              <a:rPr lang="en-US" altLang="zh-CN" sz="2000" b="1" dirty="0">
                <a:latin typeface="Calibri"/>
                <a:ea typeface="宋体" panose="02010600030101010101" pitchFamily="2" charset="-122"/>
              </a:rPr>
              <a:t>if </a:t>
            </a:r>
            <a:r>
              <a:rPr lang="zh-CN" altLang="en-US" sz="2000" b="1" dirty="0">
                <a:latin typeface="Calibri"/>
                <a:ea typeface="宋体" panose="02010600030101010101" pitchFamily="2" charset="-122"/>
              </a:rPr>
              <a:t>生命值 </a:t>
            </a:r>
            <a:r>
              <a:rPr lang="en-US" altLang="zh-CN" sz="2000" b="1" dirty="0">
                <a:latin typeface="Calibri"/>
                <a:ea typeface="宋体" panose="02010600030101010101" pitchFamily="2" charset="-122"/>
              </a:rPr>
              <a:t>&gt; 900</a:t>
            </a:r>
            <a:r>
              <a:rPr lang="zh-CN" altLang="en-US" sz="2000" b="1" dirty="0">
                <a:latin typeface="Calibri"/>
                <a:ea typeface="宋体" panose="02010600030101010101" pitchFamily="2" charset="-122"/>
              </a:rPr>
              <a:t>：</a:t>
            </a:r>
            <a:endParaRPr lang="en-US" altLang="zh-CN" sz="2000" b="1" dirty="0">
              <a:latin typeface="Calibri"/>
              <a:ea typeface="宋体" panose="02010600030101010101" pitchFamily="2" charset="-122"/>
            </a:endParaRPr>
          </a:p>
          <a:p>
            <a:pPr lvl="0"/>
            <a:r>
              <a:rPr lang="en-US" altLang="zh-CN" sz="2000" b="1" dirty="0">
                <a:latin typeface="Calibri"/>
                <a:ea typeface="宋体" panose="02010600030101010101" pitchFamily="2" charset="-122"/>
              </a:rPr>
              <a:t>            if </a:t>
            </a:r>
            <a:r>
              <a:rPr lang="zh-CN" altLang="en-US" sz="2000" b="1" dirty="0">
                <a:latin typeface="Calibri"/>
                <a:ea typeface="宋体" panose="02010600030101010101" pitchFamily="2" charset="-122"/>
              </a:rPr>
              <a:t>攻击 </a:t>
            </a:r>
            <a:r>
              <a:rPr lang="en-US" altLang="zh-CN" sz="2000" b="1" dirty="0">
                <a:latin typeface="Calibri"/>
                <a:ea typeface="宋体" panose="02010600030101010101" pitchFamily="2" charset="-122"/>
              </a:rPr>
              <a:t>&gt; 50:  </a:t>
            </a:r>
          </a:p>
          <a:p>
            <a:pPr lvl="0"/>
            <a:r>
              <a:rPr lang="en-US" altLang="zh-CN" sz="2000" b="1" dirty="0">
                <a:solidFill>
                  <a:srgbClr val="FF0000"/>
                </a:solidFill>
                <a:latin typeface="Calibri"/>
                <a:ea typeface="宋体" panose="02010600030101010101" pitchFamily="2" charset="-122"/>
              </a:rPr>
              <a:t>                </a:t>
            </a:r>
            <a:r>
              <a:rPr lang="zh-CN" altLang="en-US" sz="2000" b="1" dirty="0">
                <a:solidFill>
                  <a:srgbClr val="FF0000"/>
                </a:solidFill>
                <a:latin typeface="Calibri"/>
                <a:ea typeface="宋体" panose="02010600030101010101" pitchFamily="2" charset="-122"/>
              </a:rPr>
              <a:t>前排</a:t>
            </a:r>
            <a:endParaRPr lang="en-US" altLang="zh-CN" sz="2000" b="1" dirty="0">
              <a:solidFill>
                <a:srgbClr val="FF0000"/>
              </a:solidFill>
              <a:latin typeface="Calibri"/>
              <a:ea typeface="宋体" panose="02010600030101010101" pitchFamily="2" charset="-122"/>
            </a:endParaRPr>
          </a:p>
        </p:txBody>
      </p:sp>
      <p:sp>
        <p:nvSpPr>
          <p:cNvPr id="9" name="椭圆 8"/>
          <p:cNvSpPr/>
          <p:nvPr/>
        </p:nvSpPr>
        <p:spPr>
          <a:xfrm>
            <a:off x="9745514" y="1891246"/>
            <a:ext cx="943566" cy="4805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生命</a:t>
            </a:r>
          </a:p>
        </p:txBody>
      </p:sp>
      <p:sp>
        <p:nvSpPr>
          <p:cNvPr id="10" name="椭圆 9"/>
          <p:cNvSpPr/>
          <p:nvPr/>
        </p:nvSpPr>
        <p:spPr>
          <a:xfrm>
            <a:off x="8935256" y="2886971"/>
            <a:ext cx="994463" cy="56230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攻击</a:t>
            </a:r>
          </a:p>
        </p:txBody>
      </p:sp>
      <p:cxnSp>
        <p:nvCxnSpPr>
          <p:cNvPr id="12" name="直接箭头连接符 11"/>
          <p:cNvCxnSpPr>
            <a:stCxn id="9" idx="4"/>
            <a:endCxn id="10" idx="0"/>
          </p:cNvCxnSpPr>
          <p:nvPr/>
        </p:nvCxnSpPr>
        <p:spPr>
          <a:xfrm flipH="1">
            <a:off x="9432488" y="2371804"/>
            <a:ext cx="784809" cy="51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10490040" y="2977956"/>
            <a:ext cx="965518" cy="55265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法强</a:t>
            </a:r>
          </a:p>
        </p:txBody>
      </p:sp>
      <p:cxnSp>
        <p:nvCxnSpPr>
          <p:cNvPr id="20" name="直接箭头连接符 19"/>
          <p:cNvCxnSpPr>
            <a:endCxn id="13" idx="0"/>
          </p:cNvCxnSpPr>
          <p:nvPr/>
        </p:nvCxnSpPr>
        <p:spPr>
          <a:xfrm>
            <a:off x="10182058" y="2335288"/>
            <a:ext cx="790741" cy="64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9101724" y="2359380"/>
            <a:ext cx="765534" cy="338554"/>
          </a:xfrm>
          <a:prstGeom prst="rect">
            <a:avLst/>
          </a:prstGeom>
          <a:noFill/>
        </p:spPr>
        <p:txBody>
          <a:bodyPr wrap="square" rtlCol="0">
            <a:spAutoFit/>
          </a:bodyPr>
          <a:lstStyle/>
          <a:p>
            <a:r>
              <a:rPr lang="en-US" altLang="zh-CN" sz="1600" dirty="0"/>
              <a:t>&gt;900</a:t>
            </a:r>
            <a:endParaRPr lang="zh-CN" altLang="en-US" sz="1600" dirty="0"/>
          </a:p>
        </p:txBody>
      </p:sp>
      <p:sp>
        <p:nvSpPr>
          <p:cNvPr id="14" name="椭圆 13"/>
          <p:cNvSpPr/>
          <p:nvPr/>
        </p:nvSpPr>
        <p:spPr>
          <a:xfrm>
            <a:off x="8452686" y="3950754"/>
            <a:ext cx="998074" cy="535520"/>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前排</a:t>
            </a:r>
          </a:p>
        </p:txBody>
      </p:sp>
      <p:sp>
        <p:nvSpPr>
          <p:cNvPr id="15" name="椭圆 14"/>
          <p:cNvSpPr/>
          <p:nvPr/>
        </p:nvSpPr>
        <p:spPr>
          <a:xfrm>
            <a:off x="9710768" y="3950753"/>
            <a:ext cx="924401" cy="535521"/>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后排</a:t>
            </a:r>
          </a:p>
        </p:txBody>
      </p:sp>
      <p:cxnSp>
        <p:nvCxnSpPr>
          <p:cNvPr id="5" name="直接箭头连接符 4"/>
          <p:cNvCxnSpPr>
            <a:stCxn id="10" idx="4"/>
            <a:endCxn id="14" idx="0"/>
          </p:cNvCxnSpPr>
          <p:nvPr/>
        </p:nvCxnSpPr>
        <p:spPr>
          <a:xfrm flipH="1">
            <a:off x="8951723" y="3449272"/>
            <a:ext cx="480765" cy="501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4"/>
            <a:endCxn id="15" idx="0"/>
          </p:cNvCxnSpPr>
          <p:nvPr/>
        </p:nvCxnSpPr>
        <p:spPr>
          <a:xfrm>
            <a:off x="9432488" y="3449272"/>
            <a:ext cx="740481" cy="50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8407882" y="3515198"/>
            <a:ext cx="693842" cy="369332"/>
          </a:xfrm>
          <a:prstGeom prst="rect">
            <a:avLst/>
          </a:prstGeom>
          <a:noFill/>
        </p:spPr>
        <p:txBody>
          <a:bodyPr wrap="square" rtlCol="0">
            <a:spAutoFit/>
          </a:bodyPr>
          <a:lstStyle/>
          <a:p>
            <a:r>
              <a:rPr lang="en-US" altLang="zh-CN" dirty="0"/>
              <a:t>&gt;50</a:t>
            </a:r>
            <a:endParaRPr lang="zh-CN" altLang="en-US" dirty="0"/>
          </a:p>
        </p:txBody>
      </p:sp>
      <p:sp>
        <p:nvSpPr>
          <p:cNvPr id="37" name="椭圆 36"/>
          <p:cNvSpPr/>
          <p:nvPr/>
        </p:nvSpPr>
        <p:spPr>
          <a:xfrm>
            <a:off x="5347433" y="1002863"/>
            <a:ext cx="6758842" cy="47978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文本框 38"/>
              <p:cNvSpPr txBox="1"/>
              <p:nvPr/>
            </p:nvSpPr>
            <p:spPr>
              <a:xfrm>
                <a:off x="3969361" y="4961032"/>
                <a:ext cx="3596356" cy="1477328"/>
              </a:xfrm>
              <a:prstGeom prst="rect">
                <a:avLst/>
              </a:prstGeom>
              <a:noFill/>
            </p:spPr>
            <p:txBody>
              <a:bodyPr wrap="square" rtlCol="0">
                <a:spAutoFit/>
              </a:bodyPr>
              <a:lstStyle/>
              <a:p>
                <a:pPr marL="342900" indent="-342900">
                  <a:buFont typeface="Wingdings" panose="05000000000000000000" pitchFamily="2" charset="2"/>
                  <a:buChar char="u"/>
                </a:pPr>
                <a:r>
                  <a:rPr lang="zh-CN" altLang="en-US" b="1" dirty="0"/>
                  <a:t>概率统计</a:t>
                </a:r>
                <a:endParaRPr lang="en-US" altLang="zh-CN" b="1" dirty="0"/>
              </a:p>
              <a:p>
                <a:r>
                  <a:rPr lang="en-US" altLang="zh-CN" b="1" dirty="0"/>
                  <a:t>     </a:t>
                </a:r>
                <a14:m>
                  <m:oMath xmlns:m="http://schemas.openxmlformats.org/officeDocument/2006/math">
                    <m:r>
                      <a:rPr lang="en-US" altLang="zh-CN" b="1" i="1" dirty="0">
                        <a:latin typeface="Cambria Math" panose="02040503050406030204" pitchFamily="18" charset="0"/>
                      </a:rPr>
                      <m:t>𝑷</m:t>
                    </m:r>
                    <m:r>
                      <a:rPr lang="en-US" altLang="zh-CN" b="1" i="1" dirty="0">
                        <a:latin typeface="Cambria Math" panose="02040503050406030204" pitchFamily="18" charset="0"/>
                      </a:rPr>
                      <m:t>(</m:t>
                    </m:r>
                    <m:r>
                      <a:rPr lang="zh-CN" altLang="en-US" b="1" i="1" dirty="0">
                        <a:latin typeface="Cambria Math" panose="02040503050406030204" pitchFamily="18" charset="0"/>
                      </a:rPr>
                      <m:t>攻击</m:t>
                    </m:r>
                    <m:r>
                      <a:rPr lang="en-US" altLang="zh-CN" b="1" i="1" dirty="0">
                        <a:latin typeface="Cambria Math" panose="02040503050406030204" pitchFamily="18" charset="0"/>
                      </a:rPr>
                      <m:t>|</m:t>
                    </m:r>
                    <m:r>
                      <a:rPr lang="zh-CN" altLang="en-US" b="1" i="1" dirty="0">
                        <a:latin typeface="Cambria Math" panose="02040503050406030204" pitchFamily="18" charset="0"/>
                      </a:rPr>
                      <m:t>生命</m:t>
                    </m:r>
                    <m:r>
                      <a:rPr lang="en-US" altLang="zh-CN" b="1" i="1" dirty="0">
                        <a:latin typeface="Cambria Math" panose="02040503050406030204" pitchFamily="18" charset="0"/>
                      </a:rPr>
                      <m:t>&gt;</m:t>
                    </m:r>
                    <m:r>
                      <a:rPr lang="en-US" altLang="zh-CN" b="1" i="1" dirty="0">
                        <a:latin typeface="Cambria Math" panose="02040503050406030204" pitchFamily="18" charset="0"/>
                      </a:rPr>
                      <m:t>𝟗𝟎𝟎</m:t>
                    </m:r>
                    <m:r>
                      <a:rPr lang="en-US" altLang="zh-CN" b="1" i="1" dirty="0">
                        <a:latin typeface="Cambria Math" panose="02040503050406030204" pitchFamily="18" charset="0"/>
                      </a:rPr>
                      <m:t>)</m:t>
                    </m:r>
                  </m:oMath>
                </a14:m>
                <a:endParaRPr lang="en-US" altLang="zh-CN" b="1" dirty="0"/>
              </a:p>
              <a:p>
                <a:endParaRPr lang="en-US" altLang="zh-CN" b="1" dirty="0"/>
              </a:p>
              <a:p>
                <a:r>
                  <a:rPr lang="en-US" altLang="zh-CN" b="1" dirty="0"/>
                  <a:t>……</a:t>
                </a:r>
              </a:p>
              <a:p>
                <a:endParaRPr lang="zh-CN" altLang="en-US" dirty="0"/>
              </a:p>
            </p:txBody>
          </p:sp>
        </mc:Choice>
        <mc:Fallback xmlns="">
          <p:sp>
            <p:nvSpPr>
              <p:cNvPr id="39" name="文本框 38"/>
              <p:cNvSpPr txBox="1">
                <a:spLocks noRot="1" noChangeAspect="1" noMove="1" noResize="1" noEditPoints="1" noAdjustHandles="1" noChangeArrowheads="1" noChangeShapeType="1" noTextEdit="1"/>
              </p:cNvSpPr>
              <p:nvPr/>
            </p:nvSpPr>
            <p:spPr>
              <a:xfrm>
                <a:off x="3969361" y="4961032"/>
                <a:ext cx="3596356" cy="1477328"/>
              </a:xfrm>
              <a:prstGeom prst="rect">
                <a:avLst/>
              </a:prstGeom>
              <a:blipFill>
                <a:blip r:embed="rId3"/>
                <a:stretch>
                  <a:fillRect l="-1356" t="-24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3504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文本框 2">
            <a:extLst>
              <a:ext uri="{FF2B5EF4-FFF2-40B4-BE49-F238E27FC236}">
                <a16:creationId xmlns:a16="http://schemas.microsoft.com/office/drawing/2014/main" id="{5496D2CF-4D4E-4193-9580-7C37934EF17D}"/>
              </a:ext>
            </a:extLst>
          </p:cNvPr>
          <p:cNvSpPr txBox="1">
            <a:spLocks noChangeArrowheads="1"/>
          </p:cNvSpPr>
          <p:nvPr/>
        </p:nvSpPr>
        <p:spPr bwMode="auto">
          <a:xfrm>
            <a:off x="1524000" y="158750"/>
            <a:ext cx="9144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7613">
              <a:defRPr sz="2800">
                <a:solidFill>
                  <a:schemeClr val="tx1"/>
                </a:solidFill>
                <a:latin typeface="Tahoma" panose="020B0604030504040204" pitchFamily="34" charset="0"/>
                <a:ea typeface="宋体" panose="02010600030101010101" pitchFamily="2" charset="-122"/>
              </a:defRPr>
            </a:lvl1pPr>
            <a:lvl2pPr marL="742950" indent="-285750" defTabSz="1217613">
              <a:defRPr sz="2800">
                <a:solidFill>
                  <a:schemeClr val="tx1"/>
                </a:solidFill>
                <a:latin typeface="Tahoma" panose="020B0604030504040204" pitchFamily="34" charset="0"/>
                <a:ea typeface="宋体" panose="02010600030101010101" pitchFamily="2" charset="-122"/>
              </a:defRPr>
            </a:lvl2pPr>
            <a:lvl3pPr marL="1143000" indent="-228600" defTabSz="1217613">
              <a:defRPr sz="2800">
                <a:solidFill>
                  <a:schemeClr val="tx1"/>
                </a:solidFill>
                <a:latin typeface="Tahoma" panose="020B0604030504040204" pitchFamily="34" charset="0"/>
                <a:ea typeface="宋体" panose="02010600030101010101" pitchFamily="2" charset="-122"/>
              </a:defRPr>
            </a:lvl3pPr>
            <a:lvl4pPr marL="1600200" indent="-228600" defTabSz="1217613">
              <a:defRPr sz="2800">
                <a:solidFill>
                  <a:schemeClr val="tx1"/>
                </a:solidFill>
                <a:latin typeface="Tahoma" panose="020B0604030504040204" pitchFamily="34" charset="0"/>
                <a:ea typeface="宋体" panose="02010600030101010101" pitchFamily="2" charset="-122"/>
              </a:defRPr>
            </a:lvl4pPr>
            <a:lvl5pPr marL="2057400" indent="-228600" defTabSz="1217613">
              <a:defRPr sz="2800">
                <a:solidFill>
                  <a:schemeClr val="tx1"/>
                </a:solidFill>
                <a:latin typeface="Tahoma" panose="020B0604030504040204" pitchFamily="34" charset="0"/>
                <a:ea typeface="宋体" panose="02010600030101010101" pitchFamily="2" charset="-122"/>
              </a:defRPr>
            </a:lvl5pPr>
            <a:lvl6pPr marL="2514600" indent="-228600" defTabSz="12176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defTabSz="12176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defTabSz="12176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defTabSz="12176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b="1" dirty="0">
                <a:solidFill>
                  <a:srgbClr val="0070C0"/>
                </a:solidFill>
                <a:latin typeface="微软雅黑" panose="020B0503020204020204" pitchFamily="34" charset="-122"/>
                <a:ea typeface="微软雅黑" panose="020B0503020204020204" pitchFamily="34" charset="-122"/>
              </a:rPr>
              <a:t>决策树基本思想</a:t>
            </a:r>
          </a:p>
        </p:txBody>
      </p:sp>
      <p:sp>
        <p:nvSpPr>
          <p:cNvPr id="60420" name="Rectangle 2">
            <a:extLst>
              <a:ext uri="{FF2B5EF4-FFF2-40B4-BE49-F238E27FC236}">
                <a16:creationId xmlns:a16="http://schemas.microsoft.com/office/drawing/2014/main" id="{2673E409-FB34-4F02-9DEA-D407C6E1404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800">
                <a:solidFill>
                  <a:schemeClr val="tx1"/>
                </a:solidFill>
                <a:latin typeface="Tahoma" panose="020B0604030504040204" pitchFamily="34" charset="0"/>
                <a:ea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solidFill>
                <a:srgbClr val="000000"/>
              </a:solidFill>
              <a:latin typeface="Calibri" panose="020F0502020204030204" pitchFamily="34" charset="0"/>
            </a:endParaRPr>
          </a:p>
        </p:txBody>
      </p:sp>
      <p:sp>
        <p:nvSpPr>
          <p:cNvPr id="2" name="内容占位符 2">
            <a:extLst>
              <a:ext uri="{FF2B5EF4-FFF2-40B4-BE49-F238E27FC236}">
                <a16:creationId xmlns:a16="http://schemas.microsoft.com/office/drawing/2014/main" id="{429BC51E-535C-FBB7-B58F-AB75C93EF13F}"/>
              </a:ext>
            </a:extLst>
          </p:cNvPr>
          <p:cNvSpPr txBox="1">
            <a:spLocks/>
          </p:cNvSpPr>
          <p:nvPr/>
        </p:nvSpPr>
        <p:spPr>
          <a:xfrm>
            <a:off x="1265254" y="818854"/>
            <a:ext cx="4508500" cy="6140142"/>
          </a:xfrm>
          <a:prstGeom prst="rect">
            <a:avLst/>
          </a:prstGeom>
          <a:noFill/>
        </p:spPr>
        <p:txBody>
          <a:bodyPr wrap="square">
            <a:spAutoFit/>
          </a:bodyPr>
          <a:lstStyle>
            <a:defPPr>
              <a:defRPr lang="en-US"/>
            </a:defPPr>
            <a:lvl1pPr marL="360000" indent="-360000" algn="just" eaLnBrk="1" hangingPunct="1">
              <a:lnSpc>
                <a:spcPct val="150000"/>
              </a:lnSpc>
              <a:spcBef>
                <a:spcPts val="600"/>
              </a:spcBef>
              <a:buClr>
                <a:srgbClr val="FF6600"/>
              </a:buClr>
              <a:buSzPct val="80000"/>
              <a:buFont typeface="Wingdings" panose="05000000000000000000" pitchFamily="2" charset="2"/>
              <a:buChar char="l"/>
              <a:defRPr sz="2400" b="0">
                <a:latin typeface="Times New Roman" panose="02020603050405020304" pitchFamily="18" charset="0"/>
                <a:ea typeface="微软雅黑" panose="020B0503020204020204" pitchFamily="34" charset="-122"/>
                <a:cs typeface="+mn-ea"/>
              </a:defRPr>
            </a:lvl1pPr>
            <a:lvl2pPr marL="817200" lvl="1" indent="-360000" algn="just" eaLnBrk="1" hangingPunct="1">
              <a:lnSpc>
                <a:spcPct val="150000"/>
              </a:lnSpc>
              <a:spcBef>
                <a:spcPts val="600"/>
              </a:spcBef>
              <a:buClr>
                <a:srgbClr val="FF6600"/>
              </a:buClr>
              <a:buSzPct val="80000"/>
              <a:buFont typeface="Wingdings" panose="05000000000000000000" pitchFamily="2" charset="2"/>
              <a:buChar char="l"/>
              <a:defRPr sz="2400" b="0">
                <a:latin typeface="Times New Roman" panose="02020603050405020304" pitchFamily="18" charset="0"/>
                <a:ea typeface="微软雅黑" panose="020B0503020204020204" pitchFamily="34" charset="-122"/>
                <a:cs typeface="+mn-ea"/>
              </a:defRPr>
            </a:lvl2pPr>
            <a:lvl3pPr marL="895350" indent="447675" algn="l" defTabSz="914400" rtl="0" eaLnBrk="1" latinLnBrk="0" hangingPunct="1">
              <a:lnSpc>
                <a:spcPct val="90000"/>
              </a:lnSpc>
              <a:spcBef>
                <a:spcPts val="500"/>
              </a:spcBef>
              <a:buClr>
                <a:schemeClr val="bg1">
                  <a:lumMod val="50000"/>
                </a:schemeClr>
              </a:buClr>
              <a:buFont typeface="Wingdings" panose="05000000000000000000" pitchFamily="2" charset="2"/>
              <a:buChar char="p"/>
              <a:defRPr lang="zh-CN" altLang="en-US" sz="2000" kern="1200" dirty="0" smtClean="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ü"/>
              <a:defRPr lang="zh-CN" altLang="en-US" sz="1800" kern="1200" dirty="0" smtClean="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dirty="0">
                <a:sym typeface="Times New Roman" panose="02020603050405020304" pitchFamily="18" charset="0"/>
              </a:rPr>
              <a:t>相亲的常见场景</a:t>
            </a:r>
          </a:p>
          <a:p>
            <a:pPr lvl="1">
              <a:lnSpc>
                <a:spcPct val="125000"/>
              </a:lnSpc>
            </a:pPr>
            <a:r>
              <a:rPr lang="zh-CN" altLang="en-US" sz="2200" dirty="0">
                <a:sym typeface="Times New Roman" panose="02020603050405020304" pitchFamily="18" charset="0"/>
              </a:rPr>
              <a:t>母亲：尼美，给你介绍个男朋友吧。</a:t>
            </a:r>
          </a:p>
          <a:p>
            <a:pPr lvl="1">
              <a:lnSpc>
                <a:spcPct val="125000"/>
              </a:lnSpc>
            </a:pPr>
            <a:r>
              <a:rPr lang="zh-CN" altLang="en-US" sz="2200" dirty="0">
                <a:sym typeface="Times New Roman" panose="02020603050405020304" pitchFamily="18" charset="0"/>
              </a:rPr>
              <a:t>尼美：多大年纪了？</a:t>
            </a:r>
          </a:p>
          <a:p>
            <a:pPr lvl="1">
              <a:lnSpc>
                <a:spcPct val="125000"/>
              </a:lnSpc>
            </a:pPr>
            <a:r>
              <a:rPr lang="zh-CN" altLang="en-US" sz="2200" dirty="0">
                <a:sym typeface="Times New Roman" panose="02020603050405020304" pitchFamily="18" charset="0"/>
              </a:rPr>
              <a:t>母亲：</a:t>
            </a:r>
            <a:r>
              <a:rPr lang="en-US" altLang="zh-CN" sz="2200" dirty="0">
                <a:sym typeface="Times New Roman" panose="02020603050405020304" pitchFamily="18" charset="0"/>
              </a:rPr>
              <a:t>26</a:t>
            </a:r>
            <a:r>
              <a:rPr lang="zh-CN" altLang="en-US" sz="2200" dirty="0">
                <a:sym typeface="Times New Roman" panose="02020603050405020304" pitchFamily="18" charset="0"/>
              </a:rPr>
              <a:t>。</a:t>
            </a:r>
          </a:p>
          <a:p>
            <a:pPr lvl="1">
              <a:lnSpc>
                <a:spcPct val="125000"/>
              </a:lnSpc>
            </a:pPr>
            <a:r>
              <a:rPr lang="zh-CN" altLang="en-US" sz="2200" dirty="0">
                <a:sym typeface="Times New Roman" panose="02020603050405020304" pitchFamily="18" charset="0"/>
              </a:rPr>
              <a:t>尼美：长的怎么样？</a:t>
            </a:r>
          </a:p>
          <a:p>
            <a:pPr lvl="1">
              <a:lnSpc>
                <a:spcPct val="125000"/>
              </a:lnSpc>
            </a:pPr>
            <a:r>
              <a:rPr lang="zh-CN" altLang="en-US" sz="2200" dirty="0">
                <a:sym typeface="Times New Roman" panose="02020603050405020304" pitchFamily="18" charset="0"/>
              </a:rPr>
              <a:t>母亲：挺帅的。</a:t>
            </a:r>
          </a:p>
          <a:p>
            <a:pPr lvl="1">
              <a:lnSpc>
                <a:spcPct val="125000"/>
              </a:lnSpc>
            </a:pPr>
            <a:r>
              <a:rPr lang="zh-CN" altLang="en-US" sz="2200" dirty="0">
                <a:sym typeface="Times New Roman" panose="02020603050405020304" pitchFamily="18" charset="0"/>
              </a:rPr>
              <a:t>尼美：收入高不？</a:t>
            </a:r>
          </a:p>
          <a:p>
            <a:pPr lvl="1">
              <a:lnSpc>
                <a:spcPct val="125000"/>
              </a:lnSpc>
            </a:pPr>
            <a:r>
              <a:rPr lang="zh-CN" altLang="en-US" sz="2200" dirty="0">
                <a:sym typeface="Times New Roman" panose="02020603050405020304" pitchFamily="18" charset="0"/>
              </a:rPr>
              <a:t>母亲：不算很高，中等情况。</a:t>
            </a:r>
          </a:p>
          <a:p>
            <a:pPr lvl="1">
              <a:lnSpc>
                <a:spcPct val="125000"/>
              </a:lnSpc>
            </a:pPr>
            <a:r>
              <a:rPr lang="zh-CN" altLang="en-US" sz="2200" dirty="0">
                <a:sym typeface="Times New Roman" panose="02020603050405020304" pitchFamily="18" charset="0"/>
              </a:rPr>
              <a:t>尼美：是公务员不？</a:t>
            </a:r>
          </a:p>
          <a:p>
            <a:pPr lvl="1">
              <a:lnSpc>
                <a:spcPct val="125000"/>
              </a:lnSpc>
            </a:pPr>
            <a:r>
              <a:rPr lang="zh-CN" altLang="en-US" sz="2200" dirty="0">
                <a:sym typeface="Times New Roman" panose="02020603050405020304" pitchFamily="18" charset="0"/>
              </a:rPr>
              <a:t>母亲：是，在税务局上班呢。</a:t>
            </a:r>
          </a:p>
          <a:p>
            <a:pPr lvl="1">
              <a:lnSpc>
                <a:spcPct val="125000"/>
              </a:lnSpc>
            </a:pPr>
            <a:r>
              <a:rPr lang="zh-CN" altLang="en-US" sz="2200" dirty="0">
                <a:sym typeface="Times New Roman" panose="02020603050405020304" pitchFamily="18" charset="0"/>
              </a:rPr>
              <a:t>尼美：那好，我去见见。</a:t>
            </a:r>
          </a:p>
        </p:txBody>
      </p:sp>
      <p:pic>
        <p:nvPicPr>
          <p:cNvPr id="3" name="图片 2">
            <a:extLst>
              <a:ext uri="{FF2B5EF4-FFF2-40B4-BE49-F238E27FC236}">
                <a16:creationId xmlns:a16="http://schemas.microsoft.com/office/drawing/2014/main" id="{B609724C-326C-F138-C75C-1DAC332174C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913204" y="1245316"/>
            <a:ext cx="2075414" cy="5330538"/>
          </a:xfrm>
          <a:prstGeom prst="rect">
            <a:avLst/>
          </a:prstGeom>
        </p:spPr>
      </p:pic>
      <p:pic>
        <p:nvPicPr>
          <p:cNvPr id="4" name="图片 3">
            <a:extLst>
              <a:ext uri="{FF2B5EF4-FFF2-40B4-BE49-F238E27FC236}">
                <a16:creationId xmlns:a16="http://schemas.microsoft.com/office/drawing/2014/main" id="{1C1F208C-4042-2DF7-A452-FE6A1C600F5B}"/>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011318" y="1245316"/>
            <a:ext cx="2075414" cy="5330538"/>
          </a:xfrm>
          <a:prstGeom prst="rect">
            <a:avLst/>
          </a:prstGeom>
        </p:spPr>
      </p:pic>
    </p:spTree>
    <p:extLst>
      <p:ext uri="{BB962C8B-B14F-4D97-AF65-F5344CB8AC3E}">
        <p14:creationId xmlns:p14="http://schemas.microsoft.com/office/powerpoint/2010/main" val="249292627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3B3B23-FA49-85CC-6312-8D7890BD1554}"/>
              </a:ext>
            </a:extLst>
          </p:cNvPr>
          <p:cNvSpPr>
            <a:spLocks noGrp="1"/>
          </p:cNvSpPr>
          <p:nvPr>
            <p:ph type="title"/>
          </p:nvPr>
        </p:nvSpPr>
        <p:spPr/>
        <p:txBody>
          <a:bodyPr>
            <a:normAutofit fontScale="90000"/>
          </a:bodyPr>
          <a:lstStyle/>
          <a:p>
            <a:endParaRPr kumimoji="1" lang="zh-CN" altLang="en-US"/>
          </a:p>
        </p:txBody>
      </p:sp>
      <p:sp>
        <p:nvSpPr>
          <p:cNvPr id="3" name="TextBox 5">
            <a:extLst>
              <a:ext uri="{FF2B5EF4-FFF2-40B4-BE49-F238E27FC236}">
                <a16:creationId xmlns:a16="http://schemas.microsoft.com/office/drawing/2014/main" id="{AB0E0D96-69C9-9E02-1202-B2359469BF88}"/>
              </a:ext>
            </a:extLst>
          </p:cNvPr>
          <p:cNvSpPr txBox="1"/>
          <p:nvPr>
            <p:custDataLst>
              <p:tags r:id="rId1"/>
            </p:custDataLst>
          </p:nvPr>
        </p:nvSpPr>
        <p:spPr>
          <a:xfrm>
            <a:off x="1037968" y="681628"/>
            <a:ext cx="9239507" cy="1264444"/>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尼美（女，</a:t>
            </a:r>
            <a:r>
              <a:rPr lang="en-US" altLang="zh-CN"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23</a:t>
            </a:r>
            <a:r>
              <a:rPr lang="zh-CN" altLang="en-US" sz="260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岁，企业白领）是如何选择相亲对象的，尼美对于相亲对象的属性建模，总共包括哪些属性</a:t>
            </a:r>
          </a:p>
        </p:txBody>
      </p:sp>
      <p:pic>
        <p:nvPicPr>
          <p:cNvPr id="14" name="Picture 2">
            <a:extLst>
              <a:ext uri="{FF2B5EF4-FFF2-40B4-BE49-F238E27FC236}">
                <a16:creationId xmlns:a16="http://schemas.microsoft.com/office/drawing/2014/main" id="{BD6322DF-6B64-A830-7087-DBDE2A68D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690" y="1970940"/>
            <a:ext cx="3352800" cy="458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Content Placeholder 2">
            <a:extLst>
              <a:ext uri="{FF2B5EF4-FFF2-40B4-BE49-F238E27FC236}">
                <a16:creationId xmlns:a16="http://schemas.microsoft.com/office/drawing/2014/main" id="{AC36D2D1-BCC6-7160-E58B-6EC4D744648B}"/>
              </a:ext>
            </a:extLst>
          </p:cNvPr>
          <p:cNvSpPr txBox="1"/>
          <p:nvPr/>
        </p:nvSpPr>
        <p:spPr>
          <a:xfrm>
            <a:off x="401076" y="1769810"/>
            <a:ext cx="4428868" cy="4248306"/>
          </a:xfrm>
          <a:prstGeom prst="rect">
            <a:avLst/>
          </a:prstGeom>
        </p:spPr>
        <p:txBody>
          <a:bodyPr lIns="91392" tIns="45696" rIns="91392" bIns="45696"/>
          <a:lstStyle>
            <a:lvl1pPr defTabSz="912813">
              <a:defRPr sz="2800">
                <a:solidFill>
                  <a:schemeClr val="tx1"/>
                </a:solidFill>
                <a:latin typeface="Tahoma" panose="020B0604030504040204" pitchFamily="34" charset="0"/>
                <a:ea typeface="宋体" panose="02010600030101010101" pitchFamily="2" charset="-122"/>
              </a:defRPr>
            </a:lvl1pPr>
            <a:lvl2pPr marL="742950" indent="-285750" defTabSz="912813">
              <a:defRPr sz="2800">
                <a:solidFill>
                  <a:schemeClr val="tx1"/>
                </a:solidFill>
                <a:latin typeface="Tahoma" panose="020B0604030504040204" pitchFamily="34" charset="0"/>
                <a:ea typeface="宋体" panose="02010600030101010101" pitchFamily="2" charset="-122"/>
              </a:defRPr>
            </a:lvl2pPr>
            <a:lvl3pPr marL="1143000" indent="-228600" defTabSz="912813">
              <a:defRPr sz="2800">
                <a:solidFill>
                  <a:schemeClr val="tx1"/>
                </a:solidFill>
                <a:latin typeface="Tahoma" panose="020B0604030504040204" pitchFamily="34" charset="0"/>
                <a:ea typeface="宋体" panose="02010600030101010101" pitchFamily="2" charset="-122"/>
              </a:defRPr>
            </a:lvl3pPr>
            <a:lvl4pPr marL="1600200" indent="-228600" defTabSz="912813">
              <a:defRPr sz="2800">
                <a:solidFill>
                  <a:schemeClr val="tx1"/>
                </a:solidFill>
                <a:latin typeface="Tahoma" panose="020B0604030504040204" pitchFamily="34" charset="0"/>
                <a:ea typeface="宋体" panose="02010600030101010101" pitchFamily="2" charset="-122"/>
              </a:defRPr>
            </a:lvl4pPr>
            <a:lvl5pPr marL="2057400" indent="-228600" defTabSz="912813">
              <a:defRPr sz="2800">
                <a:solidFill>
                  <a:schemeClr val="tx1"/>
                </a:solidFill>
                <a:latin typeface="Tahoma" panose="020B0604030504040204" pitchFamily="34" charset="0"/>
                <a:ea typeface="宋体" panose="02010600030101010101" pitchFamily="2" charset="-122"/>
              </a:defRPr>
            </a:lvl5pPr>
            <a:lvl6pPr marL="2514600" indent="-228600" defTabSz="9128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defTabSz="9128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defTabSz="9128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defTabSz="912813"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20000"/>
              </a:spcBef>
              <a:buFont typeface="Arial" panose="020B0604020202020204" pitchFamily="34" charset="0"/>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基本思想</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Arial" panose="020B0604020202020204" pitchFamily="34" charset="0"/>
              <a:buNone/>
            </a:pPr>
            <a:r>
              <a:rPr lang="zh-CN" altLang="en-US" sz="2200" dirty="0">
                <a:solidFill>
                  <a:srgbClr val="262626"/>
                </a:solidFill>
                <a:latin typeface="Arial" panose="020B0604020202020204" pitchFamily="34" charset="0"/>
                <a:ea typeface="微软雅黑" panose="020B0503020204020204" pitchFamily="34" charset="-122"/>
                <a:cs typeface="Arial" panose="020B0604020202020204" pitchFamily="34" charset="0"/>
              </a:rPr>
              <a:t>决策树（</a:t>
            </a:r>
            <a:r>
              <a:rPr lang="en-US" altLang="zh-CN" sz="2200" dirty="0">
                <a:solidFill>
                  <a:srgbClr val="262626"/>
                </a:solidFill>
                <a:latin typeface="Arial" panose="020B0604020202020204" pitchFamily="34" charset="0"/>
                <a:ea typeface="微软雅黑" panose="020B0503020204020204" pitchFamily="34" charset="-122"/>
                <a:cs typeface="Arial" panose="020B0604020202020204" pitchFamily="34" charset="0"/>
              </a:rPr>
              <a:t>Decision Tree</a:t>
            </a:r>
            <a:r>
              <a:rPr lang="zh-CN" altLang="en-US" sz="2200" dirty="0">
                <a:solidFill>
                  <a:srgbClr val="262626"/>
                </a:solidFill>
                <a:latin typeface="Arial" panose="020B0604020202020204" pitchFamily="34" charset="0"/>
                <a:ea typeface="微软雅黑" panose="020B0503020204020204" pitchFamily="34" charset="-122"/>
                <a:cs typeface="Arial" panose="020B0604020202020204" pitchFamily="34" charset="0"/>
              </a:rPr>
              <a:t>）是最常见的分类方法，其基本思想很容易理解。在生活中人们经常应用决策树的思想来做决定。</a:t>
            </a:r>
            <a:endParaRPr lang="en-US" altLang="zh-CN" sz="2200" dirty="0">
              <a:solidFill>
                <a:srgbClr val="262626"/>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矩形标注 36">
            <a:extLst>
              <a:ext uri="{FF2B5EF4-FFF2-40B4-BE49-F238E27FC236}">
                <a16:creationId xmlns:a16="http://schemas.microsoft.com/office/drawing/2014/main" id="{6906841D-4FF5-4C50-B9AF-D72D2E61821F}"/>
              </a:ext>
            </a:extLst>
          </p:cNvPr>
          <p:cNvSpPr/>
          <p:nvPr/>
        </p:nvSpPr>
        <p:spPr bwMode="auto">
          <a:xfrm>
            <a:off x="5436730" y="2319980"/>
            <a:ext cx="1207637" cy="400110"/>
          </a:xfrm>
          <a:prstGeom prst="accentBorderCallout2">
            <a:avLst>
              <a:gd name="adj1" fmla="val 21643"/>
              <a:gd name="adj2" fmla="val 105723"/>
              <a:gd name="adj3" fmla="val 21643"/>
              <a:gd name="adj4" fmla="val 123268"/>
              <a:gd name="adj5" fmla="val 109607"/>
              <a:gd name="adj6" fmla="val 143107"/>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a:r>
              <a:rPr lang="zh-CN" altLang="en-US" sz="20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测试节点</a:t>
            </a:r>
          </a:p>
        </p:txBody>
      </p:sp>
      <p:sp>
        <p:nvSpPr>
          <p:cNvPr id="17" name="矩形标注 38">
            <a:extLst>
              <a:ext uri="{FF2B5EF4-FFF2-40B4-BE49-F238E27FC236}">
                <a16:creationId xmlns:a16="http://schemas.microsoft.com/office/drawing/2014/main" id="{738AEC9E-0F2A-8042-805C-594DDE21C690}"/>
              </a:ext>
            </a:extLst>
          </p:cNvPr>
          <p:cNvSpPr/>
          <p:nvPr/>
        </p:nvSpPr>
        <p:spPr bwMode="auto">
          <a:xfrm>
            <a:off x="9157964" y="5011533"/>
            <a:ext cx="837052" cy="400110"/>
          </a:xfrm>
          <a:prstGeom prst="accentBorderCallout2">
            <a:avLst>
              <a:gd name="adj1" fmla="val 18750"/>
              <a:gd name="adj2" fmla="val -8333"/>
              <a:gd name="adj3" fmla="val 18750"/>
              <a:gd name="adj4" fmla="val -16667"/>
              <a:gd name="adj5" fmla="val 92250"/>
              <a:gd name="adj6" fmla="val -32839"/>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a:r>
              <a:rPr lang="zh-CN" altLang="en-US" sz="20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叶子</a:t>
            </a:r>
          </a:p>
        </p:txBody>
      </p:sp>
      <p:sp>
        <p:nvSpPr>
          <p:cNvPr id="18" name="矩形标注 37">
            <a:extLst>
              <a:ext uri="{FF2B5EF4-FFF2-40B4-BE49-F238E27FC236}">
                <a16:creationId xmlns:a16="http://schemas.microsoft.com/office/drawing/2014/main" id="{36F55F9D-E328-8C8B-8ACD-1701CA8DCC57}"/>
              </a:ext>
            </a:extLst>
          </p:cNvPr>
          <p:cNvSpPr/>
          <p:nvPr/>
        </p:nvSpPr>
        <p:spPr bwMode="auto">
          <a:xfrm>
            <a:off x="8702371" y="3493853"/>
            <a:ext cx="837052" cy="400110"/>
          </a:xfrm>
          <a:prstGeom prst="accentBorderCallout2">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a:r>
              <a:rPr lang="zh-CN" altLang="en-US" sz="20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分支</a:t>
            </a:r>
          </a:p>
        </p:txBody>
      </p:sp>
      <p:sp>
        <p:nvSpPr>
          <p:cNvPr id="20" name="文本框 19">
            <a:extLst>
              <a:ext uri="{FF2B5EF4-FFF2-40B4-BE49-F238E27FC236}">
                <a16:creationId xmlns:a16="http://schemas.microsoft.com/office/drawing/2014/main" id="{AE58342B-96DD-ACF4-BA3E-2A074EBFEC7C}"/>
              </a:ext>
            </a:extLst>
          </p:cNvPr>
          <p:cNvSpPr txBox="1"/>
          <p:nvPr/>
        </p:nvSpPr>
        <p:spPr>
          <a:xfrm>
            <a:off x="146055" y="5011533"/>
            <a:ext cx="6141308" cy="581441"/>
          </a:xfrm>
          <a:prstGeom prst="rect">
            <a:avLst/>
          </a:prstGeom>
          <a:noFill/>
        </p:spPr>
        <p:txBody>
          <a:bodyPr wrap="square">
            <a:spAutoFit/>
          </a:bodyPr>
          <a:lstStyle/>
          <a:p>
            <a:pPr marL="817200" lvl="1" indent="-360000" algn="just" fontAlgn="base">
              <a:lnSpc>
                <a:spcPct val="125000"/>
              </a:lnSpc>
              <a:spcBef>
                <a:spcPts val="700"/>
              </a:spcBef>
              <a:spcAft>
                <a:spcPct val="0"/>
              </a:spcAft>
              <a:buClr>
                <a:srgbClr val="FF6600"/>
              </a:buClr>
              <a:buSzPct val="80000"/>
              <a:buFont typeface="Wingdings" panose="05000000000000000000" pitchFamily="2" charset="2"/>
              <a:buChar char="l"/>
            </a:pPr>
            <a:r>
              <a:rPr lang="zh-CN" altLang="en-US" sz="28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关键在于决策树如何构造</a:t>
            </a:r>
            <a:endParaRPr lang="en-US" altLang="zh-CN" sz="28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737006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064EDD-D97E-BC8C-E4EA-F04D5883FA49}"/>
              </a:ext>
            </a:extLst>
          </p:cNvPr>
          <p:cNvSpPr>
            <a:spLocks noGrp="1"/>
          </p:cNvSpPr>
          <p:nvPr>
            <p:ph type="title"/>
          </p:nvPr>
        </p:nvSpPr>
        <p:spPr/>
        <p:txBody>
          <a:bodyPr>
            <a:normAutofit fontScale="90000"/>
          </a:bodyPr>
          <a:lstStyle/>
          <a:p>
            <a:r>
              <a:rPr kumimoji="1" lang="zh-CN" altLang="en-US" dirty="0"/>
              <a:t>一个决策树的例子（</a:t>
            </a:r>
            <a:r>
              <a:rPr kumimoji="1" lang="en-US" altLang="zh-CN" dirty="0"/>
              <a:t>Different</a:t>
            </a:r>
            <a:r>
              <a:rPr kumimoji="1" lang="zh-CN" altLang="en-US" dirty="0"/>
              <a:t>？）</a:t>
            </a:r>
          </a:p>
        </p:txBody>
      </p:sp>
      <p:grpSp>
        <p:nvGrpSpPr>
          <p:cNvPr id="3" name="Group 3">
            <a:extLst>
              <a:ext uri="{FF2B5EF4-FFF2-40B4-BE49-F238E27FC236}">
                <a16:creationId xmlns:a16="http://schemas.microsoft.com/office/drawing/2014/main" id="{0F37BE76-5659-B14B-15CE-C8A04DB24D6D}"/>
              </a:ext>
            </a:extLst>
          </p:cNvPr>
          <p:cNvGrpSpPr>
            <a:grpSpLocks/>
          </p:cNvGrpSpPr>
          <p:nvPr/>
        </p:nvGrpSpPr>
        <p:grpSpPr bwMode="auto">
          <a:xfrm>
            <a:off x="1517348" y="1396356"/>
            <a:ext cx="3179764" cy="568326"/>
            <a:chOff x="744" y="960"/>
            <a:chExt cx="2003" cy="358"/>
          </a:xfrm>
        </p:grpSpPr>
        <p:sp>
          <p:nvSpPr>
            <p:cNvPr id="4" name="Text Box 5">
              <a:extLst>
                <a:ext uri="{FF2B5EF4-FFF2-40B4-BE49-F238E27FC236}">
                  <a16:creationId xmlns:a16="http://schemas.microsoft.com/office/drawing/2014/main" id="{39D10989-8720-78CE-6E2E-BF392E2C8B03}"/>
                </a:ext>
              </a:extLst>
            </p:cNvPr>
            <p:cNvSpPr txBox="1">
              <a:spLocks noChangeArrowheads="1"/>
            </p:cNvSpPr>
            <p:nvPr/>
          </p:nvSpPr>
          <p:spPr bwMode="auto">
            <a:xfrm rot="19183191">
              <a:off x="744" y="960"/>
              <a:ext cx="79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20000"/>
                </a:spcBef>
                <a:spcAft>
                  <a:spcPct val="0"/>
                </a:spcAft>
                <a:buClr>
                  <a:schemeClr val="accent2"/>
                </a:buClr>
                <a:buFont typeface="Monotype Sorts" pitchFamily="2" charset="2"/>
                <a:buNone/>
              </a:pPr>
              <a:r>
                <a:rPr lang="en-US" altLang="zh-CN" sz="18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categorical</a:t>
              </a:r>
            </a:p>
          </p:txBody>
        </p:sp>
        <p:sp>
          <p:nvSpPr>
            <p:cNvPr id="5" name="Text Box 6">
              <a:extLst>
                <a:ext uri="{FF2B5EF4-FFF2-40B4-BE49-F238E27FC236}">
                  <a16:creationId xmlns:a16="http://schemas.microsoft.com/office/drawing/2014/main" id="{045444A5-A358-7F97-9DD3-17F647D4D5EF}"/>
                </a:ext>
              </a:extLst>
            </p:cNvPr>
            <p:cNvSpPr txBox="1">
              <a:spLocks noChangeArrowheads="1"/>
            </p:cNvSpPr>
            <p:nvPr/>
          </p:nvSpPr>
          <p:spPr bwMode="auto">
            <a:xfrm rot="19183191">
              <a:off x="1276" y="960"/>
              <a:ext cx="79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20000"/>
                </a:spcBef>
                <a:spcAft>
                  <a:spcPct val="0"/>
                </a:spcAft>
                <a:buClr>
                  <a:schemeClr val="accent2"/>
                </a:buClr>
                <a:buFont typeface="Monotype Sorts" pitchFamily="2" charset="2"/>
                <a:buNone/>
              </a:pPr>
              <a:r>
                <a:rPr lang="en-US" altLang="zh-CN" sz="18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categorical</a:t>
              </a:r>
            </a:p>
          </p:txBody>
        </p:sp>
        <p:sp>
          <p:nvSpPr>
            <p:cNvPr id="6" name="Text Box 7">
              <a:extLst>
                <a:ext uri="{FF2B5EF4-FFF2-40B4-BE49-F238E27FC236}">
                  <a16:creationId xmlns:a16="http://schemas.microsoft.com/office/drawing/2014/main" id="{A7D7A38F-85A8-070D-10D8-6B5D31F5C030}"/>
                </a:ext>
              </a:extLst>
            </p:cNvPr>
            <p:cNvSpPr txBox="1">
              <a:spLocks noChangeArrowheads="1"/>
            </p:cNvSpPr>
            <p:nvPr/>
          </p:nvSpPr>
          <p:spPr bwMode="auto">
            <a:xfrm rot="19183191">
              <a:off x="1808" y="960"/>
              <a:ext cx="79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20000"/>
                </a:spcBef>
                <a:spcAft>
                  <a:spcPct val="0"/>
                </a:spcAft>
                <a:buClr>
                  <a:schemeClr val="accent2"/>
                </a:buClr>
                <a:buFont typeface="Monotype Sorts" pitchFamily="2" charset="2"/>
                <a:buNone/>
              </a:pPr>
              <a:r>
                <a:rPr lang="en-US" altLang="zh-CN" sz="18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continuous</a:t>
              </a:r>
            </a:p>
          </p:txBody>
        </p:sp>
        <p:sp>
          <p:nvSpPr>
            <p:cNvPr id="7" name="Text Box 8">
              <a:extLst>
                <a:ext uri="{FF2B5EF4-FFF2-40B4-BE49-F238E27FC236}">
                  <a16:creationId xmlns:a16="http://schemas.microsoft.com/office/drawing/2014/main" id="{4A9A98B9-62AF-92B1-6CFB-DCE5BFEFF172}"/>
                </a:ext>
              </a:extLst>
            </p:cNvPr>
            <p:cNvSpPr txBox="1">
              <a:spLocks noChangeArrowheads="1"/>
            </p:cNvSpPr>
            <p:nvPr/>
          </p:nvSpPr>
          <p:spPr bwMode="auto">
            <a:xfrm rot="19183191">
              <a:off x="2340" y="1085"/>
              <a:ext cx="40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20000"/>
                </a:spcBef>
                <a:spcAft>
                  <a:spcPct val="0"/>
                </a:spcAft>
                <a:buClr>
                  <a:schemeClr val="accent2"/>
                </a:buClr>
                <a:buFont typeface="Monotype Sorts" pitchFamily="2" charset="2"/>
                <a:buNone/>
              </a:pPr>
              <a:r>
                <a:rPr lang="en-US" altLang="zh-CN" sz="18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class</a:t>
              </a:r>
            </a:p>
          </p:txBody>
        </p:sp>
      </p:grpSp>
      <p:grpSp>
        <p:nvGrpSpPr>
          <p:cNvPr id="8" name="组合 7">
            <a:extLst>
              <a:ext uri="{FF2B5EF4-FFF2-40B4-BE49-F238E27FC236}">
                <a16:creationId xmlns:a16="http://schemas.microsoft.com/office/drawing/2014/main" id="{2209E523-3504-0588-7CC6-70D482F548B8}"/>
              </a:ext>
            </a:extLst>
          </p:cNvPr>
          <p:cNvGrpSpPr/>
          <p:nvPr/>
        </p:nvGrpSpPr>
        <p:grpSpPr>
          <a:xfrm>
            <a:off x="5756190" y="795433"/>
            <a:ext cx="4074354" cy="3031569"/>
            <a:chOff x="4994538" y="2302431"/>
            <a:chExt cx="4074354" cy="3031569"/>
          </a:xfrm>
        </p:grpSpPr>
        <p:sp>
          <p:nvSpPr>
            <p:cNvPr id="9" name="Line 9">
              <a:extLst>
                <a:ext uri="{FF2B5EF4-FFF2-40B4-BE49-F238E27FC236}">
                  <a16:creationId xmlns:a16="http://schemas.microsoft.com/office/drawing/2014/main" id="{38CC2940-EDAC-7E98-2C9A-C3407C117393}"/>
                </a:ext>
              </a:extLst>
            </p:cNvPr>
            <p:cNvSpPr>
              <a:spLocks noChangeShapeType="1"/>
            </p:cNvSpPr>
            <p:nvPr/>
          </p:nvSpPr>
          <p:spPr bwMode="auto">
            <a:xfrm>
              <a:off x="7012250" y="4429125"/>
              <a:ext cx="242888"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Line 10">
              <a:extLst>
                <a:ext uri="{FF2B5EF4-FFF2-40B4-BE49-F238E27FC236}">
                  <a16:creationId xmlns:a16="http://schemas.microsoft.com/office/drawing/2014/main" id="{6148E3F3-9E87-96D3-3236-25DA73EB6DBF}"/>
                </a:ext>
              </a:extLst>
            </p:cNvPr>
            <p:cNvSpPr>
              <a:spLocks noChangeShapeType="1"/>
            </p:cNvSpPr>
            <p:nvPr/>
          </p:nvSpPr>
          <p:spPr bwMode="auto">
            <a:xfrm flipH="1">
              <a:off x="5881950" y="4429125"/>
              <a:ext cx="323850"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11">
              <a:extLst>
                <a:ext uri="{FF2B5EF4-FFF2-40B4-BE49-F238E27FC236}">
                  <a16:creationId xmlns:a16="http://schemas.microsoft.com/office/drawing/2014/main" id="{37253B15-FA76-CAAE-C599-9078E26B32EF}"/>
                </a:ext>
              </a:extLst>
            </p:cNvPr>
            <p:cNvSpPr>
              <a:spLocks noChangeShapeType="1"/>
            </p:cNvSpPr>
            <p:nvPr/>
          </p:nvSpPr>
          <p:spPr bwMode="auto">
            <a:xfrm flipH="1">
              <a:off x="6528063" y="3635375"/>
              <a:ext cx="403225"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Line 12">
              <a:extLst>
                <a:ext uri="{FF2B5EF4-FFF2-40B4-BE49-F238E27FC236}">
                  <a16:creationId xmlns:a16="http://schemas.microsoft.com/office/drawing/2014/main" id="{C9F25233-E8DD-7E93-DAA7-FCE4E8F81ECD}"/>
                </a:ext>
              </a:extLst>
            </p:cNvPr>
            <p:cNvSpPr>
              <a:spLocks noChangeShapeType="1"/>
            </p:cNvSpPr>
            <p:nvPr/>
          </p:nvSpPr>
          <p:spPr bwMode="auto">
            <a:xfrm>
              <a:off x="7739325" y="3635375"/>
              <a:ext cx="484188"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Line 13">
              <a:extLst>
                <a:ext uri="{FF2B5EF4-FFF2-40B4-BE49-F238E27FC236}">
                  <a16:creationId xmlns:a16="http://schemas.microsoft.com/office/drawing/2014/main" id="{84F1E98E-C3EF-4F4A-B205-E657E6F07BC4}"/>
                </a:ext>
              </a:extLst>
            </p:cNvPr>
            <p:cNvSpPr>
              <a:spLocks noChangeShapeType="1"/>
            </p:cNvSpPr>
            <p:nvPr/>
          </p:nvSpPr>
          <p:spPr bwMode="auto">
            <a:xfrm>
              <a:off x="6689988" y="2908300"/>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Line 14">
              <a:extLst>
                <a:ext uri="{FF2B5EF4-FFF2-40B4-BE49-F238E27FC236}">
                  <a16:creationId xmlns:a16="http://schemas.microsoft.com/office/drawing/2014/main" id="{B01DAC6B-423B-6CD2-E346-141945BE103A}"/>
                </a:ext>
              </a:extLst>
            </p:cNvPr>
            <p:cNvSpPr>
              <a:spLocks noChangeShapeType="1"/>
            </p:cNvSpPr>
            <p:nvPr/>
          </p:nvSpPr>
          <p:spPr bwMode="auto">
            <a:xfrm flipH="1">
              <a:off x="5316800" y="2908300"/>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5">
              <a:extLst>
                <a:ext uri="{FF2B5EF4-FFF2-40B4-BE49-F238E27FC236}">
                  <a16:creationId xmlns:a16="http://schemas.microsoft.com/office/drawing/2014/main" id="{53D9DBC0-D54B-59E4-409B-4816AE500151}"/>
                </a:ext>
              </a:extLst>
            </p:cNvPr>
            <p:cNvSpPr txBox="1">
              <a:spLocks noChangeArrowheads="1"/>
            </p:cNvSpPr>
            <p:nvPr/>
          </p:nvSpPr>
          <p:spPr bwMode="auto">
            <a:xfrm>
              <a:off x="5834325" y="2644775"/>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Text Box 16">
              <a:extLst>
                <a:ext uri="{FF2B5EF4-FFF2-40B4-BE49-F238E27FC236}">
                  <a16:creationId xmlns:a16="http://schemas.microsoft.com/office/drawing/2014/main" id="{0CF22654-B502-D80A-9A2C-BD12DB0D1563}"/>
                </a:ext>
              </a:extLst>
            </p:cNvPr>
            <p:cNvSpPr txBox="1">
              <a:spLocks noChangeArrowheads="1"/>
            </p:cNvSpPr>
            <p:nvPr/>
          </p:nvSpPr>
          <p:spPr bwMode="auto">
            <a:xfrm>
              <a:off x="6850325" y="3371850"/>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MarSt</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Text Box 17">
              <a:extLst>
                <a:ext uri="{FF2B5EF4-FFF2-40B4-BE49-F238E27FC236}">
                  <a16:creationId xmlns:a16="http://schemas.microsoft.com/office/drawing/2014/main" id="{86941DA1-D3E7-4A82-298E-6795D0E3751E}"/>
                </a:ext>
              </a:extLst>
            </p:cNvPr>
            <p:cNvSpPr txBox="1">
              <a:spLocks noChangeArrowheads="1"/>
            </p:cNvSpPr>
            <p:nvPr/>
          </p:nvSpPr>
          <p:spPr bwMode="auto">
            <a:xfrm>
              <a:off x="6124838" y="4164013"/>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TaxInc</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AutoShape 18">
              <a:extLst>
                <a:ext uri="{FF2B5EF4-FFF2-40B4-BE49-F238E27FC236}">
                  <a16:creationId xmlns:a16="http://schemas.microsoft.com/office/drawing/2014/main" id="{7D0967EF-16C8-BD77-2998-85947120780E}"/>
                </a:ext>
              </a:extLst>
            </p:cNvPr>
            <p:cNvSpPr>
              <a:spLocks noChangeArrowheads="1"/>
            </p:cNvSpPr>
            <p:nvPr/>
          </p:nvSpPr>
          <p:spPr bwMode="auto">
            <a:xfrm>
              <a:off x="6892685" y="4953000"/>
              <a:ext cx="720000" cy="366713"/>
            </a:xfrm>
            <a:prstGeom prst="roundRect">
              <a:avLst>
                <a:gd name="adj" fmla="val 16769"/>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AutoShape 20">
              <a:extLst>
                <a:ext uri="{FF2B5EF4-FFF2-40B4-BE49-F238E27FC236}">
                  <a16:creationId xmlns:a16="http://schemas.microsoft.com/office/drawing/2014/main" id="{2E978A31-9CAA-D6BB-6255-C00311F33F65}"/>
                </a:ext>
              </a:extLst>
            </p:cNvPr>
            <p:cNvSpPr>
              <a:spLocks noChangeArrowheads="1"/>
            </p:cNvSpPr>
            <p:nvPr/>
          </p:nvSpPr>
          <p:spPr bwMode="auto">
            <a:xfrm>
              <a:off x="5559688" y="4970463"/>
              <a:ext cx="720000" cy="363537"/>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AutoShape 22">
              <a:extLst>
                <a:ext uri="{FF2B5EF4-FFF2-40B4-BE49-F238E27FC236}">
                  <a16:creationId xmlns:a16="http://schemas.microsoft.com/office/drawing/2014/main" id="{3F978ED9-F59F-189C-3E17-F20CE98FE79D}"/>
                </a:ext>
              </a:extLst>
            </p:cNvPr>
            <p:cNvSpPr>
              <a:spLocks noChangeArrowheads="1"/>
            </p:cNvSpPr>
            <p:nvPr/>
          </p:nvSpPr>
          <p:spPr bwMode="auto">
            <a:xfrm>
              <a:off x="4994538" y="3386138"/>
              <a:ext cx="720000" cy="347662"/>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AutoShape 24">
              <a:extLst>
                <a:ext uri="{FF2B5EF4-FFF2-40B4-BE49-F238E27FC236}">
                  <a16:creationId xmlns:a16="http://schemas.microsoft.com/office/drawing/2014/main" id="{9F6C8B7B-62C6-6363-ECC7-5F862911318C}"/>
                </a:ext>
              </a:extLst>
            </p:cNvPr>
            <p:cNvSpPr>
              <a:spLocks noChangeArrowheads="1"/>
            </p:cNvSpPr>
            <p:nvPr/>
          </p:nvSpPr>
          <p:spPr bwMode="auto">
            <a:xfrm>
              <a:off x="7890138" y="4191000"/>
              <a:ext cx="720000" cy="381000"/>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Text Box 26">
              <a:extLst>
                <a:ext uri="{FF2B5EF4-FFF2-40B4-BE49-F238E27FC236}">
                  <a16:creationId xmlns:a16="http://schemas.microsoft.com/office/drawing/2014/main" id="{FBD5C164-5D37-A9FC-EB10-D66E4C4C1E50}"/>
                </a:ext>
              </a:extLst>
            </p:cNvPr>
            <p:cNvSpPr txBox="1">
              <a:spLocks noChangeArrowheads="1"/>
            </p:cNvSpPr>
            <p:nvPr/>
          </p:nvSpPr>
          <p:spPr bwMode="auto">
            <a:xfrm>
              <a:off x="5104069" y="2908300"/>
              <a:ext cx="48314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Yes</a:t>
              </a:r>
            </a:p>
          </p:txBody>
        </p:sp>
        <p:sp>
          <p:nvSpPr>
            <p:cNvPr id="23" name="Text Box 27">
              <a:extLst>
                <a:ext uri="{FF2B5EF4-FFF2-40B4-BE49-F238E27FC236}">
                  <a16:creationId xmlns:a16="http://schemas.microsoft.com/office/drawing/2014/main" id="{3E67D9C3-0B4C-74AB-C1BF-02C7D85D0DC9}"/>
                </a:ext>
              </a:extLst>
            </p:cNvPr>
            <p:cNvSpPr txBox="1">
              <a:spLocks noChangeArrowheads="1"/>
            </p:cNvSpPr>
            <p:nvPr/>
          </p:nvSpPr>
          <p:spPr bwMode="auto">
            <a:xfrm>
              <a:off x="6929271" y="2908300"/>
              <a:ext cx="43473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No</a:t>
              </a:r>
            </a:p>
          </p:txBody>
        </p:sp>
        <p:sp>
          <p:nvSpPr>
            <p:cNvPr id="24" name="Text Box 28">
              <a:extLst>
                <a:ext uri="{FF2B5EF4-FFF2-40B4-BE49-F238E27FC236}">
                  <a16:creationId xmlns:a16="http://schemas.microsoft.com/office/drawing/2014/main" id="{4354FFCB-EDDC-9ED7-75A0-801B3FEE1F4A}"/>
                </a:ext>
              </a:extLst>
            </p:cNvPr>
            <p:cNvSpPr txBox="1">
              <a:spLocks noChangeArrowheads="1"/>
            </p:cNvSpPr>
            <p:nvPr/>
          </p:nvSpPr>
          <p:spPr bwMode="auto">
            <a:xfrm>
              <a:off x="7999151" y="3677878"/>
              <a:ext cx="86042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Married</a:t>
              </a:r>
              <a:r>
                <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rPr>
                <a:t> </a:t>
              </a:r>
            </a:p>
          </p:txBody>
        </p:sp>
        <p:sp>
          <p:nvSpPr>
            <p:cNvPr id="25" name="Text Box 29">
              <a:extLst>
                <a:ext uri="{FF2B5EF4-FFF2-40B4-BE49-F238E27FC236}">
                  <a16:creationId xmlns:a16="http://schemas.microsoft.com/office/drawing/2014/main" id="{D2B2F859-D1F9-C406-3EFB-4244BD2A22A0}"/>
                </a:ext>
              </a:extLst>
            </p:cNvPr>
            <p:cNvSpPr txBox="1">
              <a:spLocks noChangeArrowheads="1"/>
            </p:cNvSpPr>
            <p:nvPr/>
          </p:nvSpPr>
          <p:spPr bwMode="auto">
            <a:xfrm>
              <a:off x="5797819" y="3495675"/>
              <a:ext cx="949298"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Single, </a:t>
              </a:r>
            </a:p>
            <a:p>
              <a:pPr marL="0" indent="0" algn="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Text Box 30">
              <a:extLst>
                <a:ext uri="{FF2B5EF4-FFF2-40B4-BE49-F238E27FC236}">
                  <a16:creationId xmlns:a16="http://schemas.microsoft.com/office/drawing/2014/main" id="{13883AC9-311F-DB23-8E4D-8BC022423CC6}"/>
                </a:ext>
              </a:extLst>
            </p:cNvPr>
            <p:cNvSpPr txBox="1">
              <a:spLocks noChangeArrowheads="1"/>
            </p:cNvSpPr>
            <p:nvPr/>
          </p:nvSpPr>
          <p:spPr bwMode="auto">
            <a:xfrm>
              <a:off x="5345642" y="4520018"/>
              <a:ext cx="70403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&lt; 80K</a:t>
              </a:r>
            </a:p>
          </p:txBody>
        </p:sp>
        <p:sp>
          <p:nvSpPr>
            <p:cNvPr id="27" name="Text Box 31">
              <a:extLst>
                <a:ext uri="{FF2B5EF4-FFF2-40B4-BE49-F238E27FC236}">
                  <a16:creationId xmlns:a16="http://schemas.microsoft.com/office/drawing/2014/main" id="{FE41FA88-5D52-E5BD-1866-3E8A955D1E3E}"/>
                </a:ext>
              </a:extLst>
            </p:cNvPr>
            <p:cNvSpPr txBox="1">
              <a:spLocks noChangeArrowheads="1"/>
            </p:cNvSpPr>
            <p:nvPr/>
          </p:nvSpPr>
          <p:spPr bwMode="auto">
            <a:xfrm>
              <a:off x="7119930" y="4517101"/>
              <a:ext cx="70403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&gt; 80K</a:t>
              </a:r>
            </a:p>
          </p:txBody>
        </p:sp>
        <p:sp>
          <p:nvSpPr>
            <p:cNvPr id="28" name="Text Box 32">
              <a:extLst>
                <a:ext uri="{FF2B5EF4-FFF2-40B4-BE49-F238E27FC236}">
                  <a16:creationId xmlns:a16="http://schemas.microsoft.com/office/drawing/2014/main" id="{9DC9F777-7C87-A163-45E2-FA65EFD037F7}"/>
                </a:ext>
              </a:extLst>
            </p:cNvPr>
            <p:cNvSpPr txBox="1">
              <a:spLocks noChangeArrowheads="1"/>
            </p:cNvSpPr>
            <p:nvPr/>
          </p:nvSpPr>
          <p:spPr bwMode="auto">
            <a:xfrm>
              <a:off x="7091043" y="2302431"/>
              <a:ext cx="1977849"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800" i="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Splitting Attributes</a:t>
              </a:r>
            </a:p>
          </p:txBody>
        </p:sp>
        <p:sp>
          <p:nvSpPr>
            <p:cNvPr id="29" name="Line 33">
              <a:extLst>
                <a:ext uri="{FF2B5EF4-FFF2-40B4-BE49-F238E27FC236}">
                  <a16:creationId xmlns:a16="http://schemas.microsoft.com/office/drawing/2014/main" id="{83E5854D-9685-7083-766C-FBD2B4595856}"/>
                </a:ext>
              </a:extLst>
            </p:cNvPr>
            <p:cNvSpPr>
              <a:spLocks noChangeShapeType="1"/>
            </p:cNvSpPr>
            <p:nvPr/>
          </p:nvSpPr>
          <p:spPr bwMode="auto">
            <a:xfrm flipH="1">
              <a:off x="6781749" y="2671763"/>
              <a:ext cx="1173476" cy="130174"/>
            </a:xfrm>
            <a:prstGeom prst="line">
              <a:avLst/>
            </a:prstGeom>
            <a:noFill/>
            <a:ln w="15875">
              <a:solidFill>
                <a:srgbClr val="FF66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Line 35">
              <a:extLst>
                <a:ext uri="{FF2B5EF4-FFF2-40B4-BE49-F238E27FC236}">
                  <a16:creationId xmlns:a16="http://schemas.microsoft.com/office/drawing/2014/main" id="{81B04C3B-2D5E-2F14-3520-6DF03F86ACBE}"/>
                </a:ext>
              </a:extLst>
            </p:cNvPr>
            <p:cNvSpPr>
              <a:spLocks noChangeShapeType="1"/>
            </p:cNvSpPr>
            <p:nvPr/>
          </p:nvSpPr>
          <p:spPr bwMode="auto">
            <a:xfrm flipH="1">
              <a:off x="7457375" y="2671764"/>
              <a:ext cx="567701" cy="681036"/>
            </a:xfrm>
            <a:prstGeom prst="line">
              <a:avLst/>
            </a:prstGeom>
            <a:noFill/>
            <a:ln w="15875">
              <a:solidFill>
                <a:srgbClr val="FF66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aphicFrame>
        <p:nvGraphicFramePr>
          <p:cNvPr id="31" name="Group 3">
            <a:extLst>
              <a:ext uri="{FF2B5EF4-FFF2-40B4-BE49-F238E27FC236}">
                <a16:creationId xmlns:a16="http://schemas.microsoft.com/office/drawing/2014/main" id="{7C25F380-536D-5BD3-8FEC-3FA1C7952B7E}"/>
              </a:ext>
            </a:extLst>
          </p:cNvPr>
          <p:cNvGraphicFramePr>
            <a:graphicFrameLocks/>
          </p:cNvGraphicFramePr>
          <p:nvPr>
            <p:extLst>
              <p:ext uri="{D42A27DB-BD31-4B8C-83A1-F6EECF244321}">
                <p14:modId xmlns:p14="http://schemas.microsoft.com/office/powerpoint/2010/main" val="2085352081"/>
              </p:ext>
            </p:extLst>
          </p:nvPr>
        </p:nvGraphicFramePr>
        <p:xfrm>
          <a:off x="847608" y="2082947"/>
          <a:ext cx="3764850" cy="3687762"/>
        </p:xfrm>
        <a:graphic>
          <a:graphicData uri="http://schemas.openxmlformats.org/drawingml/2006/table">
            <a:tbl>
              <a:tblPr/>
              <a:tblGrid>
                <a:gridCol w="504000">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828000">
                  <a:extLst>
                    <a:ext uri="{9D8B030D-6E8A-4147-A177-3AD203B41FA5}">
                      <a16:colId xmlns:a16="http://schemas.microsoft.com/office/drawing/2014/main" val="20003"/>
                    </a:ext>
                  </a:extLst>
                </a:gridCol>
                <a:gridCol w="704850">
                  <a:extLst>
                    <a:ext uri="{9D8B030D-6E8A-4147-A177-3AD203B41FA5}">
                      <a16:colId xmlns:a16="http://schemas.microsoft.com/office/drawing/2014/main" val="20005"/>
                    </a:ext>
                  </a:extLst>
                </a:gridCol>
              </a:tblGrid>
              <a:tr h="518822">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6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16894">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6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32" name="Line 8">
            <a:extLst>
              <a:ext uri="{FF2B5EF4-FFF2-40B4-BE49-F238E27FC236}">
                <a16:creationId xmlns:a16="http://schemas.microsoft.com/office/drawing/2014/main" id="{289CE359-533E-70BE-9F7A-E5C420FB80DD}"/>
              </a:ext>
            </a:extLst>
          </p:cNvPr>
          <p:cNvSpPr>
            <a:spLocks noChangeShapeType="1"/>
          </p:cNvSpPr>
          <p:nvPr/>
        </p:nvSpPr>
        <p:spPr bwMode="auto">
          <a:xfrm>
            <a:off x="9266153" y="5864058"/>
            <a:ext cx="242887"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Line 9">
            <a:extLst>
              <a:ext uri="{FF2B5EF4-FFF2-40B4-BE49-F238E27FC236}">
                <a16:creationId xmlns:a16="http://schemas.microsoft.com/office/drawing/2014/main" id="{9C83627D-04CC-BD10-9FCF-75ACF29843DE}"/>
              </a:ext>
            </a:extLst>
          </p:cNvPr>
          <p:cNvSpPr>
            <a:spLocks noChangeShapeType="1"/>
          </p:cNvSpPr>
          <p:nvPr/>
        </p:nvSpPr>
        <p:spPr bwMode="auto">
          <a:xfrm flipH="1">
            <a:off x="8135853" y="5864058"/>
            <a:ext cx="323850"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10">
            <a:extLst>
              <a:ext uri="{FF2B5EF4-FFF2-40B4-BE49-F238E27FC236}">
                <a16:creationId xmlns:a16="http://schemas.microsoft.com/office/drawing/2014/main" id="{CB8D41CC-5B98-99FA-2B8F-2CC89B0999F6}"/>
              </a:ext>
            </a:extLst>
          </p:cNvPr>
          <p:cNvSpPr>
            <a:spLocks noChangeShapeType="1"/>
          </p:cNvSpPr>
          <p:nvPr/>
        </p:nvSpPr>
        <p:spPr bwMode="auto">
          <a:xfrm flipH="1">
            <a:off x="7142078" y="5100470"/>
            <a:ext cx="403225"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11">
            <a:extLst>
              <a:ext uri="{FF2B5EF4-FFF2-40B4-BE49-F238E27FC236}">
                <a16:creationId xmlns:a16="http://schemas.microsoft.com/office/drawing/2014/main" id="{7BB73591-9F91-32F9-72E2-D7FE050E38EB}"/>
              </a:ext>
            </a:extLst>
          </p:cNvPr>
          <p:cNvSpPr>
            <a:spLocks noChangeShapeType="1"/>
          </p:cNvSpPr>
          <p:nvPr/>
        </p:nvSpPr>
        <p:spPr bwMode="auto">
          <a:xfrm>
            <a:off x="8353340" y="5100470"/>
            <a:ext cx="484188"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Line 12">
            <a:extLst>
              <a:ext uri="{FF2B5EF4-FFF2-40B4-BE49-F238E27FC236}">
                <a16:creationId xmlns:a16="http://schemas.microsoft.com/office/drawing/2014/main" id="{EDE3F9D9-11FC-8D96-A7AD-589E7D28D769}"/>
              </a:ext>
            </a:extLst>
          </p:cNvPr>
          <p:cNvSpPr>
            <a:spLocks noChangeShapeType="1"/>
          </p:cNvSpPr>
          <p:nvPr/>
        </p:nvSpPr>
        <p:spPr bwMode="auto">
          <a:xfrm>
            <a:off x="7304003" y="4373395"/>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Line 13">
            <a:extLst>
              <a:ext uri="{FF2B5EF4-FFF2-40B4-BE49-F238E27FC236}">
                <a16:creationId xmlns:a16="http://schemas.microsoft.com/office/drawing/2014/main" id="{72A94402-9EEC-BFA5-A0D7-B2CCCDCFFF0E}"/>
              </a:ext>
            </a:extLst>
          </p:cNvPr>
          <p:cNvSpPr>
            <a:spLocks noChangeShapeType="1"/>
          </p:cNvSpPr>
          <p:nvPr/>
        </p:nvSpPr>
        <p:spPr bwMode="auto">
          <a:xfrm flipH="1">
            <a:off x="5930815" y="4373395"/>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Text Box 14">
            <a:extLst>
              <a:ext uri="{FF2B5EF4-FFF2-40B4-BE49-F238E27FC236}">
                <a16:creationId xmlns:a16="http://schemas.microsoft.com/office/drawing/2014/main" id="{8F8EC42A-8ECD-B269-71AE-FB32B3EAA054}"/>
              </a:ext>
            </a:extLst>
          </p:cNvPr>
          <p:cNvSpPr txBox="1">
            <a:spLocks noChangeArrowheads="1"/>
          </p:cNvSpPr>
          <p:nvPr/>
        </p:nvSpPr>
        <p:spPr bwMode="auto">
          <a:xfrm>
            <a:off x="6448340" y="4109870"/>
            <a:ext cx="936625" cy="349250"/>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defPPr>
              <a:defRPr lang="en-US"/>
            </a:defPPr>
            <a:lvl1pPr marL="0" indent="0" algn="ctr">
              <a:spcBef>
                <a:spcPts val="0"/>
              </a:spcBef>
              <a:buClr>
                <a:schemeClr val="accent2"/>
              </a:buClr>
              <a:buSzPct val="75000"/>
              <a:buFont typeface="Monotype Sorts" pitchFamily="2" charset="2"/>
              <a:buNone/>
              <a:defRPr sz="1600">
                <a:solidFill>
                  <a:srgbClr val="FF6600"/>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MarSt</a:t>
            </a:r>
          </a:p>
        </p:txBody>
      </p:sp>
      <p:sp>
        <p:nvSpPr>
          <p:cNvPr id="39" name="Text Box 15">
            <a:extLst>
              <a:ext uri="{FF2B5EF4-FFF2-40B4-BE49-F238E27FC236}">
                <a16:creationId xmlns:a16="http://schemas.microsoft.com/office/drawing/2014/main" id="{6234C9FA-951E-F6A2-E5F0-B5A3460F9511}"/>
              </a:ext>
            </a:extLst>
          </p:cNvPr>
          <p:cNvSpPr txBox="1">
            <a:spLocks noChangeArrowheads="1"/>
          </p:cNvSpPr>
          <p:nvPr/>
        </p:nvSpPr>
        <p:spPr bwMode="auto">
          <a:xfrm>
            <a:off x="7464340" y="4836945"/>
            <a:ext cx="935038" cy="349250"/>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defPPr>
              <a:defRPr lang="en-US"/>
            </a:defPPr>
            <a:lvl1pPr marL="0" indent="0" algn="ctr">
              <a:spcBef>
                <a:spcPts val="0"/>
              </a:spcBef>
              <a:buClr>
                <a:schemeClr val="accent2"/>
              </a:buClr>
              <a:buSzPct val="75000"/>
              <a:buFont typeface="Monotype Sorts" pitchFamily="2" charset="2"/>
              <a:buNone/>
              <a:defRPr sz="1600">
                <a:solidFill>
                  <a:srgbClr val="FF6600"/>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Refund</a:t>
            </a:r>
          </a:p>
        </p:txBody>
      </p:sp>
      <p:sp>
        <p:nvSpPr>
          <p:cNvPr id="40" name="Text Box 16">
            <a:extLst>
              <a:ext uri="{FF2B5EF4-FFF2-40B4-BE49-F238E27FC236}">
                <a16:creationId xmlns:a16="http://schemas.microsoft.com/office/drawing/2014/main" id="{DD47533A-1AA4-BBB9-C28B-EED6425B2219}"/>
              </a:ext>
            </a:extLst>
          </p:cNvPr>
          <p:cNvSpPr txBox="1">
            <a:spLocks noChangeArrowheads="1"/>
          </p:cNvSpPr>
          <p:nvPr/>
        </p:nvSpPr>
        <p:spPr bwMode="auto">
          <a:xfrm>
            <a:off x="8378740" y="5598945"/>
            <a:ext cx="968375" cy="349250"/>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defPPr>
              <a:defRPr lang="en-US"/>
            </a:defPPr>
            <a:lvl1pPr marL="0" indent="0" algn="ctr">
              <a:spcBef>
                <a:spcPts val="0"/>
              </a:spcBef>
              <a:buClr>
                <a:schemeClr val="accent2"/>
              </a:buClr>
              <a:buSzPct val="75000"/>
              <a:buFont typeface="Monotype Sorts" pitchFamily="2" charset="2"/>
              <a:buNone/>
              <a:defRPr sz="1600">
                <a:solidFill>
                  <a:srgbClr val="FF6600"/>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TaxInc</a:t>
            </a:r>
          </a:p>
        </p:txBody>
      </p:sp>
      <p:sp>
        <p:nvSpPr>
          <p:cNvPr id="41" name="Text Box 18">
            <a:extLst>
              <a:ext uri="{FF2B5EF4-FFF2-40B4-BE49-F238E27FC236}">
                <a16:creationId xmlns:a16="http://schemas.microsoft.com/office/drawing/2014/main" id="{32AE0D78-655F-3365-5FAB-489242E8A1C0}"/>
              </a:ext>
            </a:extLst>
          </p:cNvPr>
          <p:cNvSpPr txBox="1">
            <a:spLocks noChangeArrowheads="1"/>
          </p:cNvSpPr>
          <p:nvPr/>
        </p:nvSpPr>
        <p:spPr bwMode="auto">
          <a:xfrm>
            <a:off x="9149040" y="6387932"/>
            <a:ext cx="720000" cy="349200"/>
          </a:xfrm>
          <a:prstGeom prst="roundRect">
            <a:avLst/>
          </a:prstGeom>
          <a:solidFill>
            <a:schemeClr val="bg1">
              <a:lumMod val="95000"/>
            </a:schemeClr>
          </a:solidFill>
          <a:ln w="12700">
            <a:solidFill>
              <a:srgbClr val="13548C"/>
            </a:solidFill>
            <a:round/>
            <a:headEnd/>
            <a:tailEnd/>
          </a:ln>
          <a:effectLst/>
        </p:spPr>
        <p:txBody>
          <a:bodyPr wrap="none" anchor="ctr"/>
          <a:lstStyle>
            <a:defPPr>
              <a:defRPr lang="en-US"/>
            </a:defPPr>
            <a:lvl1pPr algn="ctr">
              <a:spcBef>
                <a:spcPts val="0"/>
              </a:spcBef>
              <a:buClrTx/>
              <a:buSzTx/>
              <a:buFont typeface="Monotype Sorts" pitchFamily="2" charset="2"/>
              <a:buNone/>
              <a:defRPr>
                <a:solidFill>
                  <a:srgbClr val="13548C"/>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YES</a:t>
            </a:r>
          </a:p>
        </p:txBody>
      </p:sp>
      <p:sp>
        <p:nvSpPr>
          <p:cNvPr id="42" name="Text Box 20">
            <a:extLst>
              <a:ext uri="{FF2B5EF4-FFF2-40B4-BE49-F238E27FC236}">
                <a16:creationId xmlns:a16="http://schemas.microsoft.com/office/drawing/2014/main" id="{2C6F9DB3-3A80-E37C-D9CD-5CE7E33807B0}"/>
              </a:ext>
            </a:extLst>
          </p:cNvPr>
          <p:cNvSpPr txBox="1">
            <a:spLocks noChangeArrowheads="1"/>
          </p:cNvSpPr>
          <p:nvPr/>
        </p:nvSpPr>
        <p:spPr bwMode="auto">
          <a:xfrm>
            <a:off x="7822011" y="6391107"/>
            <a:ext cx="720000" cy="349200"/>
          </a:xfrm>
          <a:prstGeom prst="roundRect">
            <a:avLst/>
          </a:prstGeom>
          <a:solidFill>
            <a:schemeClr val="bg1">
              <a:lumMod val="95000"/>
            </a:schemeClr>
          </a:solidFill>
          <a:ln w="12700">
            <a:solidFill>
              <a:srgbClr val="13548C"/>
            </a:solidFill>
            <a:round/>
            <a:headEnd/>
            <a:tailEnd/>
          </a:ln>
          <a:effectLst/>
        </p:spPr>
        <p:txBody>
          <a:bodyPr wrap="none" anchor="ctr"/>
          <a:lstStyle>
            <a:defPPr>
              <a:defRPr lang="en-US"/>
            </a:defPPr>
            <a:lvl1pPr algn="ctr">
              <a:spcBef>
                <a:spcPts val="0"/>
              </a:spcBef>
              <a:buClrTx/>
              <a:buSzTx/>
              <a:buFont typeface="Monotype Sorts" pitchFamily="2" charset="2"/>
              <a:buNone/>
              <a:defRPr>
                <a:solidFill>
                  <a:srgbClr val="13548C"/>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NO</a:t>
            </a:r>
          </a:p>
        </p:txBody>
      </p:sp>
      <p:sp>
        <p:nvSpPr>
          <p:cNvPr id="43" name="Text Box 22">
            <a:extLst>
              <a:ext uri="{FF2B5EF4-FFF2-40B4-BE49-F238E27FC236}">
                <a16:creationId xmlns:a16="http://schemas.microsoft.com/office/drawing/2014/main" id="{5766FC70-CB85-8CCB-000E-CF883DCA3A00}"/>
              </a:ext>
            </a:extLst>
          </p:cNvPr>
          <p:cNvSpPr txBox="1">
            <a:spLocks noChangeArrowheads="1"/>
          </p:cNvSpPr>
          <p:nvPr/>
        </p:nvSpPr>
        <p:spPr bwMode="auto">
          <a:xfrm>
            <a:off x="5570815" y="4846559"/>
            <a:ext cx="720000" cy="349200"/>
          </a:xfrm>
          <a:prstGeom prst="roundRect">
            <a:avLst/>
          </a:prstGeom>
          <a:solidFill>
            <a:schemeClr val="bg1">
              <a:lumMod val="95000"/>
            </a:schemeClr>
          </a:solidFill>
          <a:ln w="12700">
            <a:solidFill>
              <a:srgbClr val="13548C"/>
            </a:solidFill>
            <a:round/>
            <a:headEnd/>
            <a:tailEnd/>
          </a:ln>
          <a:effectLst/>
        </p:spPr>
        <p:txBody>
          <a:bodyPr wrap="none" anchor="ctr"/>
          <a:lstStyle>
            <a:defPPr>
              <a:defRPr lang="en-US"/>
            </a:defPPr>
            <a:lvl1pPr algn="ctr">
              <a:spcBef>
                <a:spcPts val="0"/>
              </a:spcBef>
              <a:buClrTx/>
              <a:buSzTx/>
              <a:buFont typeface="Monotype Sorts" pitchFamily="2" charset="2"/>
              <a:buNone/>
              <a:defRPr>
                <a:solidFill>
                  <a:srgbClr val="13548C"/>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NO</a:t>
            </a:r>
          </a:p>
        </p:txBody>
      </p:sp>
      <p:sp>
        <p:nvSpPr>
          <p:cNvPr id="44" name="Text Box 24">
            <a:extLst>
              <a:ext uri="{FF2B5EF4-FFF2-40B4-BE49-F238E27FC236}">
                <a16:creationId xmlns:a16="http://schemas.microsoft.com/office/drawing/2014/main" id="{4E1A456C-FD7C-4B46-2904-6E4F67682D3F}"/>
              </a:ext>
            </a:extLst>
          </p:cNvPr>
          <p:cNvSpPr txBox="1">
            <a:spLocks noChangeArrowheads="1"/>
          </p:cNvSpPr>
          <p:nvPr/>
        </p:nvSpPr>
        <p:spPr bwMode="auto">
          <a:xfrm>
            <a:off x="6772122" y="5657732"/>
            <a:ext cx="720000" cy="349200"/>
          </a:xfrm>
          <a:prstGeom prst="roundRect">
            <a:avLst/>
          </a:prstGeom>
          <a:solidFill>
            <a:schemeClr val="bg1">
              <a:lumMod val="95000"/>
            </a:schemeClr>
          </a:solidFill>
          <a:ln w="12700">
            <a:solidFill>
              <a:srgbClr val="13548C"/>
            </a:solidFill>
            <a:round/>
            <a:headEnd/>
            <a:tailEnd/>
          </a:ln>
          <a:effectLst/>
        </p:spPr>
        <p:txBody>
          <a:bodyPr wrap="none" anchor="ctr"/>
          <a:lstStyle>
            <a:defPPr>
              <a:defRPr lang="en-US"/>
            </a:defPPr>
            <a:lvl1pPr algn="ctr">
              <a:spcBef>
                <a:spcPts val="0"/>
              </a:spcBef>
              <a:buClrTx/>
              <a:buSzTx/>
              <a:buFont typeface="Monotype Sorts" pitchFamily="2" charset="2"/>
              <a:buNone/>
              <a:defRPr>
                <a:solidFill>
                  <a:srgbClr val="13548C"/>
                </a:solidFill>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NO</a:t>
            </a:r>
          </a:p>
        </p:txBody>
      </p:sp>
      <p:sp>
        <p:nvSpPr>
          <p:cNvPr id="45" name="Text Box 25">
            <a:extLst>
              <a:ext uri="{FF2B5EF4-FFF2-40B4-BE49-F238E27FC236}">
                <a16:creationId xmlns:a16="http://schemas.microsoft.com/office/drawing/2014/main" id="{89A46509-400A-D0EA-DE28-CE4D823191E1}"/>
              </a:ext>
            </a:extLst>
          </p:cNvPr>
          <p:cNvSpPr txBox="1">
            <a:spLocks noChangeArrowheads="1"/>
          </p:cNvSpPr>
          <p:nvPr/>
        </p:nvSpPr>
        <p:spPr bwMode="auto">
          <a:xfrm>
            <a:off x="6828795" y="5141745"/>
            <a:ext cx="483145"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Text Box 26">
            <a:extLst>
              <a:ext uri="{FF2B5EF4-FFF2-40B4-BE49-F238E27FC236}">
                <a16:creationId xmlns:a16="http://schemas.microsoft.com/office/drawing/2014/main" id="{F6DE8C7C-1227-32F1-C6D8-D6B07975D643}"/>
              </a:ext>
            </a:extLst>
          </p:cNvPr>
          <p:cNvSpPr txBox="1">
            <a:spLocks noChangeArrowheads="1"/>
          </p:cNvSpPr>
          <p:nvPr/>
        </p:nvSpPr>
        <p:spPr bwMode="auto">
          <a:xfrm>
            <a:off x="8531140" y="5065545"/>
            <a:ext cx="4429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27">
            <a:extLst>
              <a:ext uri="{FF2B5EF4-FFF2-40B4-BE49-F238E27FC236}">
                <a16:creationId xmlns:a16="http://schemas.microsoft.com/office/drawing/2014/main" id="{1451739B-33EB-E9E6-4A99-589D402545D4}"/>
              </a:ext>
            </a:extLst>
          </p:cNvPr>
          <p:cNvSpPr txBox="1">
            <a:spLocks noChangeArrowheads="1"/>
          </p:cNvSpPr>
          <p:nvPr/>
        </p:nvSpPr>
        <p:spPr bwMode="auto">
          <a:xfrm>
            <a:off x="5406940" y="4303545"/>
            <a:ext cx="9302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Married</a:t>
            </a:r>
            <a:r>
              <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rPr>
              <a:t> </a:t>
            </a:r>
          </a:p>
        </p:txBody>
      </p:sp>
      <p:sp>
        <p:nvSpPr>
          <p:cNvPr id="48" name="Text Box 28">
            <a:extLst>
              <a:ext uri="{FF2B5EF4-FFF2-40B4-BE49-F238E27FC236}">
                <a16:creationId xmlns:a16="http://schemas.microsoft.com/office/drawing/2014/main" id="{4E61D1D0-C9DA-C477-F576-78716F209D6C}"/>
              </a:ext>
            </a:extLst>
          </p:cNvPr>
          <p:cNvSpPr txBox="1">
            <a:spLocks noChangeArrowheads="1"/>
          </p:cNvSpPr>
          <p:nvPr/>
        </p:nvSpPr>
        <p:spPr bwMode="auto">
          <a:xfrm>
            <a:off x="7066761" y="4074945"/>
            <a:ext cx="13985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dirty="0">
                <a:latin typeface="Times New Roman" panose="02020603050405020304" pitchFamily="18" charset="0"/>
                <a:ea typeface="微软雅黑" panose="020B0503020204020204" pitchFamily="34" charset="-122"/>
                <a:sym typeface="Times New Roman" panose="02020603050405020304" pitchFamily="18" charset="0"/>
              </a:rPr>
              <a:t>Single, Divorced</a:t>
            </a:r>
            <a:endParaRPr lang="en-US" altLang="zh-CN" sz="1600" b="0" dirty="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Text Box 29">
            <a:extLst>
              <a:ext uri="{FF2B5EF4-FFF2-40B4-BE49-F238E27FC236}">
                <a16:creationId xmlns:a16="http://schemas.microsoft.com/office/drawing/2014/main" id="{50FDAA67-8553-40B7-2D5B-2CBD38E679F3}"/>
              </a:ext>
            </a:extLst>
          </p:cNvPr>
          <p:cNvSpPr txBox="1">
            <a:spLocks noChangeArrowheads="1"/>
          </p:cNvSpPr>
          <p:nvPr/>
        </p:nvSpPr>
        <p:spPr bwMode="auto">
          <a:xfrm>
            <a:off x="7613565" y="5929145"/>
            <a:ext cx="7207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Text Box 30">
            <a:extLst>
              <a:ext uri="{FF2B5EF4-FFF2-40B4-BE49-F238E27FC236}">
                <a16:creationId xmlns:a16="http://schemas.microsoft.com/office/drawing/2014/main" id="{51AF4EEB-7249-7628-FA30-4EE39324C3D4}"/>
              </a:ext>
            </a:extLst>
          </p:cNvPr>
          <p:cNvSpPr txBox="1">
            <a:spLocks noChangeArrowheads="1"/>
          </p:cNvSpPr>
          <p:nvPr/>
        </p:nvSpPr>
        <p:spPr bwMode="auto">
          <a:xfrm>
            <a:off x="9388390" y="5929145"/>
            <a:ext cx="7207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r">
              <a:spcBef>
                <a:spcPct val="2000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矩形 50">
            <a:extLst>
              <a:ext uri="{FF2B5EF4-FFF2-40B4-BE49-F238E27FC236}">
                <a16:creationId xmlns:a16="http://schemas.microsoft.com/office/drawing/2014/main" id="{D316A49B-7663-CF00-E2FE-67510DD4FA67}"/>
              </a:ext>
            </a:extLst>
          </p:cNvPr>
          <p:cNvSpPr/>
          <p:nvPr/>
        </p:nvSpPr>
        <p:spPr bwMode="auto">
          <a:xfrm>
            <a:off x="5458777" y="4022141"/>
            <a:ext cx="4627188" cy="2822992"/>
          </a:xfrm>
          <a:prstGeom prst="rect">
            <a:avLst/>
          </a:prstGeom>
          <a:noFill/>
          <a:ln w="12700" cap="flat" cmpd="sng" algn="ctr">
            <a:solidFill>
              <a:srgbClr val="13548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矩形 51">
            <a:extLst>
              <a:ext uri="{FF2B5EF4-FFF2-40B4-BE49-F238E27FC236}">
                <a16:creationId xmlns:a16="http://schemas.microsoft.com/office/drawing/2014/main" id="{306C4891-B7C0-6D43-E120-47BF0755D371}"/>
              </a:ext>
            </a:extLst>
          </p:cNvPr>
          <p:cNvSpPr/>
          <p:nvPr/>
        </p:nvSpPr>
        <p:spPr bwMode="auto">
          <a:xfrm>
            <a:off x="5458777" y="804378"/>
            <a:ext cx="4627188" cy="3132000"/>
          </a:xfrm>
          <a:prstGeom prst="rect">
            <a:avLst/>
          </a:prstGeom>
          <a:noFill/>
          <a:ln w="12700" cap="flat" cmpd="sng" algn="ctr">
            <a:solidFill>
              <a:srgbClr val="13548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TextBox 2">
            <a:extLst>
              <a:ext uri="{FF2B5EF4-FFF2-40B4-BE49-F238E27FC236}">
                <a16:creationId xmlns:a16="http://schemas.microsoft.com/office/drawing/2014/main" id="{8EFEA50C-4414-A476-F6F7-C747207A0B71}"/>
              </a:ext>
            </a:extLst>
          </p:cNvPr>
          <p:cNvSpPr txBox="1"/>
          <p:nvPr/>
        </p:nvSpPr>
        <p:spPr>
          <a:xfrm>
            <a:off x="515739" y="5849245"/>
            <a:ext cx="4917119" cy="707886"/>
          </a:xfrm>
          <a:prstGeom prst="rect">
            <a:avLst/>
          </a:prstGeom>
          <a:noFill/>
        </p:spPr>
        <p:txBody>
          <a:bodyPr wrap="square" rtlCol="0">
            <a:spAutoFit/>
          </a:bodyPr>
          <a:lstStyle/>
          <a:p>
            <a:r>
              <a:rPr lang="zh-CN" altLang="en-US" sz="2000" b="0" dirty="0">
                <a:latin typeface="Times New Roman" panose="02020603050405020304" pitchFamily="18" charset="0"/>
                <a:ea typeface="微软雅黑" panose="020B0503020204020204" pitchFamily="34" charset="-122"/>
                <a:sym typeface="Times New Roman" panose="02020603050405020304" pitchFamily="18" charset="0"/>
              </a:rPr>
              <a:t>两棵决策树的属性划分顺序不一样</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a:p>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到底构造哪课决策树分类效果最好呢？</a:t>
            </a:r>
          </a:p>
        </p:txBody>
      </p:sp>
    </p:spTree>
    <p:extLst>
      <p:ext uri="{BB962C8B-B14F-4D97-AF65-F5344CB8AC3E}">
        <p14:creationId xmlns:p14="http://schemas.microsoft.com/office/powerpoint/2010/main" val="200163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BF35BA-007B-1007-2624-1489FDD50A92}"/>
              </a:ext>
            </a:extLst>
          </p:cNvPr>
          <p:cNvSpPr>
            <a:spLocks noGrp="1"/>
          </p:cNvSpPr>
          <p:nvPr>
            <p:ph type="title"/>
          </p:nvPr>
        </p:nvSpPr>
        <p:spPr/>
        <p:txBody>
          <a:bodyPr>
            <a:normAutofit fontScale="90000"/>
          </a:bodyPr>
          <a:lstStyle/>
          <a:p>
            <a:r>
              <a:rPr kumimoji="1" lang="zh-CN" altLang="en-US" dirty="0"/>
              <a:t>决策树构建方法</a:t>
            </a:r>
          </a:p>
        </p:txBody>
      </p:sp>
      <p:sp>
        <p:nvSpPr>
          <p:cNvPr id="3" name="Rectangle 3">
            <a:extLst>
              <a:ext uri="{FF2B5EF4-FFF2-40B4-BE49-F238E27FC236}">
                <a16:creationId xmlns:a16="http://schemas.microsoft.com/office/drawing/2014/main" id="{E3114718-E546-9762-2304-155EB4D07F14}"/>
              </a:ext>
            </a:extLst>
          </p:cNvPr>
          <p:cNvSpPr txBox="1">
            <a:spLocks noChangeArrowheads="1"/>
          </p:cNvSpPr>
          <p:nvPr/>
        </p:nvSpPr>
        <p:spPr>
          <a:xfrm>
            <a:off x="1092259" y="1522119"/>
            <a:ext cx="8318500" cy="3104632"/>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有许多决策树算法：</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Hunt</a:t>
            </a:r>
            <a:r>
              <a:rPr lang="zh-CN" altLang="en-US"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信息增益</a:t>
            </a:r>
            <a:r>
              <a:rPr lang="en-US" altLang="zh-CN"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——Information gain </a:t>
            </a: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mn-ea"/>
                <a:sym typeface="Times New Roman" panose="02020603050405020304" pitchFamily="18" charset="0"/>
              </a:rPr>
              <a:t>ID3</a:t>
            </a: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增益比率</a:t>
            </a:r>
            <a:r>
              <a:rPr lang="en-US" altLang="zh-CN"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——Gain ration</a:t>
            </a: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mn-ea"/>
                <a:sym typeface="Times New Roman" panose="02020603050405020304" pitchFamily="18" charset="0"/>
              </a:rPr>
              <a:t>C4.5</a:t>
            </a: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CART</a:t>
            </a:r>
            <a:r>
              <a:rPr lang="zh-CN" altLang="en-US"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lang="en-US" altLang="zh-CN"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622283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0CDDB2-C7F7-D5E7-E2FA-8387473A89B9}"/>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12BACC8B-C5DA-4E16-6562-B7635C7C757F}"/>
              </a:ext>
            </a:extLst>
          </p:cNvPr>
          <p:cNvGraphicFramePr>
            <a:graphicFrameLocks/>
          </p:cNvGraphicFramePr>
          <p:nvPr>
            <p:extLst>
              <p:ext uri="{D42A27DB-BD31-4B8C-83A1-F6EECF244321}">
                <p14:modId xmlns:p14="http://schemas.microsoft.com/office/powerpoint/2010/main" val="2540577630"/>
              </p:ext>
            </p:extLst>
          </p:nvPr>
        </p:nvGraphicFramePr>
        <p:xfrm>
          <a:off x="6886873" y="1070919"/>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4" name="Oval 11">
            <a:extLst>
              <a:ext uri="{FF2B5EF4-FFF2-40B4-BE49-F238E27FC236}">
                <a16:creationId xmlns:a16="http://schemas.microsoft.com/office/drawing/2014/main" id="{8D246774-5A6D-54B1-3048-7B72AF95EF58}"/>
              </a:ext>
            </a:extLst>
          </p:cNvPr>
          <p:cNvSpPr>
            <a:spLocks noChangeArrowheads="1"/>
          </p:cNvSpPr>
          <p:nvPr/>
        </p:nvSpPr>
        <p:spPr bwMode="auto">
          <a:xfrm>
            <a:off x="7913934" y="5147619"/>
            <a:ext cx="1447800" cy="762000"/>
          </a:xfrm>
          <a:prstGeom prst="ellipse">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3200">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5" name="Line 12">
            <a:extLst>
              <a:ext uri="{FF2B5EF4-FFF2-40B4-BE49-F238E27FC236}">
                <a16:creationId xmlns:a16="http://schemas.microsoft.com/office/drawing/2014/main" id="{662295AA-B624-64D5-D186-D7C911F4487A}"/>
              </a:ext>
            </a:extLst>
          </p:cNvPr>
          <p:cNvSpPr>
            <a:spLocks noChangeShapeType="1"/>
          </p:cNvSpPr>
          <p:nvPr/>
        </p:nvSpPr>
        <p:spPr bwMode="auto">
          <a:xfrm flipH="1">
            <a:off x="7494835" y="5909619"/>
            <a:ext cx="9906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Line 13">
            <a:extLst>
              <a:ext uri="{FF2B5EF4-FFF2-40B4-BE49-F238E27FC236}">
                <a16:creationId xmlns:a16="http://schemas.microsoft.com/office/drawing/2014/main" id="{557BC7FD-7CFD-A94B-7CB3-12FE628D1FE7}"/>
              </a:ext>
            </a:extLst>
          </p:cNvPr>
          <p:cNvSpPr>
            <a:spLocks noChangeShapeType="1"/>
          </p:cNvSpPr>
          <p:nvPr/>
        </p:nvSpPr>
        <p:spPr bwMode="auto">
          <a:xfrm>
            <a:off x="8637834" y="5909619"/>
            <a:ext cx="0" cy="533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Line 14">
            <a:extLst>
              <a:ext uri="{FF2B5EF4-FFF2-40B4-BE49-F238E27FC236}">
                <a16:creationId xmlns:a16="http://schemas.microsoft.com/office/drawing/2014/main" id="{15480F3D-C182-40D5-348B-7E4E97A5CC23}"/>
              </a:ext>
            </a:extLst>
          </p:cNvPr>
          <p:cNvSpPr>
            <a:spLocks noChangeShapeType="1"/>
          </p:cNvSpPr>
          <p:nvPr/>
        </p:nvSpPr>
        <p:spPr bwMode="auto">
          <a:xfrm>
            <a:off x="8790235" y="5909619"/>
            <a:ext cx="9906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Line 15">
            <a:extLst>
              <a:ext uri="{FF2B5EF4-FFF2-40B4-BE49-F238E27FC236}">
                <a16:creationId xmlns:a16="http://schemas.microsoft.com/office/drawing/2014/main" id="{8D3DAE5B-CA18-FFAA-33FF-D9A5273222D6}"/>
              </a:ext>
            </a:extLst>
          </p:cNvPr>
          <p:cNvSpPr>
            <a:spLocks noChangeShapeType="1"/>
          </p:cNvSpPr>
          <p:nvPr/>
        </p:nvSpPr>
        <p:spPr bwMode="auto">
          <a:xfrm>
            <a:off x="8637834" y="4773560"/>
            <a:ext cx="0" cy="38945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Rectangle 3">
            <a:extLst>
              <a:ext uri="{FF2B5EF4-FFF2-40B4-BE49-F238E27FC236}">
                <a16:creationId xmlns:a16="http://schemas.microsoft.com/office/drawing/2014/main" id="{F57CC3EF-25CE-60C5-DC67-3D8AFD327B2D}"/>
              </a:ext>
            </a:extLst>
          </p:cNvPr>
          <p:cNvSpPr txBox="1">
            <a:spLocks noChangeArrowheads="1"/>
          </p:cNvSpPr>
          <p:nvPr/>
        </p:nvSpPr>
        <p:spPr>
          <a:xfrm>
            <a:off x="703828" y="1070919"/>
            <a:ext cx="5973496" cy="5571525"/>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40000"/>
              </a:lnSpc>
              <a:spcBef>
                <a:spcPts val="600"/>
              </a:spcBef>
              <a:buClr>
                <a:srgbClr val="FF6600"/>
              </a:buClr>
              <a:buSzPct val="80000"/>
              <a:buNone/>
            </a:pP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设</a:t>
            </a:r>
            <a:r>
              <a:rPr lang="en-US" altLang="zh-CN" sz="2400" b="0" i="1"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400" b="0" i="1"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是与节点</a:t>
            </a:r>
            <a:r>
              <a:rPr lang="en-US" altLang="zh-CN" sz="2400" b="0" i="1"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相关联的训练记录集，算法步骤：</a:t>
            </a:r>
            <a:endParaRPr lang="en-US" altLang="zh-CN" sz="24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a:lnSpc>
                <a:spcPct val="140000"/>
              </a:lnSpc>
              <a:spcBef>
                <a:spcPts val="600"/>
              </a:spcBef>
              <a:buClr>
                <a:srgbClr val="FF6600"/>
              </a:buClr>
              <a:buSzPct val="80000"/>
              <a:buFont typeface="Wingdings" panose="05000000000000000000" pitchFamily="2" charset="2"/>
              <a:buChar char="l"/>
            </a:pP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如果</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200" b="0" i="1"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中所有记录都属于同一个类</a:t>
            </a:r>
            <a:r>
              <a:rPr lang="en-US" altLang="zh-CN" sz="2200" b="0" i="1" dirty="0" err="1">
                <a:latin typeface="Times New Roman" panose="02020603050405020304" pitchFamily="18" charset="0"/>
                <a:ea typeface="微软雅黑" panose="020B0503020204020204" pitchFamily="34" charset="-122"/>
                <a:cs typeface="+mn-ea"/>
                <a:sym typeface="Times New Roman" panose="02020603050405020304" pitchFamily="18" charset="0"/>
              </a:rPr>
              <a:t>y</a:t>
            </a:r>
            <a:r>
              <a:rPr lang="en-US" altLang="zh-CN" sz="2200" b="0" i="1" baseline="-25000" dirty="0" err="1">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，则</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是叶节点，用</a:t>
            </a:r>
            <a:r>
              <a:rPr lang="en-US" altLang="zh-CN" sz="2200" b="0" i="1" dirty="0" err="1">
                <a:latin typeface="Times New Roman" panose="02020603050405020304" pitchFamily="18" charset="0"/>
                <a:ea typeface="微软雅黑" panose="020B0503020204020204" pitchFamily="34" charset="-122"/>
                <a:cs typeface="+mn-ea"/>
                <a:sym typeface="Times New Roman" panose="02020603050405020304" pitchFamily="18" charset="0"/>
              </a:rPr>
              <a:t>y</a:t>
            </a:r>
            <a:r>
              <a:rPr lang="en-US" altLang="zh-CN" sz="2200" b="0" i="1" baseline="-25000" dirty="0" err="1">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标记</a:t>
            </a:r>
            <a:endPar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a:lnSpc>
                <a:spcPct val="140000"/>
              </a:lnSpc>
              <a:spcBef>
                <a:spcPts val="600"/>
              </a:spcBef>
              <a:buClr>
                <a:srgbClr val="FF6600"/>
              </a:buClr>
              <a:buSzPct val="80000"/>
              <a:buFont typeface="Wingdings" panose="05000000000000000000" pitchFamily="2" charset="2"/>
              <a:buChar char="l"/>
            </a:pP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如果</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200" b="0" i="1"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中包含属于多个类的记录，则</a:t>
            </a:r>
            <a:r>
              <a:rPr lang="zh-CN" altLang="en-US" sz="2200"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选择一个属性测试条件</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，将记录划分成较小的子集</a:t>
            </a:r>
            <a:endPar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a:lnSpc>
                <a:spcPct val="140000"/>
              </a:lnSpc>
              <a:spcBef>
                <a:spcPts val="600"/>
              </a:spcBef>
              <a:buClr>
                <a:srgbClr val="FF6600"/>
              </a:buClr>
              <a:buSzPct val="80000"/>
              <a:buFont typeface="Wingdings" panose="05000000000000000000" pitchFamily="2" charset="2"/>
              <a:buChar char="l"/>
            </a:pP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对于测试条件的每个输出，创建一个子结点，并根据测试结果将</a:t>
            </a:r>
            <a:r>
              <a:rPr lang="en-US" altLang="zh-CN" sz="2200" b="0" i="1" dirty="0">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200" b="0" i="1" baseline="-2500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中的记录分布到子结点中。然后，对于每个子结点，递归地调用该算法</a:t>
            </a:r>
            <a:endPar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a:extLst>
              <a:ext uri="{FF2B5EF4-FFF2-40B4-BE49-F238E27FC236}">
                <a16:creationId xmlns:a16="http://schemas.microsoft.com/office/drawing/2014/main" id="{E0967C4E-4BF2-A2F8-E4B9-D461EFC5D6F7}"/>
              </a:ext>
            </a:extLst>
          </p:cNvPr>
          <p:cNvSpPr/>
          <p:nvPr/>
        </p:nvSpPr>
        <p:spPr>
          <a:xfrm>
            <a:off x="3915814" y="5158893"/>
            <a:ext cx="2004600" cy="381000"/>
          </a:xfrm>
          <a:prstGeom prst="rect">
            <a:avLst/>
          </a:prstGeom>
          <a:solidFill>
            <a:srgbClr val="FF66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B03E07D4-198C-FC6E-6C1A-3B15520CA3D9}"/>
              </a:ext>
            </a:extLst>
          </p:cNvPr>
          <p:cNvSpPr/>
          <p:nvPr/>
        </p:nvSpPr>
        <p:spPr>
          <a:xfrm>
            <a:off x="1922683" y="5632622"/>
            <a:ext cx="3420000" cy="381000"/>
          </a:xfrm>
          <a:prstGeom prst="rect">
            <a:avLst/>
          </a:prstGeom>
          <a:solidFill>
            <a:srgbClr val="FF66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2428B29-9F49-D1DD-39C9-59BCA9713371}"/>
              </a:ext>
            </a:extLst>
          </p:cNvPr>
          <p:cNvSpPr/>
          <p:nvPr/>
        </p:nvSpPr>
        <p:spPr>
          <a:xfrm>
            <a:off x="8398391" y="4327288"/>
            <a:ext cx="478886" cy="461665"/>
          </a:xfrm>
          <a:prstGeom prst="rect">
            <a:avLst/>
          </a:prstGeom>
        </p:spPr>
        <p:txBody>
          <a:bodyPr wrap="square">
            <a:spAutoFit/>
          </a:bodyPr>
          <a:lstStyle/>
          <a:p>
            <a:r>
              <a:rPr lang="en-US" altLang="zh-CN" sz="2400" b="0" i="1">
                <a:latin typeface="Times New Roman" panose="02020603050405020304" pitchFamily="18" charset="0"/>
                <a:ea typeface="微软雅黑" panose="020B0503020204020204" pitchFamily="34" charset="-122"/>
                <a:cs typeface="+mn-ea"/>
                <a:sym typeface="Times New Roman" panose="02020603050405020304" pitchFamily="18" charset="0"/>
              </a:rPr>
              <a:t>D</a:t>
            </a:r>
            <a:r>
              <a:rPr lang="en-US" altLang="zh-CN" sz="2400" b="0" i="1" baseline="-25000">
                <a:latin typeface="Times New Roman" panose="02020603050405020304" pitchFamily="18" charset="0"/>
                <a:ea typeface="微软雅黑" panose="020B0503020204020204" pitchFamily="34" charset="-122"/>
                <a:cs typeface="+mn-ea"/>
                <a:sym typeface="Times New Roman" panose="02020603050405020304" pitchFamily="18" charset="0"/>
              </a:rPr>
              <a:t>t</a:t>
            </a:r>
            <a:endParaRPr lang="zh-CN" altLang="en-US" sz="2400"/>
          </a:p>
        </p:txBody>
      </p:sp>
    </p:spTree>
    <p:extLst>
      <p:ext uri="{BB962C8B-B14F-4D97-AF65-F5344CB8AC3E}">
        <p14:creationId xmlns:p14="http://schemas.microsoft.com/office/powerpoint/2010/main" val="3131776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137FB-2C50-4FC8-8290-8D45E01D3E54}"/>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FCA779FA-113B-05F9-7576-60C949CFD085}"/>
              </a:ext>
            </a:extLst>
          </p:cNvPr>
          <p:cNvGraphicFramePr>
            <a:graphicFrameLocks/>
          </p:cNvGraphicFramePr>
          <p:nvPr>
            <p:extLst>
              <p:ext uri="{D42A27DB-BD31-4B8C-83A1-F6EECF244321}">
                <p14:modId xmlns:p14="http://schemas.microsoft.com/office/powerpoint/2010/main" val="3365736650"/>
              </p:ext>
            </p:extLst>
          </p:nvPr>
        </p:nvGraphicFramePr>
        <p:xfrm>
          <a:off x="6788021" y="762000"/>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E11A0D8D-1AD6-B1C4-432F-F6AFCEA6F659}"/>
              </a:ext>
            </a:extLst>
          </p:cNvPr>
          <p:cNvPicPr>
            <a:picLocks noChangeAspect="1"/>
          </p:cNvPicPr>
          <p:nvPr/>
        </p:nvPicPr>
        <p:blipFill>
          <a:blip r:embed="rId3"/>
          <a:stretch>
            <a:fillRect/>
          </a:stretch>
        </p:blipFill>
        <p:spPr>
          <a:xfrm>
            <a:off x="7334938" y="3692893"/>
            <a:ext cx="2824644" cy="3179705"/>
          </a:xfrm>
          <a:prstGeom prst="rect">
            <a:avLst/>
          </a:prstGeom>
        </p:spPr>
      </p:pic>
      <p:sp>
        <p:nvSpPr>
          <p:cNvPr id="5" name="Rectangle 3">
            <a:extLst>
              <a:ext uri="{FF2B5EF4-FFF2-40B4-BE49-F238E27FC236}">
                <a16:creationId xmlns:a16="http://schemas.microsoft.com/office/drawing/2014/main" id="{D76405D0-5A99-43E5-A94D-620562AF3EE5}"/>
              </a:ext>
            </a:extLst>
          </p:cNvPr>
          <p:cNvSpPr>
            <a:spLocks noChangeArrowheads="1"/>
          </p:cNvSpPr>
          <p:nvPr/>
        </p:nvSpPr>
        <p:spPr bwMode="auto">
          <a:xfrm>
            <a:off x="1341333" y="1505639"/>
            <a:ext cx="576000" cy="475200"/>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4">
            <a:extLst>
              <a:ext uri="{FF2B5EF4-FFF2-40B4-BE49-F238E27FC236}">
                <a16:creationId xmlns:a16="http://schemas.microsoft.com/office/drawing/2014/main" id="{997AC249-9313-19B9-05C5-1635737AA671}"/>
              </a:ext>
            </a:extLst>
          </p:cNvPr>
          <p:cNvGrpSpPr>
            <a:grpSpLocks/>
          </p:cNvGrpSpPr>
          <p:nvPr/>
        </p:nvGrpSpPr>
        <p:grpSpPr bwMode="auto">
          <a:xfrm>
            <a:off x="2027133" y="1200839"/>
            <a:ext cx="2168525" cy="1262063"/>
            <a:chOff x="624" y="720"/>
            <a:chExt cx="1366" cy="795"/>
          </a:xfrm>
        </p:grpSpPr>
        <p:grpSp>
          <p:nvGrpSpPr>
            <p:cNvPr id="7" name="Group 5">
              <a:extLst>
                <a:ext uri="{FF2B5EF4-FFF2-40B4-BE49-F238E27FC236}">
                  <a16:creationId xmlns:a16="http://schemas.microsoft.com/office/drawing/2014/main" id="{C54D7CBD-A872-1C50-C466-1D2FF9DBA99B}"/>
                </a:ext>
              </a:extLst>
            </p:cNvPr>
            <p:cNvGrpSpPr>
              <a:grpSpLocks/>
            </p:cNvGrpSpPr>
            <p:nvPr/>
          </p:nvGrpSpPr>
          <p:grpSpPr bwMode="auto">
            <a:xfrm>
              <a:off x="864" y="720"/>
              <a:ext cx="1126" cy="795"/>
              <a:chOff x="480" y="2640"/>
              <a:chExt cx="1126" cy="795"/>
            </a:xfrm>
          </p:grpSpPr>
          <p:sp>
            <p:nvSpPr>
              <p:cNvPr id="9" name="Oval 6">
                <a:extLst>
                  <a:ext uri="{FF2B5EF4-FFF2-40B4-BE49-F238E27FC236}">
                    <a16:creationId xmlns:a16="http://schemas.microsoft.com/office/drawing/2014/main" id="{46F68108-342E-FE61-BC03-4472C90C3DB8}"/>
                  </a:ext>
                </a:extLst>
              </p:cNvPr>
              <p:cNvSpPr>
                <a:spLocks noChangeArrowheads="1"/>
              </p:cNvSpPr>
              <p:nvPr/>
            </p:nvSpPr>
            <p:spPr bwMode="auto">
              <a:xfrm>
                <a:off x="807" y="2640"/>
                <a:ext cx="436" cy="272"/>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Refund</a:t>
                </a:r>
              </a:p>
            </p:txBody>
          </p:sp>
          <p:sp>
            <p:nvSpPr>
              <p:cNvPr id="10" name="Line 7">
                <a:extLst>
                  <a:ext uri="{FF2B5EF4-FFF2-40B4-BE49-F238E27FC236}">
                    <a16:creationId xmlns:a16="http://schemas.microsoft.com/office/drawing/2014/main" id="{119E38DB-9E9A-E46F-5A22-AE3CABD92A22}"/>
                  </a:ext>
                </a:extLst>
              </p:cNvPr>
              <p:cNvSpPr>
                <a:spLocks noChangeShapeType="1"/>
              </p:cNvSpPr>
              <p:nvPr/>
            </p:nvSpPr>
            <p:spPr bwMode="auto">
              <a:xfrm flipH="1">
                <a:off x="661" y="2912"/>
                <a:ext cx="364"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8">
                <a:extLst>
                  <a:ext uri="{FF2B5EF4-FFF2-40B4-BE49-F238E27FC236}">
                    <a16:creationId xmlns:a16="http://schemas.microsoft.com/office/drawing/2014/main" id="{0E60BF32-DB3F-1041-9C0B-8F7117D42B88}"/>
                  </a:ext>
                </a:extLst>
              </p:cNvPr>
              <p:cNvSpPr>
                <a:spLocks noChangeShapeType="1"/>
              </p:cNvSpPr>
              <p:nvPr/>
            </p:nvSpPr>
            <p:spPr bwMode="auto">
              <a:xfrm>
                <a:off x="1025" y="2912"/>
                <a:ext cx="363"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Rectangle 9">
                <a:extLst>
                  <a:ext uri="{FF2B5EF4-FFF2-40B4-BE49-F238E27FC236}">
                    <a16:creationId xmlns:a16="http://schemas.microsoft.com/office/drawing/2014/main" id="{A48197F2-1AAD-77BB-FA8C-4182A0C7128A}"/>
                  </a:ext>
                </a:extLst>
              </p:cNvPr>
              <p:cNvSpPr>
                <a:spLocks noChangeArrowheads="1"/>
              </p:cNvSpPr>
              <p:nvPr/>
            </p:nvSpPr>
            <p:spPr bwMode="auto">
              <a:xfrm>
                <a:off x="480" y="3136"/>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10">
                <a:extLst>
                  <a:ext uri="{FF2B5EF4-FFF2-40B4-BE49-F238E27FC236}">
                    <a16:creationId xmlns:a16="http://schemas.microsoft.com/office/drawing/2014/main" id="{D81CF3E0-3489-F24D-06F0-9539BB1D5866}"/>
                  </a:ext>
                </a:extLst>
              </p:cNvPr>
              <p:cNvSpPr>
                <a:spLocks noChangeArrowheads="1"/>
              </p:cNvSpPr>
              <p:nvPr/>
            </p:nvSpPr>
            <p:spPr bwMode="auto">
              <a:xfrm>
                <a:off x="1243" y="3136"/>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1">
                <a:extLst>
                  <a:ext uri="{FF2B5EF4-FFF2-40B4-BE49-F238E27FC236}">
                    <a16:creationId xmlns:a16="http://schemas.microsoft.com/office/drawing/2014/main" id="{6E0C0424-2596-4E6B-01D8-17324713BC3A}"/>
                  </a:ext>
                </a:extLst>
              </p:cNvPr>
              <p:cNvSpPr txBox="1">
                <a:spLocks noChangeArrowheads="1"/>
              </p:cNvSpPr>
              <p:nvPr/>
            </p:nvSpPr>
            <p:spPr bwMode="auto">
              <a:xfrm>
                <a:off x="585" y="2868"/>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2">
                <a:extLst>
                  <a:ext uri="{FF2B5EF4-FFF2-40B4-BE49-F238E27FC236}">
                    <a16:creationId xmlns:a16="http://schemas.microsoft.com/office/drawing/2014/main" id="{CBBE4C92-FA89-9DA0-ECB0-97F849DE959B}"/>
                  </a:ext>
                </a:extLst>
              </p:cNvPr>
              <p:cNvSpPr txBox="1">
                <a:spLocks noChangeArrowheads="1"/>
              </p:cNvSpPr>
              <p:nvPr/>
            </p:nvSpPr>
            <p:spPr bwMode="auto">
              <a:xfrm>
                <a:off x="1265" y="2868"/>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Line 13">
              <a:extLst>
                <a:ext uri="{FF2B5EF4-FFF2-40B4-BE49-F238E27FC236}">
                  <a16:creationId xmlns:a16="http://schemas.microsoft.com/office/drawing/2014/main" id="{6A92B4CC-1FF2-FC24-B284-E67F16EE12A3}"/>
                </a:ext>
              </a:extLst>
            </p:cNvPr>
            <p:cNvSpPr>
              <a:spLocks noChangeShapeType="1"/>
            </p:cNvSpPr>
            <p:nvPr/>
          </p:nvSpPr>
          <p:spPr bwMode="auto">
            <a:xfrm flipV="1">
              <a:off x="624" y="1056"/>
              <a:ext cx="240" cy="0"/>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 name="Group 14">
            <a:extLst>
              <a:ext uri="{FF2B5EF4-FFF2-40B4-BE49-F238E27FC236}">
                <a16:creationId xmlns:a16="http://schemas.microsoft.com/office/drawing/2014/main" id="{0F5BD5E0-4ECB-3C31-A280-757FDB55BDB3}"/>
              </a:ext>
            </a:extLst>
          </p:cNvPr>
          <p:cNvGrpSpPr>
            <a:grpSpLocks/>
          </p:cNvGrpSpPr>
          <p:nvPr/>
        </p:nvGrpSpPr>
        <p:grpSpPr bwMode="auto">
          <a:xfrm>
            <a:off x="3326864" y="3164613"/>
            <a:ext cx="3328988" cy="3294063"/>
            <a:chOff x="1536" y="1920"/>
            <a:chExt cx="2097" cy="2075"/>
          </a:xfrm>
        </p:grpSpPr>
        <p:grpSp>
          <p:nvGrpSpPr>
            <p:cNvPr id="17" name="Group 15">
              <a:extLst>
                <a:ext uri="{FF2B5EF4-FFF2-40B4-BE49-F238E27FC236}">
                  <a16:creationId xmlns:a16="http://schemas.microsoft.com/office/drawing/2014/main" id="{CC6F2CFE-9C9A-FE83-79E4-EF2AF100D70C}"/>
                </a:ext>
              </a:extLst>
            </p:cNvPr>
            <p:cNvGrpSpPr>
              <a:grpSpLocks/>
            </p:cNvGrpSpPr>
            <p:nvPr/>
          </p:nvGrpSpPr>
          <p:grpSpPr bwMode="auto">
            <a:xfrm>
              <a:off x="1803" y="1920"/>
              <a:ext cx="1830" cy="2075"/>
              <a:chOff x="3819" y="1824"/>
              <a:chExt cx="1830" cy="2075"/>
            </a:xfrm>
          </p:grpSpPr>
          <p:sp>
            <p:nvSpPr>
              <p:cNvPr id="19" name="Oval 16">
                <a:extLst>
                  <a:ext uri="{FF2B5EF4-FFF2-40B4-BE49-F238E27FC236}">
                    <a16:creationId xmlns:a16="http://schemas.microsoft.com/office/drawing/2014/main" id="{127545B4-5FF4-E031-0A01-681704EA7E6C}"/>
                  </a:ext>
                </a:extLst>
              </p:cNvPr>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Line 17">
                <a:extLst>
                  <a:ext uri="{FF2B5EF4-FFF2-40B4-BE49-F238E27FC236}">
                    <a16:creationId xmlns:a16="http://schemas.microsoft.com/office/drawing/2014/main" id="{D4065114-1576-A879-695A-B902B7BF0E13}"/>
                  </a:ext>
                </a:extLst>
              </p:cNvPr>
              <p:cNvSpPr>
                <a:spLocks noChangeShapeType="1"/>
              </p:cNvSpPr>
              <p:nvPr/>
            </p:nvSpPr>
            <p:spPr bwMode="auto">
              <a:xfrm flipH="1">
                <a:off x="4166" y="2107"/>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Line 18">
                <a:extLst>
                  <a:ext uri="{FF2B5EF4-FFF2-40B4-BE49-F238E27FC236}">
                    <a16:creationId xmlns:a16="http://schemas.microsoft.com/office/drawing/2014/main" id="{481F3F88-F1B1-1EBF-71CF-D6C9B48749CC}"/>
                  </a:ext>
                </a:extLst>
              </p:cNvPr>
              <p:cNvSpPr>
                <a:spLocks noChangeShapeType="1"/>
              </p:cNvSpPr>
              <p:nvPr/>
            </p:nvSpPr>
            <p:spPr bwMode="auto">
              <a:xfrm>
                <a:off x="4530" y="2107"/>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Rectangle 19">
                <a:extLst>
                  <a:ext uri="{FF2B5EF4-FFF2-40B4-BE49-F238E27FC236}">
                    <a16:creationId xmlns:a16="http://schemas.microsoft.com/office/drawing/2014/main" id="{8DC3C774-602D-D28A-A2E8-2FD95CCC4D7E}"/>
                  </a:ext>
                </a:extLst>
              </p:cNvPr>
              <p:cNvSpPr>
                <a:spLocks noChangeArrowheads="1"/>
              </p:cNvSpPr>
              <p:nvPr/>
            </p:nvSpPr>
            <p:spPr bwMode="auto">
              <a:xfrm>
                <a:off x="3984" y="2331"/>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20">
                <a:extLst>
                  <a:ext uri="{FF2B5EF4-FFF2-40B4-BE49-F238E27FC236}">
                    <a16:creationId xmlns:a16="http://schemas.microsoft.com/office/drawing/2014/main" id="{76BDBEB9-6490-EEE8-2A5A-DDAC6C2BE1E9}"/>
                  </a:ext>
                </a:extLst>
              </p:cNvPr>
              <p:cNvSpPr txBox="1">
                <a:spLocks noChangeArrowheads="1"/>
              </p:cNvSpPr>
              <p:nvPr/>
            </p:nvSpPr>
            <p:spPr bwMode="auto">
              <a:xfrm>
                <a:off x="4089" y="2061"/>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21">
                <a:extLst>
                  <a:ext uri="{FF2B5EF4-FFF2-40B4-BE49-F238E27FC236}">
                    <a16:creationId xmlns:a16="http://schemas.microsoft.com/office/drawing/2014/main" id="{0B0B7524-D7C3-3B1B-6067-2B2A07AC1710}"/>
                  </a:ext>
                </a:extLst>
              </p:cNvPr>
              <p:cNvSpPr txBox="1">
                <a:spLocks noChangeArrowheads="1"/>
              </p:cNvSpPr>
              <p:nvPr/>
            </p:nvSpPr>
            <p:spPr bwMode="auto">
              <a:xfrm>
                <a:off x="4770" y="2061"/>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val 22">
                <a:extLst>
                  <a:ext uri="{FF2B5EF4-FFF2-40B4-BE49-F238E27FC236}">
                    <a16:creationId xmlns:a16="http://schemas.microsoft.com/office/drawing/2014/main" id="{D12E44C0-8E06-3C45-F1CF-E9847D6F93CF}"/>
                  </a:ext>
                </a:extLst>
              </p:cNvPr>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23">
                <a:extLst>
                  <a:ext uri="{FF2B5EF4-FFF2-40B4-BE49-F238E27FC236}">
                    <a16:creationId xmlns:a16="http://schemas.microsoft.com/office/drawing/2014/main" id="{25CB180A-C143-04A3-392A-AC418A89D632}"/>
                  </a:ext>
                </a:extLst>
              </p:cNvPr>
              <p:cNvSpPr>
                <a:spLocks noChangeShapeType="1"/>
              </p:cNvSpPr>
              <p:nvPr/>
            </p:nvSpPr>
            <p:spPr bwMode="auto">
              <a:xfrm flipH="1">
                <a:off x="4464" y="2704"/>
                <a:ext cx="465"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24">
                <a:extLst>
                  <a:ext uri="{FF2B5EF4-FFF2-40B4-BE49-F238E27FC236}">
                    <a16:creationId xmlns:a16="http://schemas.microsoft.com/office/drawing/2014/main" id="{2B44FE56-B006-B03E-E11D-4A93852F9D8A}"/>
                  </a:ext>
                </a:extLst>
              </p:cNvPr>
              <p:cNvSpPr>
                <a:spLocks noChangeShapeType="1"/>
              </p:cNvSpPr>
              <p:nvPr/>
            </p:nvSpPr>
            <p:spPr bwMode="auto">
              <a:xfrm>
                <a:off x="4929" y="2704"/>
                <a:ext cx="400" cy="2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25">
                <a:extLst>
                  <a:ext uri="{FF2B5EF4-FFF2-40B4-BE49-F238E27FC236}">
                    <a16:creationId xmlns:a16="http://schemas.microsoft.com/office/drawing/2014/main" id="{7B8A9DE6-E354-9E4F-4C0E-C5E772AFC603}"/>
                  </a:ext>
                </a:extLst>
              </p:cNvPr>
              <p:cNvSpPr>
                <a:spLocks noChangeArrowheads="1"/>
              </p:cNvSpPr>
              <p:nvPr/>
            </p:nvSpPr>
            <p:spPr bwMode="auto">
              <a:xfrm>
                <a:off x="5148" y="296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26">
                <a:extLst>
                  <a:ext uri="{FF2B5EF4-FFF2-40B4-BE49-F238E27FC236}">
                    <a16:creationId xmlns:a16="http://schemas.microsoft.com/office/drawing/2014/main" id="{4CD2A7E6-9342-D12A-CB2B-5BC5FACFB57B}"/>
                  </a:ext>
                </a:extLst>
              </p:cNvPr>
              <p:cNvSpPr>
                <a:spLocks noChangeArrowheads="1"/>
              </p:cNvSpPr>
              <p:nvPr/>
            </p:nvSpPr>
            <p:spPr bwMode="auto">
              <a:xfrm>
                <a:off x="4704"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27">
                <a:extLst>
                  <a:ext uri="{FF2B5EF4-FFF2-40B4-BE49-F238E27FC236}">
                    <a16:creationId xmlns:a16="http://schemas.microsoft.com/office/drawing/2014/main" id="{E37ACAB8-EB86-F786-D14F-66D6B7470733}"/>
                  </a:ext>
                </a:extLst>
              </p:cNvPr>
              <p:cNvSpPr txBox="1">
                <a:spLocks noChangeArrowheads="1"/>
              </p:cNvSpPr>
              <p:nvPr/>
            </p:nvSpPr>
            <p:spPr bwMode="auto">
              <a:xfrm>
                <a:off x="4082" y="2619"/>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28">
                <a:extLst>
                  <a:ext uri="{FF2B5EF4-FFF2-40B4-BE49-F238E27FC236}">
                    <a16:creationId xmlns:a16="http://schemas.microsoft.com/office/drawing/2014/main" id="{0E8C8A22-4A0A-DBE8-3935-1A7A41DF6CCF}"/>
                  </a:ext>
                </a:extLst>
              </p:cNvPr>
              <p:cNvSpPr txBox="1">
                <a:spLocks noChangeArrowheads="1"/>
              </p:cNvSpPr>
              <p:nvPr/>
            </p:nvSpPr>
            <p:spPr bwMode="auto">
              <a:xfrm>
                <a:off x="5124"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val 29">
                <a:extLst>
                  <a:ext uri="{FF2B5EF4-FFF2-40B4-BE49-F238E27FC236}">
                    <a16:creationId xmlns:a16="http://schemas.microsoft.com/office/drawing/2014/main" id="{85608E67-DC80-B0B9-178F-C1098DE41A5E}"/>
                  </a:ext>
                </a:extLst>
              </p:cNvPr>
              <p:cNvSpPr>
                <a:spLocks noChangeArrowheads="1"/>
              </p:cNvSpPr>
              <p:nvPr/>
            </p:nvSpPr>
            <p:spPr bwMode="auto">
              <a:xfrm>
                <a:off x="4080" y="2976"/>
                <a:ext cx="768" cy="384"/>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Taxable</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Income</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30">
                <a:extLst>
                  <a:ext uri="{FF2B5EF4-FFF2-40B4-BE49-F238E27FC236}">
                    <a16:creationId xmlns:a16="http://schemas.microsoft.com/office/drawing/2014/main" id="{4D728688-78F0-C98B-4544-8C6447AE09ED}"/>
                  </a:ext>
                </a:extLst>
              </p:cNvPr>
              <p:cNvSpPr>
                <a:spLocks noChangeArrowheads="1"/>
              </p:cNvSpPr>
              <p:nvPr/>
            </p:nvSpPr>
            <p:spPr bwMode="auto">
              <a:xfrm>
                <a:off x="3840"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31">
                <a:extLst>
                  <a:ext uri="{FF2B5EF4-FFF2-40B4-BE49-F238E27FC236}">
                    <a16:creationId xmlns:a16="http://schemas.microsoft.com/office/drawing/2014/main" id="{AE3BF7F3-142E-5B23-074B-6DAF0073C738}"/>
                  </a:ext>
                </a:extLst>
              </p:cNvPr>
              <p:cNvSpPr>
                <a:spLocks noChangeShapeType="1"/>
              </p:cNvSpPr>
              <p:nvPr/>
            </p:nvSpPr>
            <p:spPr bwMode="auto">
              <a:xfrm flipH="1">
                <a:off x="4032"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32">
                <a:extLst>
                  <a:ext uri="{FF2B5EF4-FFF2-40B4-BE49-F238E27FC236}">
                    <a16:creationId xmlns:a16="http://schemas.microsoft.com/office/drawing/2014/main" id="{7D767B3F-1F39-CF02-57E7-CCC9EB452EF4}"/>
                  </a:ext>
                </a:extLst>
              </p:cNvPr>
              <p:cNvSpPr>
                <a:spLocks noChangeShapeType="1"/>
              </p:cNvSpPr>
              <p:nvPr/>
            </p:nvSpPr>
            <p:spPr bwMode="auto">
              <a:xfrm>
                <a:off x="4464"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Text Box 33">
                <a:extLst>
                  <a:ext uri="{FF2B5EF4-FFF2-40B4-BE49-F238E27FC236}">
                    <a16:creationId xmlns:a16="http://schemas.microsoft.com/office/drawing/2014/main" id="{2F2AC2BC-3682-CA90-408F-BB136580B42A}"/>
                  </a:ext>
                </a:extLst>
              </p:cNvPr>
              <p:cNvSpPr txBox="1">
                <a:spLocks noChangeArrowheads="1"/>
              </p:cNvSpPr>
              <p:nvPr/>
            </p:nvSpPr>
            <p:spPr bwMode="auto">
              <a:xfrm>
                <a:off x="3819"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34">
                <a:extLst>
                  <a:ext uri="{FF2B5EF4-FFF2-40B4-BE49-F238E27FC236}">
                    <a16:creationId xmlns:a16="http://schemas.microsoft.com/office/drawing/2014/main" id="{242BAC24-F38A-E9FF-18C5-DC116A5786CB}"/>
                  </a:ext>
                </a:extLst>
              </p:cNvPr>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Line 35">
              <a:extLst>
                <a:ext uri="{FF2B5EF4-FFF2-40B4-BE49-F238E27FC236}">
                  <a16:creationId xmlns:a16="http://schemas.microsoft.com/office/drawing/2014/main" id="{2149F246-9A80-D82A-B9E9-73ED4A838201}"/>
                </a:ext>
              </a:extLst>
            </p:cNvPr>
            <p:cNvSpPr>
              <a:spLocks noChangeShapeType="1"/>
            </p:cNvSpPr>
            <p:nvPr/>
          </p:nvSpPr>
          <p:spPr bwMode="auto">
            <a:xfrm rot="-2664477">
              <a:off x="1536" y="2400"/>
              <a:ext cx="192" cy="192"/>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8" name="Group 36">
            <a:extLst>
              <a:ext uri="{FF2B5EF4-FFF2-40B4-BE49-F238E27FC236}">
                <a16:creationId xmlns:a16="http://schemas.microsoft.com/office/drawing/2014/main" id="{0A3A382F-32B6-92B5-14FF-6F8702EC6A31}"/>
              </a:ext>
            </a:extLst>
          </p:cNvPr>
          <p:cNvGrpSpPr>
            <a:grpSpLocks/>
          </p:cNvGrpSpPr>
          <p:nvPr/>
        </p:nvGrpSpPr>
        <p:grpSpPr bwMode="auto">
          <a:xfrm>
            <a:off x="1117064" y="2905851"/>
            <a:ext cx="2657475" cy="2620962"/>
            <a:chOff x="48" y="1757"/>
            <a:chExt cx="1674" cy="1651"/>
          </a:xfrm>
        </p:grpSpPr>
        <p:grpSp>
          <p:nvGrpSpPr>
            <p:cNvPr id="39" name="Group 37">
              <a:extLst>
                <a:ext uri="{FF2B5EF4-FFF2-40B4-BE49-F238E27FC236}">
                  <a16:creationId xmlns:a16="http://schemas.microsoft.com/office/drawing/2014/main" id="{8B8DE552-672F-C9DB-56AA-B373A7041D93}"/>
                </a:ext>
              </a:extLst>
            </p:cNvPr>
            <p:cNvGrpSpPr>
              <a:grpSpLocks/>
            </p:cNvGrpSpPr>
            <p:nvPr/>
          </p:nvGrpSpPr>
          <p:grpSpPr bwMode="auto">
            <a:xfrm>
              <a:off x="48" y="1968"/>
              <a:ext cx="1674" cy="1440"/>
              <a:chOff x="2016" y="1824"/>
              <a:chExt cx="1674" cy="1440"/>
            </a:xfrm>
          </p:grpSpPr>
          <p:grpSp>
            <p:nvGrpSpPr>
              <p:cNvPr id="41" name="Group 38">
                <a:extLst>
                  <a:ext uri="{FF2B5EF4-FFF2-40B4-BE49-F238E27FC236}">
                    <a16:creationId xmlns:a16="http://schemas.microsoft.com/office/drawing/2014/main" id="{AEB99984-9E59-7E53-3A4F-5323B1583B7F}"/>
                  </a:ext>
                </a:extLst>
              </p:cNvPr>
              <p:cNvGrpSpPr>
                <a:grpSpLocks/>
              </p:cNvGrpSpPr>
              <p:nvPr/>
            </p:nvGrpSpPr>
            <p:grpSpPr bwMode="auto">
              <a:xfrm>
                <a:off x="2016" y="1824"/>
                <a:ext cx="1527" cy="1440"/>
                <a:chOff x="2016" y="1968"/>
                <a:chExt cx="1527" cy="1440"/>
              </a:xfrm>
            </p:grpSpPr>
            <p:sp>
              <p:nvSpPr>
                <p:cNvPr id="43" name="Oval 39">
                  <a:extLst>
                    <a:ext uri="{FF2B5EF4-FFF2-40B4-BE49-F238E27FC236}">
                      <a16:creationId xmlns:a16="http://schemas.microsoft.com/office/drawing/2014/main" id="{C61E5C65-33FD-76E7-FB24-47838475FBEB}"/>
                    </a:ext>
                  </a:extLst>
                </p:cNvPr>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40">
                  <a:extLst>
                    <a:ext uri="{FF2B5EF4-FFF2-40B4-BE49-F238E27FC236}">
                      <a16:creationId xmlns:a16="http://schemas.microsoft.com/office/drawing/2014/main" id="{995D4121-5C7F-6238-1F1A-511AF2A1A3EE}"/>
                    </a:ext>
                  </a:extLst>
                </p:cNvPr>
                <p:cNvSpPr>
                  <a:spLocks noChangeShapeType="1"/>
                </p:cNvSpPr>
                <p:nvPr/>
              </p:nvSpPr>
              <p:spPr bwMode="auto">
                <a:xfrm flipH="1">
                  <a:off x="2198" y="2251"/>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41">
                  <a:extLst>
                    <a:ext uri="{FF2B5EF4-FFF2-40B4-BE49-F238E27FC236}">
                      <a16:creationId xmlns:a16="http://schemas.microsoft.com/office/drawing/2014/main" id="{95363805-C1D5-6FD1-04ED-AAA6DB5C39ED}"/>
                    </a:ext>
                  </a:extLst>
                </p:cNvPr>
                <p:cNvSpPr>
                  <a:spLocks noChangeShapeType="1"/>
                </p:cNvSpPr>
                <p:nvPr/>
              </p:nvSpPr>
              <p:spPr bwMode="auto">
                <a:xfrm>
                  <a:off x="2562" y="2251"/>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Rectangle 42">
                  <a:extLst>
                    <a:ext uri="{FF2B5EF4-FFF2-40B4-BE49-F238E27FC236}">
                      <a16:creationId xmlns:a16="http://schemas.microsoft.com/office/drawing/2014/main" id="{27BCC2BD-5ED6-EF80-134A-AA67DFD0CA8C}"/>
                    </a:ext>
                  </a:extLst>
                </p:cNvPr>
                <p:cNvSpPr>
                  <a:spLocks noChangeArrowheads="1"/>
                </p:cNvSpPr>
                <p:nvPr/>
              </p:nvSpPr>
              <p:spPr bwMode="auto">
                <a:xfrm>
                  <a:off x="2016" y="247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43">
                  <a:extLst>
                    <a:ext uri="{FF2B5EF4-FFF2-40B4-BE49-F238E27FC236}">
                      <a16:creationId xmlns:a16="http://schemas.microsoft.com/office/drawing/2014/main" id="{7045D982-BE1F-1AF6-21DD-A3570598E3BD}"/>
                    </a:ext>
                  </a:extLst>
                </p:cNvPr>
                <p:cNvSpPr txBox="1">
                  <a:spLocks noChangeArrowheads="1"/>
                </p:cNvSpPr>
                <p:nvPr/>
              </p:nvSpPr>
              <p:spPr bwMode="auto">
                <a:xfrm>
                  <a:off x="2121" y="2205"/>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44">
                  <a:extLst>
                    <a:ext uri="{FF2B5EF4-FFF2-40B4-BE49-F238E27FC236}">
                      <a16:creationId xmlns:a16="http://schemas.microsoft.com/office/drawing/2014/main" id="{8DA35A20-1EDC-EF5D-22A1-C8698814AA06}"/>
                    </a:ext>
                  </a:extLst>
                </p:cNvPr>
                <p:cNvSpPr txBox="1">
                  <a:spLocks noChangeArrowheads="1"/>
                </p:cNvSpPr>
                <p:nvPr/>
              </p:nvSpPr>
              <p:spPr bwMode="auto">
                <a:xfrm>
                  <a:off x="2802" y="2205"/>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val 45">
                  <a:extLst>
                    <a:ext uri="{FF2B5EF4-FFF2-40B4-BE49-F238E27FC236}">
                      <a16:creationId xmlns:a16="http://schemas.microsoft.com/office/drawing/2014/main" id="{74E8B38C-4949-1040-1642-77D0A79828CE}"/>
                    </a:ext>
                  </a:extLst>
                </p:cNvPr>
                <p:cNvSpPr>
                  <a:spLocks noChangeArrowheads="1"/>
                </p:cNvSpPr>
                <p:nvPr/>
              </p:nvSpPr>
              <p:spPr bwMode="auto">
                <a:xfrm>
                  <a:off x="2671" y="2475"/>
                  <a:ext cx="545" cy="373"/>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Line 46">
                  <a:extLst>
                    <a:ext uri="{FF2B5EF4-FFF2-40B4-BE49-F238E27FC236}">
                      <a16:creationId xmlns:a16="http://schemas.microsoft.com/office/drawing/2014/main" id="{2EBD6639-B47F-298A-631F-2376405E5F94}"/>
                    </a:ext>
                  </a:extLst>
                </p:cNvPr>
                <p:cNvSpPr>
                  <a:spLocks noChangeShapeType="1"/>
                </p:cNvSpPr>
                <p:nvPr/>
              </p:nvSpPr>
              <p:spPr bwMode="auto">
                <a:xfrm flipH="1">
                  <a:off x="2525" y="2848"/>
                  <a:ext cx="436"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Line 47">
                  <a:extLst>
                    <a:ext uri="{FF2B5EF4-FFF2-40B4-BE49-F238E27FC236}">
                      <a16:creationId xmlns:a16="http://schemas.microsoft.com/office/drawing/2014/main" id="{1848FC88-E152-7306-8D83-EE1C93152AAD}"/>
                    </a:ext>
                  </a:extLst>
                </p:cNvPr>
                <p:cNvSpPr>
                  <a:spLocks noChangeShapeType="1"/>
                </p:cNvSpPr>
                <p:nvPr/>
              </p:nvSpPr>
              <p:spPr bwMode="auto">
                <a:xfrm>
                  <a:off x="2961" y="2848"/>
                  <a:ext cx="400"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Rectangle 48">
                  <a:extLst>
                    <a:ext uri="{FF2B5EF4-FFF2-40B4-BE49-F238E27FC236}">
                      <a16:creationId xmlns:a16="http://schemas.microsoft.com/office/drawing/2014/main" id="{57ED1791-AF80-CFBC-F1CF-11307F0D0872}"/>
                    </a:ext>
                  </a:extLst>
                </p:cNvPr>
                <p:cNvSpPr>
                  <a:spLocks noChangeArrowheads="1"/>
                </p:cNvSpPr>
                <p:nvPr/>
              </p:nvSpPr>
              <p:spPr bwMode="auto">
                <a:xfrm>
                  <a:off x="3180" y="3109"/>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Rectangle 49">
                  <a:extLst>
                    <a:ext uri="{FF2B5EF4-FFF2-40B4-BE49-F238E27FC236}">
                      <a16:creationId xmlns:a16="http://schemas.microsoft.com/office/drawing/2014/main" id="{BDF07FA7-1E45-8599-B7E5-D7A14B808BF4}"/>
                    </a:ext>
                  </a:extLst>
                </p:cNvPr>
                <p:cNvSpPr>
                  <a:spLocks noChangeArrowheads="1"/>
                </p:cNvSpPr>
                <p:nvPr/>
              </p:nvSpPr>
              <p:spPr bwMode="auto">
                <a:xfrm>
                  <a:off x="2343" y="3109"/>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Text Box 50">
                  <a:extLst>
                    <a:ext uri="{FF2B5EF4-FFF2-40B4-BE49-F238E27FC236}">
                      <a16:creationId xmlns:a16="http://schemas.microsoft.com/office/drawing/2014/main" id="{C36053D9-1C97-3F07-8396-3A937F463CA4}"/>
                    </a:ext>
                  </a:extLst>
                </p:cNvPr>
                <p:cNvSpPr txBox="1">
                  <a:spLocks noChangeArrowheads="1"/>
                </p:cNvSpPr>
                <p:nvPr/>
              </p:nvSpPr>
              <p:spPr bwMode="auto">
                <a:xfrm>
                  <a:off x="2114" y="2763"/>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2" name="Text Box 51">
                <a:extLst>
                  <a:ext uri="{FF2B5EF4-FFF2-40B4-BE49-F238E27FC236}">
                    <a16:creationId xmlns:a16="http://schemas.microsoft.com/office/drawing/2014/main" id="{8EF7B51D-2337-2064-05F1-95870C90B795}"/>
                  </a:ext>
                </a:extLst>
              </p:cNvPr>
              <p:cNvSpPr txBox="1">
                <a:spLocks noChangeArrowheads="1"/>
              </p:cNvSpPr>
              <p:nvPr/>
            </p:nvSpPr>
            <p:spPr bwMode="auto">
              <a:xfrm>
                <a:off x="3165"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0" name="Line 52">
              <a:extLst>
                <a:ext uri="{FF2B5EF4-FFF2-40B4-BE49-F238E27FC236}">
                  <a16:creationId xmlns:a16="http://schemas.microsoft.com/office/drawing/2014/main" id="{E0A5357C-71A6-AFE3-6F1E-2698852BFD86}"/>
                </a:ext>
              </a:extLst>
            </p:cNvPr>
            <p:cNvSpPr>
              <a:spLocks noChangeShapeType="1"/>
            </p:cNvSpPr>
            <p:nvPr/>
          </p:nvSpPr>
          <p:spPr bwMode="auto">
            <a:xfrm rot="-2664477" flipH="1" flipV="1">
              <a:off x="727" y="1757"/>
              <a:ext cx="402" cy="26"/>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5" name="矩形 54">
            <a:extLst>
              <a:ext uri="{FF2B5EF4-FFF2-40B4-BE49-F238E27FC236}">
                <a16:creationId xmlns:a16="http://schemas.microsoft.com/office/drawing/2014/main" id="{C0BACA60-889F-4748-29FC-AA6A5B022758}"/>
              </a:ext>
            </a:extLst>
          </p:cNvPr>
          <p:cNvSpPr/>
          <p:nvPr/>
        </p:nvSpPr>
        <p:spPr bwMode="auto">
          <a:xfrm>
            <a:off x="1223588" y="1092332"/>
            <a:ext cx="3065734" cy="1530368"/>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 name="矩形 55">
            <a:extLst>
              <a:ext uri="{FF2B5EF4-FFF2-40B4-BE49-F238E27FC236}">
                <a16:creationId xmlns:a16="http://schemas.microsoft.com/office/drawing/2014/main" id="{3CC408F4-6AD9-9CC4-84FB-7F87A2FAC7CC}"/>
              </a:ext>
            </a:extLst>
          </p:cNvPr>
          <p:cNvSpPr/>
          <p:nvPr/>
        </p:nvSpPr>
        <p:spPr bwMode="auto">
          <a:xfrm>
            <a:off x="6691622" y="1227505"/>
            <a:ext cx="3672000" cy="252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矩形 56">
            <a:extLst>
              <a:ext uri="{FF2B5EF4-FFF2-40B4-BE49-F238E27FC236}">
                <a16:creationId xmlns:a16="http://schemas.microsoft.com/office/drawing/2014/main" id="{F7E0AB83-A4A2-BCE1-6578-0A1CA8EE3C6B}"/>
              </a:ext>
            </a:extLst>
          </p:cNvPr>
          <p:cNvSpPr/>
          <p:nvPr/>
        </p:nvSpPr>
        <p:spPr bwMode="auto">
          <a:xfrm>
            <a:off x="6691622" y="1968285"/>
            <a:ext cx="3672000" cy="252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矩形 57">
            <a:extLst>
              <a:ext uri="{FF2B5EF4-FFF2-40B4-BE49-F238E27FC236}">
                <a16:creationId xmlns:a16="http://schemas.microsoft.com/office/drawing/2014/main" id="{B5A75B23-850F-9787-2D99-81B6585CE260}"/>
              </a:ext>
            </a:extLst>
          </p:cNvPr>
          <p:cNvSpPr/>
          <p:nvPr/>
        </p:nvSpPr>
        <p:spPr bwMode="auto">
          <a:xfrm>
            <a:off x="6691622" y="2709065"/>
            <a:ext cx="3672000" cy="252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矩形 58">
            <a:extLst>
              <a:ext uri="{FF2B5EF4-FFF2-40B4-BE49-F238E27FC236}">
                <a16:creationId xmlns:a16="http://schemas.microsoft.com/office/drawing/2014/main" id="{28246D28-422A-788E-056F-15120DE27B37}"/>
              </a:ext>
            </a:extLst>
          </p:cNvPr>
          <p:cNvSpPr/>
          <p:nvPr/>
        </p:nvSpPr>
        <p:spPr bwMode="auto">
          <a:xfrm>
            <a:off x="7628626" y="4271645"/>
            <a:ext cx="2340000" cy="540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70725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06D9D-44E2-BAFB-3F53-B4699D396999}"/>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C260FAF1-B5BA-30FB-8E86-A954FD49F04C}"/>
              </a:ext>
            </a:extLst>
          </p:cNvPr>
          <p:cNvGraphicFramePr>
            <a:graphicFrameLocks/>
          </p:cNvGraphicFramePr>
          <p:nvPr>
            <p:extLst>
              <p:ext uri="{D42A27DB-BD31-4B8C-83A1-F6EECF244321}">
                <p14:modId xmlns:p14="http://schemas.microsoft.com/office/powerpoint/2010/main" val="1808638275"/>
              </p:ext>
            </p:extLst>
          </p:nvPr>
        </p:nvGraphicFramePr>
        <p:xfrm>
          <a:off x="6788022" y="747402"/>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C08D9609-0165-F205-FFCC-C8D4B5C6F22B}"/>
              </a:ext>
            </a:extLst>
          </p:cNvPr>
          <p:cNvPicPr>
            <a:picLocks noChangeAspect="1"/>
          </p:cNvPicPr>
          <p:nvPr/>
        </p:nvPicPr>
        <p:blipFill>
          <a:blip r:embed="rId3"/>
          <a:stretch>
            <a:fillRect/>
          </a:stretch>
        </p:blipFill>
        <p:spPr>
          <a:xfrm>
            <a:off x="7334939" y="3678295"/>
            <a:ext cx="2824644" cy="3179705"/>
          </a:xfrm>
          <a:prstGeom prst="rect">
            <a:avLst/>
          </a:prstGeom>
        </p:spPr>
      </p:pic>
      <p:sp>
        <p:nvSpPr>
          <p:cNvPr id="5" name="Rectangle 3">
            <a:extLst>
              <a:ext uri="{FF2B5EF4-FFF2-40B4-BE49-F238E27FC236}">
                <a16:creationId xmlns:a16="http://schemas.microsoft.com/office/drawing/2014/main" id="{BC18B09F-E7F1-E75F-E187-6A1B37CA9F00}"/>
              </a:ext>
            </a:extLst>
          </p:cNvPr>
          <p:cNvSpPr>
            <a:spLocks noChangeArrowheads="1"/>
          </p:cNvSpPr>
          <p:nvPr/>
        </p:nvSpPr>
        <p:spPr bwMode="auto">
          <a:xfrm>
            <a:off x="1248978" y="1433165"/>
            <a:ext cx="576000" cy="475200"/>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4">
            <a:extLst>
              <a:ext uri="{FF2B5EF4-FFF2-40B4-BE49-F238E27FC236}">
                <a16:creationId xmlns:a16="http://schemas.microsoft.com/office/drawing/2014/main" id="{1F5C5E6B-6EC2-16D0-95F1-324E795710CA}"/>
              </a:ext>
            </a:extLst>
          </p:cNvPr>
          <p:cNvGrpSpPr>
            <a:grpSpLocks/>
          </p:cNvGrpSpPr>
          <p:nvPr/>
        </p:nvGrpSpPr>
        <p:grpSpPr bwMode="auto">
          <a:xfrm>
            <a:off x="1934778" y="1128365"/>
            <a:ext cx="2168525" cy="1262063"/>
            <a:chOff x="624" y="720"/>
            <a:chExt cx="1366" cy="795"/>
          </a:xfrm>
        </p:grpSpPr>
        <p:grpSp>
          <p:nvGrpSpPr>
            <p:cNvPr id="7" name="Group 5">
              <a:extLst>
                <a:ext uri="{FF2B5EF4-FFF2-40B4-BE49-F238E27FC236}">
                  <a16:creationId xmlns:a16="http://schemas.microsoft.com/office/drawing/2014/main" id="{5D960108-EED2-38DD-097E-64AF38AAD329}"/>
                </a:ext>
              </a:extLst>
            </p:cNvPr>
            <p:cNvGrpSpPr>
              <a:grpSpLocks/>
            </p:cNvGrpSpPr>
            <p:nvPr/>
          </p:nvGrpSpPr>
          <p:grpSpPr bwMode="auto">
            <a:xfrm>
              <a:off x="864" y="720"/>
              <a:ext cx="1126" cy="795"/>
              <a:chOff x="480" y="2640"/>
              <a:chExt cx="1126" cy="795"/>
            </a:xfrm>
          </p:grpSpPr>
          <p:sp>
            <p:nvSpPr>
              <p:cNvPr id="9" name="Oval 6">
                <a:extLst>
                  <a:ext uri="{FF2B5EF4-FFF2-40B4-BE49-F238E27FC236}">
                    <a16:creationId xmlns:a16="http://schemas.microsoft.com/office/drawing/2014/main" id="{4E341DC1-E0A8-8AF0-F9B6-C065104DA7AD}"/>
                  </a:ext>
                </a:extLst>
              </p:cNvPr>
              <p:cNvSpPr>
                <a:spLocks noChangeArrowheads="1"/>
              </p:cNvSpPr>
              <p:nvPr/>
            </p:nvSpPr>
            <p:spPr bwMode="auto">
              <a:xfrm>
                <a:off x="807" y="2640"/>
                <a:ext cx="436" cy="272"/>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Refund</a:t>
                </a:r>
              </a:p>
            </p:txBody>
          </p:sp>
          <p:sp>
            <p:nvSpPr>
              <p:cNvPr id="10" name="Line 7">
                <a:extLst>
                  <a:ext uri="{FF2B5EF4-FFF2-40B4-BE49-F238E27FC236}">
                    <a16:creationId xmlns:a16="http://schemas.microsoft.com/office/drawing/2014/main" id="{A9AB610B-E6EF-02E9-CE85-57663F11F706}"/>
                  </a:ext>
                </a:extLst>
              </p:cNvPr>
              <p:cNvSpPr>
                <a:spLocks noChangeShapeType="1"/>
              </p:cNvSpPr>
              <p:nvPr/>
            </p:nvSpPr>
            <p:spPr bwMode="auto">
              <a:xfrm flipH="1">
                <a:off x="661" y="2912"/>
                <a:ext cx="364"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8">
                <a:extLst>
                  <a:ext uri="{FF2B5EF4-FFF2-40B4-BE49-F238E27FC236}">
                    <a16:creationId xmlns:a16="http://schemas.microsoft.com/office/drawing/2014/main" id="{A95E8391-8759-53DB-43D8-0EC454614F21}"/>
                  </a:ext>
                </a:extLst>
              </p:cNvPr>
              <p:cNvSpPr>
                <a:spLocks noChangeShapeType="1"/>
              </p:cNvSpPr>
              <p:nvPr/>
            </p:nvSpPr>
            <p:spPr bwMode="auto">
              <a:xfrm>
                <a:off x="1025" y="2912"/>
                <a:ext cx="363"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Rectangle 9">
                <a:extLst>
                  <a:ext uri="{FF2B5EF4-FFF2-40B4-BE49-F238E27FC236}">
                    <a16:creationId xmlns:a16="http://schemas.microsoft.com/office/drawing/2014/main" id="{84FF0B28-B286-2993-274B-4A2AA5EC2907}"/>
                  </a:ext>
                </a:extLst>
              </p:cNvPr>
              <p:cNvSpPr>
                <a:spLocks noChangeArrowheads="1"/>
              </p:cNvSpPr>
              <p:nvPr/>
            </p:nvSpPr>
            <p:spPr bwMode="auto">
              <a:xfrm>
                <a:off x="480" y="3136"/>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10">
                <a:extLst>
                  <a:ext uri="{FF2B5EF4-FFF2-40B4-BE49-F238E27FC236}">
                    <a16:creationId xmlns:a16="http://schemas.microsoft.com/office/drawing/2014/main" id="{7CDC406F-CB45-F816-216B-67D9E437048F}"/>
                  </a:ext>
                </a:extLst>
              </p:cNvPr>
              <p:cNvSpPr>
                <a:spLocks noChangeArrowheads="1"/>
              </p:cNvSpPr>
              <p:nvPr/>
            </p:nvSpPr>
            <p:spPr bwMode="auto">
              <a:xfrm>
                <a:off x="1243" y="3136"/>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1">
                <a:extLst>
                  <a:ext uri="{FF2B5EF4-FFF2-40B4-BE49-F238E27FC236}">
                    <a16:creationId xmlns:a16="http://schemas.microsoft.com/office/drawing/2014/main" id="{54052225-F615-3773-0FF2-4FB1B0C519E2}"/>
                  </a:ext>
                </a:extLst>
              </p:cNvPr>
              <p:cNvSpPr txBox="1">
                <a:spLocks noChangeArrowheads="1"/>
              </p:cNvSpPr>
              <p:nvPr/>
            </p:nvSpPr>
            <p:spPr bwMode="auto">
              <a:xfrm>
                <a:off x="585" y="2868"/>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2">
                <a:extLst>
                  <a:ext uri="{FF2B5EF4-FFF2-40B4-BE49-F238E27FC236}">
                    <a16:creationId xmlns:a16="http://schemas.microsoft.com/office/drawing/2014/main" id="{010057F6-1566-D38F-90D3-F5CE091ABB43}"/>
                  </a:ext>
                </a:extLst>
              </p:cNvPr>
              <p:cNvSpPr txBox="1">
                <a:spLocks noChangeArrowheads="1"/>
              </p:cNvSpPr>
              <p:nvPr/>
            </p:nvSpPr>
            <p:spPr bwMode="auto">
              <a:xfrm>
                <a:off x="1265" y="2868"/>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Line 13">
              <a:extLst>
                <a:ext uri="{FF2B5EF4-FFF2-40B4-BE49-F238E27FC236}">
                  <a16:creationId xmlns:a16="http://schemas.microsoft.com/office/drawing/2014/main" id="{6C200F48-C45E-8A2B-1E28-801D1CE0D0AF}"/>
                </a:ext>
              </a:extLst>
            </p:cNvPr>
            <p:cNvSpPr>
              <a:spLocks noChangeShapeType="1"/>
            </p:cNvSpPr>
            <p:nvPr/>
          </p:nvSpPr>
          <p:spPr bwMode="auto">
            <a:xfrm flipV="1">
              <a:off x="624" y="1056"/>
              <a:ext cx="240" cy="0"/>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 name="Group 14">
            <a:extLst>
              <a:ext uri="{FF2B5EF4-FFF2-40B4-BE49-F238E27FC236}">
                <a16:creationId xmlns:a16="http://schemas.microsoft.com/office/drawing/2014/main" id="{DBBDAA81-452A-02DD-21A6-75BFDAF31884}"/>
              </a:ext>
            </a:extLst>
          </p:cNvPr>
          <p:cNvGrpSpPr>
            <a:grpSpLocks/>
          </p:cNvGrpSpPr>
          <p:nvPr/>
        </p:nvGrpSpPr>
        <p:grpSpPr bwMode="auto">
          <a:xfrm>
            <a:off x="3283937" y="3092139"/>
            <a:ext cx="3328988" cy="3294063"/>
            <a:chOff x="1536" y="1920"/>
            <a:chExt cx="2097" cy="2075"/>
          </a:xfrm>
        </p:grpSpPr>
        <p:grpSp>
          <p:nvGrpSpPr>
            <p:cNvPr id="17" name="Group 15">
              <a:extLst>
                <a:ext uri="{FF2B5EF4-FFF2-40B4-BE49-F238E27FC236}">
                  <a16:creationId xmlns:a16="http://schemas.microsoft.com/office/drawing/2014/main" id="{C8AC9DD5-B0F8-91D2-84BC-5552248F92C5}"/>
                </a:ext>
              </a:extLst>
            </p:cNvPr>
            <p:cNvGrpSpPr>
              <a:grpSpLocks/>
            </p:cNvGrpSpPr>
            <p:nvPr/>
          </p:nvGrpSpPr>
          <p:grpSpPr bwMode="auto">
            <a:xfrm>
              <a:off x="1803" y="1920"/>
              <a:ext cx="1830" cy="2075"/>
              <a:chOff x="3819" y="1824"/>
              <a:chExt cx="1830" cy="2075"/>
            </a:xfrm>
          </p:grpSpPr>
          <p:sp>
            <p:nvSpPr>
              <p:cNvPr id="19" name="Oval 16">
                <a:extLst>
                  <a:ext uri="{FF2B5EF4-FFF2-40B4-BE49-F238E27FC236}">
                    <a16:creationId xmlns:a16="http://schemas.microsoft.com/office/drawing/2014/main" id="{49E81679-8D99-B275-3C18-42B526823CE0}"/>
                  </a:ext>
                </a:extLst>
              </p:cNvPr>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Line 17">
                <a:extLst>
                  <a:ext uri="{FF2B5EF4-FFF2-40B4-BE49-F238E27FC236}">
                    <a16:creationId xmlns:a16="http://schemas.microsoft.com/office/drawing/2014/main" id="{0EBF384D-1B1C-4B29-ADEC-F3727B62044C}"/>
                  </a:ext>
                </a:extLst>
              </p:cNvPr>
              <p:cNvSpPr>
                <a:spLocks noChangeShapeType="1"/>
              </p:cNvSpPr>
              <p:nvPr/>
            </p:nvSpPr>
            <p:spPr bwMode="auto">
              <a:xfrm flipH="1">
                <a:off x="4166" y="2107"/>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Line 18">
                <a:extLst>
                  <a:ext uri="{FF2B5EF4-FFF2-40B4-BE49-F238E27FC236}">
                    <a16:creationId xmlns:a16="http://schemas.microsoft.com/office/drawing/2014/main" id="{441DBC6C-9E37-791F-0F79-C5FA2EFF0092}"/>
                  </a:ext>
                </a:extLst>
              </p:cNvPr>
              <p:cNvSpPr>
                <a:spLocks noChangeShapeType="1"/>
              </p:cNvSpPr>
              <p:nvPr/>
            </p:nvSpPr>
            <p:spPr bwMode="auto">
              <a:xfrm>
                <a:off x="4530" y="2107"/>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Rectangle 19">
                <a:extLst>
                  <a:ext uri="{FF2B5EF4-FFF2-40B4-BE49-F238E27FC236}">
                    <a16:creationId xmlns:a16="http://schemas.microsoft.com/office/drawing/2014/main" id="{A01EA62F-D965-1814-954D-F48D133D47C1}"/>
                  </a:ext>
                </a:extLst>
              </p:cNvPr>
              <p:cNvSpPr>
                <a:spLocks noChangeArrowheads="1"/>
              </p:cNvSpPr>
              <p:nvPr/>
            </p:nvSpPr>
            <p:spPr bwMode="auto">
              <a:xfrm>
                <a:off x="3984" y="2331"/>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20">
                <a:extLst>
                  <a:ext uri="{FF2B5EF4-FFF2-40B4-BE49-F238E27FC236}">
                    <a16:creationId xmlns:a16="http://schemas.microsoft.com/office/drawing/2014/main" id="{9A651E47-FF95-3398-0BFC-53DC3E0976BD}"/>
                  </a:ext>
                </a:extLst>
              </p:cNvPr>
              <p:cNvSpPr txBox="1">
                <a:spLocks noChangeArrowheads="1"/>
              </p:cNvSpPr>
              <p:nvPr/>
            </p:nvSpPr>
            <p:spPr bwMode="auto">
              <a:xfrm>
                <a:off x="4089" y="2061"/>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21">
                <a:extLst>
                  <a:ext uri="{FF2B5EF4-FFF2-40B4-BE49-F238E27FC236}">
                    <a16:creationId xmlns:a16="http://schemas.microsoft.com/office/drawing/2014/main" id="{39C13136-9C07-6323-603C-74BF1BE8A26C}"/>
                  </a:ext>
                </a:extLst>
              </p:cNvPr>
              <p:cNvSpPr txBox="1">
                <a:spLocks noChangeArrowheads="1"/>
              </p:cNvSpPr>
              <p:nvPr/>
            </p:nvSpPr>
            <p:spPr bwMode="auto">
              <a:xfrm>
                <a:off x="4770" y="2061"/>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val 22">
                <a:extLst>
                  <a:ext uri="{FF2B5EF4-FFF2-40B4-BE49-F238E27FC236}">
                    <a16:creationId xmlns:a16="http://schemas.microsoft.com/office/drawing/2014/main" id="{30D82326-0904-5059-F9A5-DFE94A38BF4E}"/>
                  </a:ext>
                </a:extLst>
              </p:cNvPr>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23">
                <a:extLst>
                  <a:ext uri="{FF2B5EF4-FFF2-40B4-BE49-F238E27FC236}">
                    <a16:creationId xmlns:a16="http://schemas.microsoft.com/office/drawing/2014/main" id="{60DACADF-CC9D-4A25-AD91-A5CA1946E3B9}"/>
                  </a:ext>
                </a:extLst>
              </p:cNvPr>
              <p:cNvSpPr>
                <a:spLocks noChangeShapeType="1"/>
              </p:cNvSpPr>
              <p:nvPr/>
            </p:nvSpPr>
            <p:spPr bwMode="auto">
              <a:xfrm flipH="1">
                <a:off x="4464" y="2704"/>
                <a:ext cx="465"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24">
                <a:extLst>
                  <a:ext uri="{FF2B5EF4-FFF2-40B4-BE49-F238E27FC236}">
                    <a16:creationId xmlns:a16="http://schemas.microsoft.com/office/drawing/2014/main" id="{0170464D-1CDD-87EE-AB22-698B104BE8C4}"/>
                  </a:ext>
                </a:extLst>
              </p:cNvPr>
              <p:cNvSpPr>
                <a:spLocks noChangeShapeType="1"/>
              </p:cNvSpPr>
              <p:nvPr/>
            </p:nvSpPr>
            <p:spPr bwMode="auto">
              <a:xfrm>
                <a:off x="4929" y="2704"/>
                <a:ext cx="400" cy="2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25">
                <a:extLst>
                  <a:ext uri="{FF2B5EF4-FFF2-40B4-BE49-F238E27FC236}">
                    <a16:creationId xmlns:a16="http://schemas.microsoft.com/office/drawing/2014/main" id="{DDA7B2DA-7D89-D6E8-3331-0EE07E8B874C}"/>
                  </a:ext>
                </a:extLst>
              </p:cNvPr>
              <p:cNvSpPr>
                <a:spLocks noChangeArrowheads="1"/>
              </p:cNvSpPr>
              <p:nvPr/>
            </p:nvSpPr>
            <p:spPr bwMode="auto">
              <a:xfrm>
                <a:off x="5148" y="296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26">
                <a:extLst>
                  <a:ext uri="{FF2B5EF4-FFF2-40B4-BE49-F238E27FC236}">
                    <a16:creationId xmlns:a16="http://schemas.microsoft.com/office/drawing/2014/main" id="{C5292913-6ED5-9593-D533-2FD08292AC37}"/>
                  </a:ext>
                </a:extLst>
              </p:cNvPr>
              <p:cNvSpPr>
                <a:spLocks noChangeArrowheads="1"/>
              </p:cNvSpPr>
              <p:nvPr/>
            </p:nvSpPr>
            <p:spPr bwMode="auto">
              <a:xfrm>
                <a:off x="4704"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27">
                <a:extLst>
                  <a:ext uri="{FF2B5EF4-FFF2-40B4-BE49-F238E27FC236}">
                    <a16:creationId xmlns:a16="http://schemas.microsoft.com/office/drawing/2014/main" id="{4B3FEE12-E1C3-395E-DD5C-6046957D5A85}"/>
                  </a:ext>
                </a:extLst>
              </p:cNvPr>
              <p:cNvSpPr txBox="1">
                <a:spLocks noChangeArrowheads="1"/>
              </p:cNvSpPr>
              <p:nvPr/>
            </p:nvSpPr>
            <p:spPr bwMode="auto">
              <a:xfrm>
                <a:off x="4082" y="2619"/>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28">
                <a:extLst>
                  <a:ext uri="{FF2B5EF4-FFF2-40B4-BE49-F238E27FC236}">
                    <a16:creationId xmlns:a16="http://schemas.microsoft.com/office/drawing/2014/main" id="{D698D895-123C-2CA4-4AB7-3733AB8AF4A0}"/>
                  </a:ext>
                </a:extLst>
              </p:cNvPr>
              <p:cNvSpPr txBox="1">
                <a:spLocks noChangeArrowheads="1"/>
              </p:cNvSpPr>
              <p:nvPr/>
            </p:nvSpPr>
            <p:spPr bwMode="auto">
              <a:xfrm>
                <a:off x="5124"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val 29">
                <a:extLst>
                  <a:ext uri="{FF2B5EF4-FFF2-40B4-BE49-F238E27FC236}">
                    <a16:creationId xmlns:a16="http://schemas.microsoft.com/office/drawing/2014/main" id="{2334724A-194C-BF6C-6C48-5AE6BB4D0810}"/>
                  </a:ext>
                </a:extLst>
              </p:cNvPr>
              <p:cNvSpPr>
                <a:spLocks noChangeArrowheads="1"/>
              </p:cNvSpPr>
              <p:nvPr/>
            </p:nvSpPr>
            <p:spPr bwMode="auto">
              <a:xfrm>
                <a:off x="4080" y="2976"/>
                <a:ext cx="768" cy="384"/>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Taxable</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Income</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30">
                <a:extLst>
                  <a:ext uri="{FF2B5EF4-FFF2-40B4-BE49-F238E27FC236}">
                    <a16:creationId xmlns:a16="http://schemas.microsoft.com/office/drawing/2014/main" id="{2704F6DD-B946-5B92-20E6-C58986D5AF78}"/>
                  </a:ext>
                </a:extLst>
              </p:cNvPr>
              <p:cNvSpPr>
                <a:spLocks noChangeArrowheads="1"/>
              </p:cNvSpPr>
              <p:nvPr/>
            </p:nvSpPr>
            <p:spPr bwMode="auto">
              <a:xfrm>
                <a:off x="3840"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31">
                <a:extLst>
                  <a:ext uri="{FF2B5EF4-FFF2-40B4-BE49-F238E27FC236}">
                    <a16:creationId xmlns:a16="http://schemas.microsoft.com/office/drawing/2014/main" id="{869F50CF-8E6C-183B-BA49-41AFE3A1A109}"/>
                  </a:ext>
                </a:extLst>
              </p:cNvPr>
              <p:cNvSpPr>
                <a:spLocks noChangeShapeType="1"/>
              </p:cNvSpPr>
              <p:nvPr/>
            </p:nvSpPr>
            <p:spPr bwMode="auto">
              <a:xfrm flipH="1">
                <a:off x="4032"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32">
                <a:extLst>
                  <a:ext uri="{FF2B5EF4-FFF2-40B4-BE49-F238E27FC236}">
                    <a16:creationId xmlns:a16="http://schemas.microsoft.com/office/drawing/2014/main" id="{4C7D6D18-61E7-74C3-3188-1D42E787CB2B}"/>
                  </a:ext>
                </a:extLst>
              </p:cNvPr>
              <p:cNvSpPr>
                <a:spLocks noChangeShapeType="1"/>
              </p:cNvSpPr>
              <p:nvPr/>
            </p:nvSpPr>
            <p:spPr bwMode="auto">
              <a:xfrm>
                <a:off x="4464"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Text Box 33">
                <a:extLst>
                  <a:ext uri="{FF2B5EF4-FFF2-40B4-BE49-F238E27FC236}">
                    <a16:creationId xmlns:a16="http://schemas.microsoft.com/office/drawing/2014/main" id="{5C4CF807-42B3-4423-8EDF-1AF5849884DF}"/>
                  </a:ext>
                </a:extLst>
              </p:cNvPr>
              <p:cNvSpPr txBox="1">
                <a:spLocks noChangeArrowheads="1"/>
              </p:cNvSpPr>
              <p:nvPr/>
            </p:nvSpPr>
            <p:spPr bwMode="auto">
              <a:xfrm>
                <a:off x="3819"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34">
                <a:extLst>
                  <a:ext uri="{FF2B5EF4-FFF2-40B4-BE49-F238E27FC236}">
                    <a16:creationId xmlns:a16="http://schemas.microsoft.com/office/drawing/2014/main" id="{A7F19584-9030-CAF8-3E42-376F00A06C58}"/>
                  </a:ext>
                </a:extLst>
              </p:cNvPr>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Line 35">
              <a:extLst>
                <a:ext uri="{FF2B5EF4-FFF2-40B4-BE49-F238E27FC236}">
                  <a16:creationId xmlns:a16="http://schemas.microsoft.com/office/drawing/2014/main" id="{B37C6930-7B27-A18A-8636-2C9AFF0EB138}"/>
                </a:ext>
              </a:extLst>
            </p:cNvPr>
            <p:cNvSpPr>
              <a:spLocks noChangeShapeType="1"/>
            </p:cNvSpPr>
            <p:nvPr/>
          </p:nvSpPr>
          <p:spPr bwMode="auto">
            <a:xfrm rot="-2664477">
              <a:off x="1536" y="2400"/>
              <a:ext cx="192" cy="192"/>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8" name="Group 36">
            <a:extLst>
              <a:ext uri="{FF2B5EF4-FFF2-40B4-BE49-F238E27FC236}">
                <a16:creationId xmlns:a16="http://schemas.microsoft.com/office/drawing/2014/main" id="{BB617E5E-C2F4-5C6D-614E-3F9AD02C3A0E}"/>
              </a:ext>
            </a:extLst>
          </p:cNvPr>
          <p:cNvGrpSpPr>
            <a:grpSpLocks/>
          </p:cNvGrpSpPr>
          <p:nvPr/>
        </p:nvGrpSpPr>
        <p:grpSpPr bwMode="auto">
          <a:xfrm>
            <a:off x="1074137" y="2833377"/>
            <a:ext cx="2657475" cy="2620962"/>
            <a:chOff x="48" y="1757"/>
            <a:chExt cx="1674" cy="1651"/>
          </a:xfrm>
        </p:grpSpPr>
        <p:grpSp>
          <p:nvGrpSpPr>
            <p:cNvPr id="39" name="Group 37">
              <a:extLst>
                <a:ext uri="{FF2B5EF4-FFF2-40B4-BE49-F238E27FC236}">
                  <a16:creationId xmlns:a16="http://schemas.microsoft.com/office/drawing/2014/main" id="{EC0EA946-C4F6-FE1B-4F4A-36502C4D8EF6}"/>
                </a:ext>
              </a:extLst>
            </p:cNvPr>
            <p:cNvGrpSpPr>
              <a:grpSpLocks/>
            </p:cNvGrpSpPr>
            <p:nvPr/>
          </p:nvGrpSpPr>
          <p:grpSpPr bwMode="auto">
            <a:xfrm>
              <a:off x="48" y="1968"/>
              <a:ext cx="1674" cy="1440"/>
              <a:chOff x="2016" y="1824"/>
              <a:chExt cx="1674" cy="1440"/>
            </a:xfrm>
          </p:grpSpPr>
          <p:grpSp>
            <p:nvGrpSpPr>
              <p:cNvPr id="41" name="Group 38">
                <a:extLst>
                  <a:ext uri="{FF2B5EF4-FFF2-40B4-BE49-F238E27FC236}">
                    <a16:creationId xmlns:a16="http://schemas.microsoft.com/office/drawing/2014/main" id="{AED0B985-81DA-2B16-944F-683421F37DB8}"/>
                  </a:ext>
                </a:extLst>
              </p:cNvPr>
              <p:cNvGrpSpPr>
                <a:grpSpLocks/>
              </p:cNvGrpSpPr>
              <p:nvPr/>
            </p:nvGrpSpPr>
            <p:grpSpPr bwMode="auto">
              <a:xfrm>
                <a:off x="2016" y="1824"/>
                <a:ext cx="1527" cy="1440"/>
                <a:chOff x="2016" y="1968"/>
                <a:chExt cx="1527" cy="1440"/>
              </a:xfrm>
            </p:grpSpPr>
            <p:sp>
              <p:nvSpPr>
                <p:cNvPr id="43" name="Oval 39">
                  <a:extLst>
                    <a:ext uri="{FF2B5EF4-FFF2-40B4-BE49-F238E27FC236}">
                      <a16:creationId xmlns:a16="http://schemas.microsoft.com/office/drawing/2014/main" id="{5C450F8F-07AD-F794-390A-EDA5A2401C87}"/>
                    </a:ext>
                  </a:extLst>
                </p:cNvPr>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40">
                  <a:extLst>
                    <a:ext uri="{FF2B5EF4-FFF2-40B4-BE49-F238E27FC236}">
                      <a16:creationId xmlns:a16="http://schemas.microsoft.com/office/drawing/2014/main" id="{A2FAD25E-4D2C-7EFA-CC37-6379843966AB}"/>
                    </a:ext>
                  </a:extLst>
                </p:cNvPr>
                <p:cNvSpPr>
                  <a:spLocks noChangeShapeType="1"/>
                </p:cNvSpPr>
                <p:nvPr/>
              </p:nvSpPr>
              <p:spPr bwMode="auto">
                <a:xfrm flipH="1">
                  <a:off x="2198" y="2251"/>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41">
                  <a:extLst>
                    <a:ext uri="{FF2B5EF4-FFF2-40B4-BE49-F238E27FC236}">
                      <a16:creationId xmlns:a16="http://schemas.microsoft.com/office/drawing/2014/main" id="{74CBF9D7-F34D-DC27-3749-1DF1C7342705}"/>
                    </a:ext>
                  </a:extLst>
                </p:cNvPr>
                <p:cNvSpPr>
                  <a:spLocks noChangeShapeType="1"/>
                </p:cNvSpPr>
                <p:nvPr/>
              </p:nvSpPr>
              <p:spPr bwMode="auto">
                <a:xfrm>
                  <a:off x="2562" y="2251"/>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Rectangle 42">
                  <a:extLst>
                    <a:ext uri="{FF2B5EF4-FFF2-40B4-BE49-F238E27FC236}">
                      <a16:creationId xmlns:a16="http://schemas.microsoft.com/office/drawing/2014/main" id="{51A7B2C0-F7D5-B45D-9289-CFE914967523}"/>
                    </a:ext>
                  </a:extLst>
                </p:cNvPr>
                <p:cNvSpPr>
                  <a:spLocks noChangeArrowheads="1"/>
                </p:cNvSpPr>
                <p:nvPr/>
              </p:nvSpPr>
              <p:spPr bwMode="auto">
                <a:xfrm>
                  <a:off x="2016" y="247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43">
                  <a:extLst>
                    <a:ext uri="{FF2B5EF4-FFF2-40B4-BE49-F238E27FC236}">
                      <a16:creationId xmlns:a16="http://schemas.microsoft.com/office/drawing/2014/main" id="{689AF5D8-2CB8-7AF5-050C-2009EEEC86C9}"/>
                    </a:ext>
                  </a:extLst>
                </p:cNvPr>
                <p:cNvSpPr txBox="1">
                  <a:spLocks noChangeArrowheads="1"/>
                </p:cNvSpPr>
                <p:nvPr/>
              </p:nvSpPr>
              <p:spPr bwMode="auto">
                <a:xfrm>
                  <a:off x="2121" y="2205"/>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44">
                  <a:extLst>
                    <a:ext uri="{FF2B5EF4-FFF2-40B4-BE49-F238E27FC236}">
                      <a16:creationId xmlns:a16="http://schemas.microsoft.com/office/drawing/2014/main" id="{15D8177A-1BBB-D2CD-95AA-0A47A323AF5D}"/>
                    </a:ext>
                  </a:extLst>
                </p:cNvPr>
                <p:cNvSpPr txBox="1">
                  <a:spLocks noChangeArrowheads="1"/>
                </p:cNvSpPr>
                <p:nvPr/>
              </p:nvSpPr>
              <p:spPr bwMode="auto">
                <a:xfrm>
                  <a:off x="2802" y="2205"/>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val 45">
                  <a:extLst>
                    <a:ext uri="{FF2B5EF4-FFF2-40B4-BE49-F238E27FC236}">
                      <a16:creationId xmlns:a16="http://schemas.microsoft.com/office/drawing/2014/main" id="{70409E6E-3910-B577-3663-1A84B95C32ED}"/>
                    </a:ext>
                  </a:extLst>
                </p:cNvPr>
                <p:cNvSpPr>
                  <a:spLocks noChangeArrowheads="1"/>
                </p:cNvSpPr>
                <p:nvPr/>
              </p:nvSpPr>
              <p:spPr bwMode="auto">
                <a:xfrm>
                  <a:off x="2671" y="2475"/>
                  <a:ext cx="545" cy="373"/>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Line 46">
                  <a:extLst>
                    <a:ext uri="{FF2B5EF4-FFF2-40B4-BE49-F238E27FC236}">
                      <a16:creationId xmlns:a16="http://schemas.microsoft.com/office/drawing/2014/main" id="{22BFE144-2119-1DC5-9A80-BD3874C9FD5F}"/>
                    </a:ext>
                  </a:extLst>
                </p:cNvPr>
                <p:cNvSpPr>
                  <a:spLocks noChangeShapeType="1"/>
                </p:cNvSpPr>
                <p:nvPr/>
              </p:nvSpPr>
              <p:spPr bwMode="auto">
                <a:xfrm flipH="1">
                  <a:off x="2525" y="2848"/>
                  <a:ext cx="436"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Line 47">
                  <a:extLst>
                    <a:ext uri="{FF2B5EF4-FFF2-40B4-BE49-F238E27FC236}">
                      <a16:creationId xmlns:a16="http://schemas.microsoft.com/office/drawing/2014/main" id="{A9B9FA68-F49F-2A20-7A94-8138DCECAD6B}"/>
                    </a:ext>
                  </a:extLst>
                </p:cNvPr>
                <p:cNvSpPr>
                  <a:spLocks noChangeShapeType="1"/>
                </p:cNvSpPr>
                <p:nvPr/>
              </p:nvSpPr>
              <p:spPr bwMode="auto">
                <a:xfrm>
                  <a:off x="2961" y="2848"/>
                  <a:ext cx="400"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Rectangle 48">
                  <a:extLst>
                    <a:ext uri="{FF2B5EF4-FFF2-40B4-BE49-F238E27FC236}">
                      <a16:creationId xmlns:a16="http://schemas.microsoft.com/office/drawing/2014/main" id="{2CBD7BEA-8BBB-4919-0AC1-F282C1E94B42}"/>
                    </a:ext>
                  </a:extLst>
                </p:cNvPr>
                <p:cNvSpPr>
                  <a:spLocks noChangeArrowheads="1"/>
                </p:cNvSpPr>
                <p:nvPr/>
              </p:nvSpPr>
              <p:spPr bwMode="auto">
                <a:xfrm>
                  <a:off x="3180" y="3109"/>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Rectangle 49">
                  <a:extLst>
                    <a:ext uri="{FF2B5EF4-FFF2-40B4-BE49-F238E27FC236}">
                      <a16:creationId xmlns:a16="http://schemas.microsoft.com/office/drawing/2014/main" id="{82936084-089F-C3EB-C428-5A9943DBC5D1}"/>
                    </a:ext>
                  </a:extLst>
                </p:cNvPr>
                <p:cNvSpPr>
                  <a:spLocks noChangeArrowheads="1"/>
                </p:cNvSpPr>
                <p:nvPr/>
              </p:nvSpPr>
              <p:spPr bwMode="auto">
                <a:xfrm>
                  <a:off x="2343" y="3109"/>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Text Box 50">
                  <a:extLst>
                    <a:ext uri="{FF2B5EF4-FFF2-40B4-BE49-F238E27FC236}">
                      <a16:creationId xmlns:a16="http://schemas.microsoft.com/office/drawing/2014/main" id="{4292F74D-EE47-CDDC-71EC-DC73E2832076}"/>
                    </a:ext>
                  </a:extLst>
                </p:cNvPr>
                <p:cNvSpPr txBox="1">
                  <a:spLocks noChangeArrowheads="1"/>
                </p:cNvSpPr>
                <p:nvPr/>
              </p:nvSpPr>
              <p:spPr bwMode="auto">
                <a:xfrm>
                  <a:off x="2114" y="2763"/>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2" name="Text Box 51">
                <a:extLst>
                  <a:ext uri="{FF2B5EF4-FFF2-40B4-BE49-F238E27FC236}">
                    <a16:creationId xmlns:a16="http://schemas.microsoft.com/office/drawing/2014/main" id="{791304F1-6315-FDE2-00EF-F75E4E951501}"/>
                  </a:ext>
                </a:extLst>
              </p:cNvPr>
              <p:cNvSpPr txBox="1">
                <a:spLocks noChangeArrowheads="1"/>
              </p:cNvSpPr>
              <p:nvPr/>
            </p:nvSpPr>
            <p:spPr bwMode="auto">
              <a:xfrm>
                <a:off x="3165"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0" name="Line 52">
              <a:extLst>
                <a:ext uri="{FF2B5EF4-FFF2-40B4-BE49-F238E27FC236}">
                  <a16:creationId xmlns:a16="http://schemas.microsoft.com/office/drawing/2014/main" id="{6DA4FF9A-59D8-7FA5-FA35-4401DA2A515B}"/>
                </a:ext>
              </a:extLst>
            </p:cNvPr>
            <p:cNvSpPr>
              <a:spLocks noChangeShapeType="1"/>
            </p:cNvSpPr>
            <p:nvPr/>
          </p:nvSpPr>
          <p:spPr bwMode="auto">
            <a:xfrm rot="-2664477" flipH="1" flipV="1">
              <a:off x="727" y="1757"/>
              <a:ext cx="402" cy="26"/>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5" name="矩形 54">
            <a:extLst>
              <a:ext uri="{FF2B5EF4-FFF2-40B4-BE49-F238E27FC236}">
                <a16:creationId xmlns:a16="http://schemas.microsoft.com/office/drawing/2014/main" id="{1CE003E3-E326-628F-D8E7-951220DD760C}"/>
              </a:ext>
            </a:extLst>
          </p:cNvPr>
          <p:cNvSpPr/>
          <p:nvPr/>
        </p:nvSpPr>
        <p:spPr bwMode="auto">
          <a:xfrm>
            <a:off x="1180661" y="1019858"/>
            <a:ext cx="3065734" cy="1530368"/>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 name="矩形 55">
            <a:extLst>
              <a:ext uri="{FF2B5EF4-FFF2-40B4-BE49-F238E27FC236}">
                <a16:creationId xmlns:a16="http://schemas.microsoft.com/office/drawing/2014/main" id="{2A666A45-6073-7C89-DBED-876B3E3010B5}"/>
              </a:ext>
            </a:extLst>
          </p:cNvPr>
          <p:cNvSpPr/>
          <p:nvPr/>
        </p:nvSpPr>
        <p:spPr bwMode="auto">
          <a:xfrm>
            <a:off x="6691623" y="121290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矩形 56">
            <a:extLst>
              <a:ext uri="{FF2B5EF4-FFF2-40B4-BE49-F238E27FC236}">
                <a16:creationId xmlns:a16="http://schemas.microsoft.com/office/drawing/2014/main" id="{05C4BE93-10B4-46A4-AD2E-8BAC84CE02DB}"/>
              </a:ext>
            </a:extLst>
          </p:cNvPr>
          <p:cNvSpPr/>
          <p:nvPr/>
        </p:nvSpPr>
        <p:spPr bwMode="auto">
          <a:xfrm>
            <a:off x="6691623" y="195368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矩形 57">
            <a:extLst>
              <a:ext uri="{FF2B5EF4-FFF2-40B4-BE49-F238E27FC236}">
                <a16:creationId xmlns:a16="http://schemas.microsoft.com/office/drawing/2014/main" id="{A35141EB-B0F6-CC4C-9C6C-44EC486E329F}"/>
              </a:ext>
            </a:extLst>
          </p:cNvPr>
          <p:cNvSpPr/>
          <p:nvPr/>
        </p:nvSpPr>
        <p:spPr bwMode="auto">
          <a:xfrm>
            <a:off x="6691623" y="269446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矩形 58">
            <a:extLst>
              <a:ext uri="{FF2B5EF4-FFF2-40B4-BE49-F238E27FC236}">
                <a16:creationId xmlns:a16="http://schemas.microsoft.com/office/drawing/2014/main" id="{0EC3A9FE-9F97-B642-9167-50FEB8E3A724}"/>
              </a:ext>
            </a:extLst>
          </p:cNvPr>
          <p:cNvSpPr/>
          <p:nvPr/>
        </p:nvSpPr>
        <p:spPr bwMode="auto">
          <a:xfrm>
            <a:off x="7591556" y="5552977"/>
            <a:ext cx="2340000" cy="1260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93495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722A5-0DC8-FAF5-FC43-BBF1216D2550}"/>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8441EA23-2CA8-CCB0-9470-181A1AA43215}"/>
              </a:ext>
            </a:extLst>
          </p:cNvPr>
          <p:cNvGraphicFramePr>
            <a:graphicFrameLocks/>
          </p:cNvGraphicFramePr>
          <p:nvPr>
            <p:extLst>
              <p:ext uri="{D42A27DB-BD31-4B8C-83A1-F6EECF244321}">
                <p14:modId xmlns:p14="http://schemas.microsoft.com/office/powerpoint/2010/main" val="4173845343"/>
              </p:ext>
            </p:extLst>
          </p:nvPr>
        </p:nvGraphicFramePr>
        <p:xfrm>
          <a:off x="6885320" y="748238"/>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5E6A32D0-8014-A9BA-46B0-C16D3EBC4F54}"/>
              </a:ext>
            </a:extLst>
          </p:cNvPr>
          <p:cNvPicPr>
            <a:picLocks noChangeAspect="1"/>
          </p:cNvPicPr>
          <p:nvPr/>
        </p:nvPicPr>
        <p:blipFill>
          <a:blip r:embed="rId2"/>
          <a:stretch>
            <a:fillRect/>
          </a:stretch>
        </p:blipFill>
        <p:spPr>
          <a:xfrm>
            <a:off x="7432237" y="3679131"/>
            <a:ext cx="2824644" cy="3179705"/>
          </a:xfrm>
          <a:prstGeom prst="rect">
            <a:avLst/>
          </a:prstGeom>
        </p:spPr>
      </p:pic>
      <p:sp>
        <p:nvSpPr>
          <p:cNvPr id="5" name="Rectangle 3">
            <a:extLst>
              <a:ext uri="{FF2B5EF4-FFF2-40B4-BE49-F238E27FC236}">
                <a16:creationId xmlns:a16="http://schemas.microsoft.com/office/drawing/2014/main" id="{7A936711-01DD-A2A4-C6E7-8F576EB0383D}"/>
              </a:ext>
            </a:extLst>
          </p:cNvPr>
          <p:cNvSpPr>
            <a:spLocks noChangeArrowheads="1"/>
          </p:cNvSpPr>
          <p:nvPr/>
        </p:nvSpPr>
        <p:spPr bwMode="auto">
          <a:xfrm>
            <a:off x="1360149" y="1433165"/>
            <a:ext cx="576000" cy="475200"/>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4">
            <a:extLst>
              <a:ext uri="{FF2B5EF4-FFF2-40B4-BE49-F238E27FC236}">
                <a16:creationId xmlns:a16="http://schemas.microsoft.com/office/drawing/2014/main" id="{D4C3F827-1EB9-381E-3F1C-91A6390B25E2}"/>
              </a:ext>
            </a:extLst>
          </p:cNvPr>
          <p:cNvGrpSpPr>
            <a:grpSpLocks/>
          </p:cNvGrpSpPr>
          <p:nvPr/>
        </p:nvGrpSpPr>
        <p:grpSpPr bwMode="auto">
          <a:xfrm>
            <a:off x="2045949" y="1128365"/>
            <a:ext cx="2168525" cy="1262063"/>
            <a:chOff x="624" y="720"/>
            <a:chExt cx="1366" cy="795"/>
          </a:xfrm>
        </p:grpSpPr>
        <p:grpSp>
          <p:nvGrpSpPr>
            <p:cNvPr id="7" name="Group 5">
              <a:extLst>
                <a:ext uri="{FF2B5EF4-FFF2-40B4-BE49-F238E27FC236}">
                  <a16:creationId xmlns:a16="http://schemas.microsoft.com/office/drawing/2014/main" id="{DA604FF6-544F-76C2-436E-9464C78B6CF4}"/>
                </a:ext>
              </a:extLst>
            </p:cNvPr>
            <p:cNvGrpSpPr>
              <a:grpSpLocks/>
            </p:cNvGrpSpPr>
            <p:nvPr/>
          </p:nvGrpSpPr>
          <p:grpSpPr bwMode="auto">
            <a:xfrm>
              <a:off x="864" y="720"/>
              <a:ext cx="1126" cy="795"/>
              <a:chOff x="480" y="2640"/>
              <a:chExt cx="1126" cy="795"/>
            </a:xfrm>
          </p:grpSpPr>
          <p:sp>
            <p:nvSpPr>
              <p:cNvPr id="9" name="Oval 6">
                <a:extLst>
                  <a:ext uri="{FF2B5EF4-FFF2-40B4-BE49-F238E27FC236}">
                    <a16:creationId xmlns:a16="http://schemas.microsoft.com/office/drawing/2014/main" id="{2A487ADB-EAD8-7F35-0559-A2259A19FDDB}"/>
                  </a:ext>
                </a:extLst>
              </p:cNvPr>
              <p:cNvSpPr>
                <a:spLocks noChangeArrowheads="1"/>
              </p:cNvSpPr>
              <p:nvPr/>
            </p:nvSpPr>
            <p:spPr bwMode="auto">
              <a:xfrm>
                <a:off x="807" y="2640"/>
                <a:ext cx="436" cy="272"/>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Refund</a:t>
                </a:r>
              </a:p>
            </p:txBody>
          </p:sp>
          <p:sp>
            <p:nvSpPr>
              <p:cNvPr id="10" name="Line 7">
                <a:extLst>
                  <a:ext uri="{FF2B5EF4-FFF2-40B4-BE49-F238E27FC236}">
                    <a16:creationId xmlns:a16="http://schemas.microsoft.com/office/drawing/2014/main" id="{1CE61578-D411-3F4C-76EC-1A540EDDF81A}"/>
                  </a:ext>
                </a:extLst>
              </p:cNvPr>
              <p:cNvSpPr>
                <a:spLocks noChangeShapeType="1"/>
              </p:cNvSpPr>
              <p:nvPr/>
            </p:nvSpPr>
            <p:spPr bwMode="auto">
              <a:xfrm flipH="1">
                <a:off x="661" y="2912"/>
                <a:ext cx="364"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8">
                <a:extLst>
                  <a:ext uri="{FF2B5EF4-FFF2-40B4-BE49-F238E27FC236}">
                    <a16:creationId xmlns:a16="http://schemas.microsoft.com/office/drawing/2014/main" id="{A19DBB6F-2798-EA7A-FCFF-6B15D0B2E3F0}"/>
                  </a:ext>
                </a:extLst>
              </p:cNvPr>
              <p:cNvSpPr>
                <a:spLocks noChangeShapeType="1"/>
              </p:cNvSpPr>
              <p:nvPr/>
            </p:nvSpPr>
            <p:spPr bwMode="auto">
              <a:xfrm>
                <a:off x="1025" y="2912"/>
                <a:ext cx="363"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Rectangle 9">
                <a:extLst>
                  <a:ext uri="{FF2B5EF4-FFF2-40B4-BE49-F238E27FC236}">
                    <a16:creationId xmlns:a16="http://schemas.microsoft.com/office/drawing/2014/main" id="{B87FB6C3-7A54-47B7-5F05-1CECBAC02C35}"/>
                  </a:ext>
                </a:extLst>
              </p:cNvPr>
              <p:cNvSpPr>
                <a:spLocks noChangeArrowheads="1"/>
              </p:cNvSpPr>
              <p:nvPr/>
            </p:nvSpPr>
            <p:spPr bwMode="auto">
              <a:xfrm>
                <a:off x="480" y="3136"/>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10">
                <a:extLst>
                  <a:ext uri="{FF2B5EF4-FFF2-40B4-BE49-F238E27FC236}">
                    <a16:creationId xmlns:a16="http://schemas.microsoft.com/office/drawing/2014/main" id="{495543EB-A625-AC13-0ED4-0A1304648962}"/>
                  </a:ext>
                </a:extLst>
              </p:cNvPr>
              <p:cNvSpPr>
                <a:spLocks noChangeArrowheads="1"/>
              </p:cNvSpPr>
              <p:nvPr/>
            </p:nvSpPr>
            <p:spPr bwMode="auto">
              <a:xfrm>
                <a:off x="1243" y="3136"/>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1">
                <a:extLst>
                  <a:ext uri="{FF2B5EF4-FFF2-40B4-BE49-F238E27FC236}">
                    <a16:creationId xmlns:a16="http://schemas.microsoft.com/office/drawing/2014/main" id="{3D272C9E-7250-EDC3-B18C-FA8FDD198A8C}"/>
                  </a:ext>
                </a:extLst>
              </p:cNvPr>
              <p:cNvSpPr txBox="1">
                <a:spLocks noChangeArrowheads="1"/>
              </p:cNvSpPr>
              <p:nvPr/>
            </p:nvSpPr>
            <p:spPr bwMode="auto">
              <a:xfrm>
                <a:off x="585" y="2868"/>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2">
                <a:extLst>
                  <a:ext uri="{FF2B5EF4-FFF2-40B4-BE49-F238E27FC236}">
                    <a16:creationId xmlns:a16="http://schemas.microsoft.com/office/drawing/2014/main" id="{3529013B-7761-293A-242E-8D204ABC2408}"/>
                  </a:ext>
                </a:extLst>
              </p:cNvPr>
              <p:cNvSpPr txBox="1">
                <a:spLocks noChangeArrowheads="1"/>
              </p:cNvSpPr>
              <p:nvPr/>
            </p:nvSpPr>
            <p:spPr bwMode="auto">
              <a:xfrm>
                <a:off x="1265" y="2868"/>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Line 13">
              <a:extLst>
                <a:ext uri="{FF2B5EF4-FFF2-40B4-BE49-F238E27FC236}">
                  <a16:creationId xmlns:a16="http://schemas.microsoft.com/office/drawing/2014/main" id="{46DE3B3B-E391-D411-F660-9613836ED44C}"/>
                </a:ext>
              </a:extLst>
            </p:cNvPr>
            <p:cNvSpPr>
              <a:spLocks noChangeShapeType="1"/>
            </p:cNvSpPr>
            <p:nvPr/>
          </p:nvSpPr>
          <p:spPr bwMode="auto">
            <a:xfrm flipV="1">
              <a:off x="624" y="1056"/>
              <a:ext cx="240" cy="0"/>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 name="Group 14">
            <a:extLst>
              <a:ext uri="{FF2B5EF4-FFF2-40B4-BE49-F238E27FC236}">
                <a16:creationId xmlns:a16="http://schemas.microsoft.com/office/drawing/2014/main" id="{3BECC00E-7C65-5034-02B4-95E2B45FA272}"/>
              </a:ext>
            </a:extLst>
          </p:cNvPr>
          <p:cNvGrpSpPr>
            <a:grpSpLocks/>
          </p:cNvGrpSpPr>
          <p:nvPr/>
        </p:nvGrpSpPr>
        <p:grpSpPr bwMode="auto">
          <a:xfrm>
            <a:off x="3345680" y="3092139"/>
            <a:ext cx="3328988" cy="3294063"/>
            <a:chOff x="1536" y="1920"/>
            <a:chExt cx="2097" cy="2075"/>
          </a:xfrm>
        </p:grpSpPr>
        <p:grpSp>
          <p:nvGrpSpPr>
            <p:cNvPr id="17" name="Group 15">
              <a:extLst>
                <a:ext uri="{FF2B5EF4-FFF2-40B4-BE49-F238E27FC236}">
                  <a16:creationId xmlns:a16="http://schemas.microsoft.com/office/drawing/2014/main" id="{610EF321-92B7-58A2-CCDE-0A7465BD97CD}"/>
                </a:ext>
              </a:extLst>
            </p:cNvPr>
            <p:cNvGrpSpPr>
              <a:grpSpLocks/>
            </p:cNvGrpSpPr>
            <p:nvPr/>
          </p:nvGrpSpPr>
          <p:grpSpPr bwMode="auto">
            <a:xfrm>
              <a:off x="1803" y="1920"/>
              <a:ext cx="1830" cy="2075"/>
              <a:chOff x="3819" y="1824"/>
              <a:chExt cx="1830" cy="2075"/>
            </a:xfrm>
          </p:grpSpPr>
          <p:sp>
            <p:nvSpPr>
              <p:cNvPr id="19" name="Oval 16">
                <a:extLst>
                  <a:ext uri="{FF2B5EF4-FFF2-40B4-BE49-F238E27FC236}">
                    <a16:creationId xmlns:a16="http://schemas.microsoft.com/office/drawing/2014/main" id="{8933DD4E-05E7-57D7-869B-8B6B5FBC23A9}"/>
                  </a:ext>
                </a:extLst>
              </p:cNvPr>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Line 17">
                <a:extLst>
                  <a:ext uri="{FF2B5EF4-FFF2-40B4-BE49-F238E27FC236}">
                    <a16:creationId xmlns:a16="http://schemas.microsoft.com/office/drawing/2014/main" id="{31D6BD6E-C958-CEAD-402C-DB4B508A07D5}"/>
                  </a:ext>
                </a:extLst>
              </p:cNvPr>
              <p:cNvSpPr>
                <a:spLocks noChangeShapeType="1"/>
              </p:cNvSpPr>
              <p:nvPr/>
            </p:nvSpPr>
            <p:spPr bwMode="auto">
              <a:xfrm flipH="1">
                <a:off x="4166" y="2107"/>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Line 18">
                <a:extLst>
                  <a:ext uri="{FF2B5EF4-FFF2-40B4-BE49-F238E27FC236}">
                    <a16:creationId xmlns:a16="http://schemas.microsoft.com/office/drawing/2014/main" id="{B4562125-E541-8F64-D628-108A75D8A257}"/>
                  </a:ext>
                </a:extLst>
              </p:cNvPr>
              <p:cNvSpPr>
                <a:spLocks noChangeShapeType="1"/>
              </p:cNvSpPr>
              <p:nvPr/>
            </p:nvSpPr>
            <p:spPr bwMode="auto">
              <a:xfrm>
                <a:off x="4530" y="2107"/>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Rectangle 19">
                <a:extLst>
                  <a:ext uri="{FF2B5EF4-FFF2-40B4-BE49-F238E27FC236}">
                    <a16:creationId xmlns:a16="http://schemas.microsoft.com/office/drawing/2014/main" id="{6A484E92-11BC-16DE-535C-462E08ADF93C}"/>
                  </a:ext>
                </a:extLst>
              </p:cNvPr>
              <p:cNvSpPr>
                <a:spLocks noChangeArrowheads="1"/>
              </p:cNvSpPr>
              <p:nvPr/>
            </p:nvSpPr>
            <p:spPr bwMode="auto">
              <a:xfrm>
                <a:off x="3984" y="2331"/>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20">
                <a:extLst>
                  <a:ext uri="{FF2B5EF4-FFF2-40B4-BE49-F238E27FC236}">
                    <a16:creationId xmlns:a16="http://schemas.microsoft.com/office/drawing/2014/main" id="{3F2F9F39-5B25-626B-311C-06A97614374B}"/>
                  </a:ext>
                </a:extLst>
              </p:cNvPr>
              <p:cNvSpPr txBox="1">
                <a:spLocks noChangeArrowheads="1"/>
              </p:cNvSpPr>
              <p:nvPr/>
            </p:nvSpPr>
            <p:spPr bwMode="auto">
              <a:xfrm>
                <a:off x="4089" y="2061"/>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21">
                <a:extLst>
                  <a:ext uri="{FF2B5EF4-FFF2-40B4-BE49-F238E27FC236}">
                    <a16:creationId xmlns:a16="http://schemas.microsoft.com/office/drawing/2014/main" id="{17311D2C-5575-C0B7-4547-920FED446878}"/>
                  </a:ext>
                </a:extLst>
              </p:cNvPr>
              <p:cNvSpPr txBox="1">
                <a:spLocks noChangeArrowheads="1"/>
              </p:cNvSpPr>
              <p:nvPr/>
            </p:nvSpPr>
            <p:spPr bwMode="auto">
              <a:xfrm>
                <a:off x="4770" y="2061"/>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val 22">
                <a:extLst>
                  <a:ext uri="{FF2B5EF4-FFF2-40B4-BE49-F238E27FC236}">
                    <a16:creationId xmlns:a16="http://schemas.microsoft.com/office/drawing/2014/main" id="{AE3D6F45-2684-0C88-2ABC-8B2E66266AB1}"/>
                  </a:ext>
                </a:extLst>
              </p:cNvPr>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23">
                <a:extLst>
                  <a:ext uri="{FF2B5EF4-FFF2-40B4-BE49-F238E27FC236}">
                    <a16:creationId xmlns:a16="http://schemas.microsoft.com/office/drawing/2014/main" id="{BF907B60-3D70-701F-C834-43466F5505F1}"/>
                  </a:ext>
                </a:extLst>
              </p:cNvPr>
              <p:cNvSpPr>
                <a:spLocks noChangeShapeType="1"/>
              </p:cNvSpPr>
              <p:nvPr/>
            </p:nvSpPr>
            <p:spPr bwMode="auto">
              <a:xfrm flipH="1">
                <a:off x="4464" y="2704"/>
                <a:ext cx="465"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24">
                <a:extLst>
                  <a:ext uri="{FF2B5EF4-FFF2-40B4-BE49-F238E27FC236}">
                    <a16:creationId xmlns:a16="http://schemas.microsoft.com/office/drawing/2014/main" id="{BCCA6507-9886-86FD-426D-A4DBCECAA052}"/>
                  </a:ext>
                </a:extLst>
              </p:cNvPr>
              <p:cNvSpPr>
                <a:spLocks noChangeShapeType="1"/>
              </p:cNvSpPr>
              <p:nvPr/>
            </p:nvSpPr>
            <p:spPr bwMode="auto">
              <a:xfrm>
                <a:off x="4929" y="2704"/>
                <a:ext cx="400" cy="2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25">
                <a:extLst>
                  <a:ext uri="{FF2B5EF4-FFF2-40B4-BE49-F238E27FC236}">
                    <a16:creationId xmlns:a16="http://schemas.microsoft.com/office/drawing/2014/main" id="{36358FA8-6720-B7A6-BBDC-32D08A8B1687}"/>
                  </a:ext>
                </a:extLst>
              </p:cNvPr>
              <p:cNvSpPr>
                <a:spLocks noChangeArrowheads="1"/>
              </p:cNvSpPr>
              <p:nvPr/>
            </p:nvSpPr>
            <p:spPr bwMode="auto">
              <a:xfrm>
                <a:off x="5148" y="296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26">
                <a:extLst>
                  <a:ext uri="{FF2B5EF4-FFF2-40B4-BE49-F238E27FC236}">
                    <a16:creationId xmlns:a16="http://schemas.microsoft.com/office/drawing/2014/main" id="{DF56BF9E-99C9-2444-EC62-3147D8A763E0}"/>
                  </a:ext>
                </a:extLst>
              </p:cNvPr>
              <p:cNvSpPr>
                <a:spLocks noChangeArrowheads="1"/>
              </p:cNvSpPr>
              <p:nvPr/>
            </p:nvSpPr>
            <p:spPr bwMode="auto">
              <a:xfrm>
                <a:off x="4704"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27">
                <a:extLst>
                  <a:ext uri="{FF2B5EF4-FFF2-40B4-BE49-F238E27FC236}">
                    <a16:creationId xmlns:a16="http://schemas.microsoft.com/office/drawing/2014/main" id="{8F859346-105C-8E21-D226-C856DC909D86}"/>
                  </a:ext>
                </a:extLst>
              </p:cNvPr>
              <p:cNvSpPr txBox="1">
                <a:spLocks noChangeArrowheads="1"/>
              </p:cNvSpPr>
              <p:nvPr/>
            </p:nvSpPr>
            <p:spPr bwMode="auto">
              <a:xfrm>
                <a:off x="4082" y="2619"/>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28">
                <a:extLst>
                  <a:ext uri="{FF2B5EF4-FFF2-40B4-BE49-F238E27FC236}">
                    <a16:creationId xmlns:a16="http://schemas.microsoft.com/office/drawing/2014/main" id="{44734740-9C42-BF20-389A-09FE77BC3FE8}"/>
                  </a:ext>
                </a:extLst>
              </p:cNvPr>
              <p:cNvSpPr txBox="1">
                <a:spLocks noChangeArrowheads="1"/>
              </p:cNvSpPr>
              <p:nvPr/>
            </p:nvSpPr>
            <p:spPr bwMode="auto">
              <a:xfrm>
                <a:off x="5124"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val 29">
                <a:extLst>
                  <a:ext uri="{FF2B5EF4-FFF2-40B4-BE49-F238E27FC236}">
                    <a16:creationId xmlns:a16="http://schemas.microsoft.com/office/drawing/2014/main" id="{8B64A939-CA4E-ACF0-8789-96BFF48EB15A}"/>
                  </a:ext>
                </a:extLst>
              </p:cNvPr>
              <p:cNvSpPr>
                <a:spLocks noChangeArrowheads="1"/>
              </p:cNvSpPr>
              <p:nvPr/>
            </p:nvSpPr>
            <p:spPr bwMode="auto">
              <a:xfrm>
                <a:off x="4080" y="2976"/>
                <a:ext cx="768" cy="384"/>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Taxable</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Income</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30">
                <a:extLst>
                  <a:ext uri="{FF2B5EF4-FFF2-40B4-BE49-F238E27FC236}">
                    <a16:creationId xmlns:a16="http://schemas.microsoft.com/office/drawing/2014/main" id="{8FC95317-FB6D-790A-DE34-9F47F78880D4}"/>
                  </a:ext>
                </a:extLst>
              </p:cNvPr>
              <p:cNvSpPr>
                <a:spLocks noChangeArrowheads="1"/>
              </p:cNvSpPr>
              <p:nvPr/>
            </p:nvSpPr>
            <p:spPr bwMode="auto">
              <a:xfrm>
                <a:off x="3840"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31">
                <a:extLst>
                  <a:ext uri="{FF2B5EF4-FFF2-40B4-BE49-F238E27FC236}">
                    <a16:creationId xmlns:a16="http://schemas.microsoft.com/office/drawing/2014/main" id="{251CD8F0-54A7-F95C-6C5A-F1EA07971237}"/>
                  </a:ext>
                </a:extLst>
              </p:cNvPr>
              <p:cNvSpPr>
                <a:spLocks noChangeShapeType="1"/>
              </p:cNvSpPr>
              <p:nvPr/>
            </p:nvSpPr>
            <p:spPr bwMode="auto">
              <a:xfrm flipH="1">
                <a:off x="4032"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32">
                <a:extLst>
                  <a:ext uri="{FF2B5EF4-FFF2-40B4-BE49-F238E27FC236}">
                    <a16:creationId xmlns:a16="http://schemas.microsoft.com/office/drawing/2014/main" id="{96C6819B-FD06-C054-9F84-1927A53162DA}"/>
                  </a:ext>
                </a:extLst>
              </p:cNvPr>
              <p:cNvSpPr>
                <a:spLocks noChangeShapeType="1"/>
              </p:cNvSpPr>
              <p:nvPr/>
            </p:nvSpPr>
            <p:spPr bwMode="auto">
              <a:xfrm>
                <a:off x="4464"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Text Box 33">
                <a:extLst>
                  <a:ext uri="{FF2B5EF4-FFF2-40B4-BE49-F238E27FC236}">
                    <a16:creationId xmlns:a16="http://schemas.microsoft.com/office/drawing/2014/main" id="{DAD302B4-1200-0908-CD9C-26C14BC7ECAB}"/>
                  </a:ext>
                </a:extLst>
              </p:cNvPr>
              <p:cNvSpPr txBox="1">
                <a:spLocks noChangeArrowheads="1"/>
              </p:cNvSpPr>
              <p:nvPr/>
            </p:nvSpPr>
            <p:spPr bwMode="auto">
              <a:xfrm>
                <a:off x="3819"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34">
                <a:extLst>
                  <a:ext uri="{FF2B5EF4-FFF2-40B4-BE49-F238E27FC236}">
                    <a16:creationId xmlns:a16="http://schemas.microsoft.com/office/drawing/2014/main" id="{BF5C3F38-3D88-BC02-BAB3-1138D72612C5}"/>
                  </a:ext>
                </a:extLst>
              </p:cNvPr>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Line 35">
              <a:extLst>
                <a:ext uri="{FF2B5EF4-FFF2-40B4-BE49-F238E27FC236}">
                  <a16:creationId xmlns:a16="http://schemas.microsoft.com/office/drawing/2014/main" id="{AB998F8A-D9E4-082E-C863-DB03CD1DEB8E}"/>
                </a:ext>
              </a:extLst>
            </p:cNvPr>
            <p:cNvSpPr>
              <a:spLocks noChangeShapeType="1"/>
            </p:cNvSpPr>
            <p:nvPr/>
          </p:nvSpPr>
          <p:spPr bwMode="auto">
            <a:xfrm rot="-2664477">
              <a:off x="1536" y="2400"/>
              <a:ext cx="192" cy="192"/>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8" name="Group 36">
            <a:extLst>
              <a:ext uri="{FF2B5EF4-FFF2-40B4-BE49-F238E27FC236}">
                <a16:creationId xmlns:a16="http://schemas.microsoft.com/office/drawing/2014/main" id="{7AFA2EC5-05AA-58FC-C48F-7C5790ED006C}"/>
              </a:ext>
            </a:extLst>
          </p:cNvPr>
          <p:cNvGrpSpPr>
            <a:grpSpLocks/>
          </p:cNvGrpSpPr>
          <p:nvPr/>
        </p:nvGrpSpPr>
        <p:grpSpPr bwMode="auto">
          <a:xfrm>
            <a:off x="1135880" y="2833377"/>
            <a:ext cx="2657475" cy="2620962"/>
            <a:chOff x="48" y="1757"/>
            <a:chExt cx="1674" cy="1651"/>
          </a:xfrm>
        </p:grpSpPr>
        <p:grpSp>
          <p:nvGrpSpPr>
            <p:cNvPr id="39" name="Group 37">
              <a:extLst>
                <a:ext uri="{FF2B5EF4-FFF2-40B4-BE49-F238E27FC236}">
                  <a16:creationId xmlns:a16="http://schemas.microsoft.com/office/drawing/2014/main" id="{A8AAE5ED-A9F0-ACE1-19F4-5DA5F0146A74}"/>
                </a:ext>
              </a:extLst>
            </p:cNvPr>
            <p:cNvGrpSpPr>
              <a:grpSpLocks/>
            </p:cNvGrpSpPr>
            <p:nvPr/>
          </p:nvGrpSpPr>
          <p:grpSpPr bwMode="auto">
            <a:xfrm>
              <a:off x="48" y="1968"/>
              <a:ext cx="1674" cy="1440"/>
              <a:chOff x="2016" y="1824"/>
              <a:chExt cx="1674" cy="1440"/>
            </a:xfrm>
          </p:grpSpPr>
          <p:grpSp>
            <p:nvGrpSpPr>
              <p:cNvPr id="41" name="Group 38">
                <a:extLst>
                  <a:ext uri="{FF2B5EF4-FFF2-40B4-BE49-F238E27FC236}">
                    <a16:creationId xmlns:a16="http://schemas.microsoft.com/office/drawing/2014/main" id="{2424007E-9F50-8C13-7D40-86BE4D1D165A}"/>
                  </a:ext>
                </a:extLst>
              </p:cNvPr>
              <p:cNvGrpSpPr>
                <a:grpSpLocks/>
              </p:cNvGrpSpPr>
              <p:nvPr/>
            </p:nvGrpSpPr>
            <p:grpSpPr bwMode="auto">
              <a:xfrm>
                <a:off x="2016" y="1824"/>
                <a:ext cx="1527" cy="1440"/>
                <a:chOff x="2016" y="1968"/>
                <a:chExt cx="1527" cy="1440"/>
              </a:xfrm>
            </p:grpSpPr>
            <p:sp>
              <p:nvSpPr>
                <p:cNvPr id="43" name="Oval 39">
                  <a:extLst>
                    <a:ext uri="{FF2B5EF4-FFF2-40B4-BE49-F238E27FC236}">
                      <a16:creationId xmlns:a16="http://schemas.microsoft.com/office/drawing/2014/main" id="{6CDD9944-A730-6F5B-7747-A846087795C3}"/>
                    </a:ext>
                  </a:extLst>
                </p:cNvPr>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40">
                  <a:extLst>
                    <a:ext uri="{FF2B5EF4-FFF2-40B4-BE49-F238E27FC236}">
                      <a16:creationId xmlns:a16="http://schemas.microsoft.com/office/drawing/2014/main" id="{83FF62A9-46F4-417D-92EF-03473CC5CA09}"/>
                    </a:ext>
                  </a:extLst>
                </p:cNvPr>
                <p:cNvSpPr>
                  <a:spLocks noChangeShapeType="1"/>
                </p:cNvSpPr>
                <p:nvPr/>
              </p:nvSpPr>
              <p:spPr bwMode="auto">
                <a:xfrm flipH="1">
                  <a:off x="2198" y="2251"/>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41">
                  <a:extLst>
                    <a:ext uri="{FF2B5EF4-FFF2-40B4-BE49-F238E27FC236}">
                      <a16:creationId xmlns:a16="http://schemas.microsoft.com/office/drawing/2014/main" id="{489AAE94-6DD1-1DFF-5035-78EB727AA878}"/>
                    </a:ext>
                  </a:extLst>
                </p:cNvPr>
                <p:cNvSpPr>
                  <a:spLocks noChangeShapeType="1"/>
                </p:cNvSpPr>
                <p:nvPr/>
              </p:nvSpPr>
              <p:spPr bwMode="auto">
                <a:xfrm>
                  <a:off x="2562" y="2251"/>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Rectangle 42">
                  <a:extLst>
                    <a:ext uri="{FF2B5EF4-FFF2-40B4-BE49-F238E27FC236}">
                      <a16:creationId xmlns:a16="http://schemas.microsoft.com/office/drawing/2014/main" id="{B5FE31CD-5C0D-FA66-3F8E-68617C253077}"/>
                    </a:ext>
                  </a:extLst>
                </p:cNvPr>
                <p:cNvSpPr>
                  <a:spLocks noChangeArrowheads="1"/>
                </p:cNvSpPr>
                <p:nvPr/>
              </p:nvSpPr>
              <p:spPr bwMode="auto">
                <a:xfrm>
                  <a:off x="2016" y="247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43">
                  <a:extLst>
                    <a:ext uri="{FF2B5EF4-FFF2-40B4-BE49-F238E27FC236}">
                      <a16:creationId xmlns:a16="http://schemas.microsoft.com/office/drawing/2014/main" id="{E703A528-92A2-4B00-93CA-96031DF34302}"/>
                    </a:ext>
                  </a:extLst>
                </p:cNvPr>
                <p:cNvSpPr txBox="1">
                  <a:spLocks noChangeArrowheads="1"/>
                </p:cNvSpPr>
                <p:nvPr/>
              </p:nvSpPr>
              <p:spPr bwMode="auto">
                <a:xfrm>
                  <a:off x="2121" y="2205"/>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44">
                  <a:extLst>
                    <a:ext uri="{FF2B5EF4-FFF2-40B4-BE49-F238E27FC236}">
                      <a16:creationId xmlns:a16="http://schemas.microsoft.com/office/drawing/2014/main" id="{686979B8-E3B8-7FD0-655E-DA554666970A}"/>
                    </a:ext>
                  </a:extLst>
                </p:cNvPr>
                <p:cNvSpPr txBox="1">
                  <a:spLocks noChangeArrowheads="1"/>
                </p:cNvSpPr>
                <p:nvPr/>
              </p:nvSpPr>
              <p:spPr bwMode="auto">
                <a:xfrm>
                  <a:off x="2802" y="2205"/>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val 45">
                  <a:extLst>
                    <a:ext uri="{FF2B5EF4-FFF2-40B4-BE49-F238E27FC236}">
                      <a16:creationId xmlns:a16="http://schemas.microsoft.com/office/drawing/2014/main" id="{C8DEB5DA-1163-5582-8B43-51C03CCA384F}"/>
                    </a:ext>
                  </a:extLst>
                </p:cNvPr>
                <p:cNvSpPr>
                  <a:spLocks noChangeArrowheads="1"/>
                </p:cNvSpPr>
                <p:nvPr/>
              </p:nvSpPr>
              <p:spPr bwMode="auto">
                <a:xfrm>
                  <a:off x="2671" y="2475"/>
                  <a:ext cx="545" cy="373"/>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Line 46">
                  <a:extLst>
                    <a:ext uri="{FF2B5EF4-FFF2-40B4-BE49-F238E27FC236}">
                      <a16:creationId xmlns:a16="http://schemas.microsoft.com/office/drawing/2014/main" id="{F981B5A1-5C40-1405-C0A6-8BFC3A4000AE}"/>
                    </a:ext>
                  </a:extLst>
                </p:cNvPr>
                <p:cNvSpPr>
                  <a:spLocks noChangeShapeType="1"/>
                </p:cNvSpPr>
                <p:nvPr/>
              </p:nvSpPr>
              <p:spPr bwMode="auto">
                <a:xfrm flipH="1">
                  <a:off x="2525" y="2848"/>
                  <a:ext cx="436"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Line 47">
                  <a:extLst>
                    <a:ext uri="{FF2B5EF4-FFF2-40B4-BE49-F238E27FC236}">
                      <a16:creationId xmlns:a16="http://schemas.microsoft.com/office/drawing/2014/main" id="{13FCBCA6-8572-E382-A2D7-68B23354E4D1}"/>
                    </a:ext>
                  </a:extLst>
                </p:cNvPr>
                <p:cNvSpPr>
                  <a:spLocks noChangeShapeType="1"/>
                </p:cNvSpPr>
                <p:nvPr/>
              </p:nvSpPr>
              <p:spPr bwMode="auto">
                <a:xfrm>
                  <a:off x="2961" y="2848"/>
                  <a:ext cx="400"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Rectangle 48">
                  <a:extLst>
                    <a:ext uri="{FF2B5EF4-FFF2-40B4-BE49-F238E27FC236}">
                      <a16:creationId xmlns:a16="http://schemas.microsoft.com/office/drawing/2014/main" id="{FCC34169-5C8F-C8E4-C75E-587B23F29C27}"/>
                    </a:ext>
                  </a:extLst>
                </p:cNvPr>
                <p:cNvSpPr>
                  <a:spLocks noChangeArrowheads="1"/>
                </p:cNvSpPr>
                <p:nvPr/>
              </p:nvSpPr>
              <p:spPr bwMode="auto">
                <a:xfrm>
                  <a:off x="3180" y="3109"/>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Rectangle 49">
                  <a:extLst>
                    <a:ext uri="{FF2B5EF4-FFF2-40B4-BE49-F238E27FC236}">
                      <a16:creationId xmlns:a16="http://schemas.microsoft.com/office/drawing/2014/main" id="{E6DA0A3B-7577-2A03-F53D-7DB0CAC784F4}"/>
                    </a:ext>
                  </a:extLst>
                </p:cNvPr>
                <p:cNvSpPr>
                  <a:spLocks noChangeArrowheads="1"/>
                </p:cNvSpPr>
                <p:nvPr/>
              </p:nvSpPr>
              <p:spPr bwMode="auto">
                <a:xfrm>
                  <a:off x="2343" y="3109"/>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Text Box 50">
                  <a:extLst>
                    <a:ext uri="{FF2B5EF4-FFF2-40B4-BE49-F238E27FC236}">
                      <a16:creationId xmlns:a16="http://schemas.microsoft.com/office/drawing/2014/main" id="{21A9ED3D-5732-D0BA-C1D5-F22FAB91B5EF}"/>
                    </a:ext>
                  </a:extLst>
                </p:cNvPr>
                <p:cNvSpPr txBox="1">
                  <a:spLocks noChangeArrowheads="1"/>
                </p:cNvSpPr>
                <p:nvPr/>
              </p:nvSpPr>
              <p:spPr bwMode="auto">
                <a:xfrm>
                  <a:off x="2114" y="2763"/>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2" name="Text Box 51">
                <a:extLst>
                  <a:ext uri="{FF2B5EF4-FFF2-40B4-BE49-F238E27FC236}">
                    <a16:creationId xmlns:a16="http://schemas.microsoft.com/office/drawing/2014/main" id="{F1F4E8C7-8DC4-3CBE-30B5-D63005D42754}"/>
                  </a:ext>
                </a:extLst>
              </p:cNvPr>
              <p:cNvSpPr txBox="1">
                <a:spLocks noChangeArrowheads="1"/>
              </p:cNvSpPr>
              <p:nvPr/>
            </p:nvSpPr>
            <p:spPr bwMode="auto">
              <a:xfrm>
                <a:off x="3165"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0" name="Line 52">
              <a:extLst>
                <a:ext uri="{FF2B5EF4-FFF2-40B4-BE49-F238E27FC236}">
                  <a16:creationId xmlns:a16="http://schemas.microsoft.com/office/drawing/2014/main" id="{1449A3A1-64BF-EFB3-3965-48C513CDDF32}"/>
                </a:ext>
              </a:extLst>
            </p:cNvPr>
            <p:cNvSpPr>
              <a:spLocks noChangeShapeType="1"/>
            </p:cNvSpPr>
            <p:nvPr/>
          </p:nvSpPr>
          <p:spPr bwMode="auto">
            <a:xfrm rot="-2664477" flipH="1" flipV="1">
              <a:off x="727" y="1757"/>
              <a:ext cx="402" cy="26"/>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5" name="矩形 54">
            <a:extLst>
              <a:ext uri="{FF2B5EF4-FFF2-40B4-BE49-F238E27FC236}">
                <a16:creationId xmlns:a16="http://schemas.microsoft.com/office/drawing/2014/main" id="{95B8197A-1DA4-C862-5ADF-507EBFEC99AF}"/>
              </a:ext>
            </a:extLst>
          </p:cNvPr>
          <p:cNvSpPr/>
          <p:nvPr/>
        </p:nvSpPr>
        <p:spPr bwMode="auto">
          <a:xfrm>
            <a:off x="1020900" y="3074638"/>
            <a:ext cx="2772000" cy="2478331"/>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 name="矩形 55">
            <a:extLst>
              <a:ext uri="{FF2B5EF4-FFF2-40B4-BE49-F238E27FC236}">
                <a16:creationId xmlns:a16="http://schemas.microsoft.com/office/drawing/2014/main" id="{91EA1005-7969-3062-6C2F-EFF92AED2FDF}"/>
              </a:ext>
            </a:extLst>
          </p:cNvPr>
          <p:cNvSpPr/>
          <p:nvPr/>
        </p:nvSpPr>
        <p:spPr bwMode="auto">
          <a:xfrm>
            <a:off x="6788921" y="1213743"/>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矩形 56">
            <a:extLst>
              <a:ext uri="{FF2B5EF4-FFF2-40B4-BE49-F238E27FC236}">
                <a16:creationId xmlns:a16="http://schemas.microsoft.com/office/drawing/2014/main" id="{E886671D-621D-9B6D-66C9-6B4AE7154FC5}"/>
              </a:ext>
            </a:extLst>
          </p:cNvPr>
          <p:cNvSpPr/>
          <p:nvPr/>
        </p:nvSpPr>
        <p:spPr bwMode="auto">
          <a:xfrm>
            <a:off x="6788921" y="1954523"/>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矩形 57">
            <a:extLst>
              <a:ext uri="{FF2B5EF4-FFF2-40B4-BE49-F238E27FC236}">
                <a16:creationId xmlns:a16="http://schemas.microsoft.com/office/drawing/2014/main" id="{35D23C9C-6582-1C05-F3C1-B79BB8BACAA8}"/>
              </a:ext>
            </a:extLst>
          </p:cNvPr>
          <p:cNvSpPr/>
          <p:nvPr/>
        </p:nvSpPr>
        <p:spPr bwMode="auto">
          <a:xfrm>
            <a:off x="6788921" y="2695303"/>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矩形 58">
            <a:extLst>
              <a:ext uri="{FF2B5EF4-FFF2-40B4-BE49-F238E27FC236}">
                <a16:creationId xmlns:a16="http://schemas.microsoft.com/office/drawing/2014/main" id="{5D38BD4A-E702-BFCC-37FF-DC0A158B5787}"/>
              </a:ext>
            </a:extLst>
          </p:cNvPr>
          <p:cNvSpPr/>
          <p:nvPr/>
        </p:nvSpPr>
        <p:spPr bwMode="auto">
          <a:xfrm>
            <a:off x="6788921" y="1468386"/>
            <a:ext cx="3672000" cy="252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0" name="矩形 59">
            <a:extLst>
              <a:ext uri="{FF2B5EF4-FFF2-40B4-BE49-F238E27FC236}">
                <a16:creationId xmlns:a16="http://schemas.microsoft.com/office/drawing/2014/main" id="{447CF62C-F357-0DEC-9540-6FEC47EF1CB3}"/>
              </a:ext>
            </a:extLst>
          </p:cNvPr>
          <p:cNvSpPr/>
          <p:nvPr/>
        </p:nvSpPr>
        <p:spPr bwMode="auto">
          <a:xfrm>
            <a:off x="6788921" y="3168342"/>
            <a:ext cx="3672000" cy="252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523807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CE1308-023E-F4F8-4EC6-EFFDE0FEBE25}"/>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9ACD4F5C-B5B4-A38C-0DA8-6E51DAB5465F}"/>
              </a:ext>
            </a:extLst>
          </p:cNvPr>
          <p:cNvGraphicFramePr>
            <a:graphicFrameLocks/>
          </p:cNvGraphicFramePr>
          <p:nvPr>
            <p:extLst>
              <p:ext uri="{D42A27DB-BD31-4B8C-83A1-F6EECF244321}">
                <p14:modId xmlns:p14="http://schemas.microsoft.com/office/powerpoint/2010/main" val="3317235675"/>
              </p:ext>
            </p:extLst>
          </p:nvPr>
        </p:nvGraphicFramePr>
        <p:xfrm>
          <a:off x="6769049" y="772810"/>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576BCE8D-C885-36D6-A3B1-A56B3AC63852}"/>
              </a:ext>
            </a:extLst>
          </p:cNvPr>
          <p:cNvPicPr>
            <a:picLocks noChangeAspect="1"/>
          </p:cNvPicPr>
          <p:nvPr/>
        </p:nvPicPr>
        <p:blipFill>
          <a:blip r:embed="rId2"/>
          <a:stretch>
            <a:fillRect/>
          </a:stretch>
        </p:blipFill>
        <p:spPr>
          <a:xfrm>
            <a:off x="7315966" y="3703703"/>
            <a:ext cx="2824644" cy="3179705"/>
          </a:xfrm>
          <a:prstGeom prst="rect">
            <a:avLst/>
          </a:prstGeom>
        </p:spPr>
      </p:pic>
      <p:sp>
        <p:nvSpPr>
          <p:cNvPr id="5" name="Rectangle 3">
            <a:extLst>
              <a:ext uri="{FF2B5EF4-FFF2-40B4-BE49-F238E27FC236}">
                <a16:creationId xmlns:a16="http://schemas.microsoft.com/office/drawing/2014/main" id="{BFD5C9C6-EBDE-5697-2209-E3667607FE1D}"/>
              </a:ext>
            </a:extLst>
          </p:cNvPr>
          <p:cNvSpPr>
            <a:spLocks noChangeArrowheads="1"/>
          </p:cNvSpPr>
          <p:nvPr/>
        </p:nvSpPr>
        <p:spPr bwMode="auto">
          <a:xfrm>
            <a:off x="1347832" y="1433165"/>
            <a:ext cx="576000" cy="475200"/>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4">
            <a:extLst>
              <a:ext uri="{FF2B5EF4-FFF2-40B4-BE49-F238E27FC236}">
                <a16:creationId xmlns:a16="http://schemas.microsoft.com/office/drawing/2014/main" id="{AE93D054-31AA-2D28-626D-371240048E64}"/>
              </a:ext>
            </a:extLst>
          </p:cNvPr>
          <p:cNvGrpSpPr>
            <a:grpSpLocks/>
          </p:cNvGrpSpPr>
          <p:nvPr/>
        </p:nvGrpSpPr>
        <p:grpSpPr bwMode="auto">
          <a:xfrm>
            <a:off x="2033632" y="1128365"/>
            <a:ext cx="2168525" cy="1262063"/>
            <a:chOff x="624" y="720"/>
            <a:chExt cx="1366" cy="795"/>
          </a:xfrm>
        </p:grpSpPr>
        <p:grpSp>
          <p:nvGrpSpPr>
            <p:cNvPr id="7" name="Group 5">
              <a:extLst>
                <a:ext uri="{FF2B5EF4-FFF2-40B4-BE49-F238E27FC236}">
                  <a16:creationId xmlns:a16="http://schemas.microsoft.com/office/drawing/2014/main" id="{8D0624B6-222A-016E-95E9-BBF3A61FEEB9}"/>
                </a:ext>
              </a:extLst>
            </p:cNvPr>
            <p:cNvGrpSpPr>
              <a:grpSpLocks/>
            </p:cNvGrpSpPr>
            <p:nvPr/>
          </p:nvGrpSpPr>
          <p:grpSpPr bwMode="auto">
            <a:xfrm>
              <a:off x="864" y="720"/>
              <a:ext cx="1126" cy="795"/>
              <a:chOff x="480" y="2640"/>
              <a:chExt cx="1126" cy="795"/>
            </a:xfrm>
          </p:grpSpPr>
          <p:sp>
            <p:nvSpPr>
              <p:cNvPr id="9" name="Oval 6">
                <a:extLst>
                  <a:ext uri="{FF2B5EF4-FFF2-40B4-BE49-F238E27FC236}">
                    <a16:creationId xmlns:a16="http://schemas.microsoft.com/office/drawing/2014/main" id="{C980ED4E-6EEB-4E5B-8EDE-85B94828764B}"/>
                  </a:ext>
                </a:extLst>
              </p:cNvPr>
              <p:cNvSpPr>
                <a:spLocks noChangeArrowheads="1"/>
              </p:cNvSpPr>
              <p:nvPr/>
            </p:nvSpPr>
            <p:spPr bwMode="auto">
              <a:xfrm>
                <a:off x="807" y="2640"/>
                <a:ext cx="436" cy="272"/>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Refund</a:t>
                </a:r>
              </a:p>
            </p:txBody>
          </p:sp>
          <p:sp>
            <p:nvSpPr>
              <p:cNvPr id="10" name="Line 7">
                <a:extLst>
                  <a:ext uri="{FF2B5EF4-FFF2-40B4-BE49-F238E27FC236}">
                    <a16:creationId xmlns:a16="http://schemas.microsoft.com/office/drawing/2014/main" id="{3DDC2643-E0CF-E565-7BE8-18DCC705335D}"/>
                  </a:ext>
                </a:extLst>
              </p:cNvPr>
              <p:cNvSpPr>
                <a:spLocks noChangeShapeType="1"/>
              </p:cNvSpPr>
              <p:nvPr/>
            </p:nvSpPr>
            <p:spPr bwMode="auto">
              <a:xfrm flipH="1">
                <a:off x="661" y="2912"/>
                <a:ext cx="364"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8">
                <a:extLst>
                  <a:ext uri="{FF2B5EF4-FFF2-40B4-BE49-F238E27FC236}">
                    <a16:creationId xmlns:a16="http://schemas.microsoft.com/office/drawing/2014/main" id="{19C5FCEE-1583-8F03-16D5-622B9E16464C}"/>
                  </a:ext>
                </a:extLst>
              </p:cNvPr>
              <p:cNvSpPr>
                <a:spLocks noChangeShapeType="1"/>
              </p:cNvSpPr>
              <p:nvPr/>
            </p:nvSpPr>
            <p:spPr bwMode="auto">
              <a:xfrm>
                <a:off x="1025" y="2912"/>
                <a:ext cx="363"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Rectangle 9">
                <a:extLst>
                  <a:ext uri="{FF2B5EF4-FFF2-40B4-BE49-F238E27FC236}">
                    <a16:creationId xmlns:a16="http://schemas.microsoft.com/office/drawing/2014/main" id="{0F1C8478-4472-93DF-BF8F-3855FE3E6561}"/>
                  </a:ext>
                </a:extLst>
              </p:cNvPr>
              <p:cNvSpPr>
                <a:spLocks noChangeArrowheads="1"/>
              </p:cNvSpPr>
              <p:nvPr/>
            </p:nvSpPr>
            <p:spPr bwMode="auto">
              <a:xfrm>
                <a:off x="480" y="3136"/>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10">
                <a:extLst>
                  <a:ext uri="{FF2B5EF4-FFF2-40B4-BE49-F238E27FC236}">
                    <a16:creationId xmlns:a16="http://schemas.microsoft.com/office/drawing/2014/main" id="{D854074F-7A9A-696E-183D-527D0BFA4B90}"/>
                  </a:ext>
                </a:extLst>
              </p:cNvPr>
              <p:cNvSpPr>
                <a:spLocks noChangeArrowheads="1"/>
              </p:cNvSpPr>
              <p:nvPr/>
            </p:nvSpPr>
            <p:spPr bwMode="auto">
              <a:xfrm>
                <a:off x="1243" y="3136"/>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1">
                <a:extLst>
                  <a:ext uri="{FF2B5EF4-FFF2-40B4-BE49-F238E27FC236}">
                    <a16:creationId xmlns:a16="http://schemas.microsoft.com/office/drawing/2014/main" id="{9DF9DD64-25C0-EF60-E2A7-71D1E7B0E853}"/>
                  </a:ext>
                </a:extLst>
              </p:cNvPr>
              <p:cNvSpPr txBox="1">
                <a:spLocks noChangeArrowheads="1"/>
              </p:cNvSpPr>
              <p:nvPr/>
            </p:nvSpPr>
            <p:spPr bwMode="auto">
              <a:xfrm>
                <a:off x="585" y="2868"/>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2">
                <a:extLst>
                  <a:ext uri="{FF2B5EF4-FFF2-40B4-BE49-F238E27FC236}">
                    <a16:creationId xmlns:a16="http://schemas.microsoft.com/office/drawing/2014/main" id="{18A6EC24-C4DD-814D-FA43-4B596E25E2A6}"/>
                  </a:ext>
                </a:extLst>
              </p:cNvPr>
              <p:cNvSpPr txBox="1">
                <a:spLocks noChangeArrowheads="1"/>
              </p:cNvSpPr>
              <p:nvPr/>
            </p:nvSpPr>
            <p:spPr bwMode="auto">
              <a:xfrm>
                <a:off x="1265" y="2868"/>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Line 13">
              <a:extLst>
                <a:ext uri="{FF2B5EF4-FFF2-40B4-BE49-F238E27FC236}">
                  <a16:creationId xmlns:a16="http://schemas.microsoft.com/office/drawing/2014/main" id="{5D2BF401-74F0-2421-E6CF-7FB662A1EAD3}"/>
                </a:ext>
              </a:extLst>
            </p:cNvPr>
            <p:cNvSpPr>
              <a:spLocks noChangeShapeType="1"/>
            </p:cNvSpPr>
            <p:nvPr/>
          </p:nvSpPr>
          <p:spPr bwMode="auto">
            <a:xfrm flipV="1">
              <a:off x="624" y="1056"/>
              <a:ext cx="240" cy="0"/>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 name="Group 14">
            <a:extLst>
              <a:ext uri="{FF2B5EF4-FFF2-40B4-BE49-F238E27FC236}">
                <a16:creationId xmlns:a16="http://schemas.microsoft.com/office/drawing/2014/main" id="{8F51DA2C-0F5C-EA05-B8A6-F6A577B95B25}"/>
              </a:ext>
            </a:extLst>
          </p:cNvPr>
          <p:cNvGrpSpPr>
            <a:grpSpLocks/>
          </p:cNvGrpSpPr>
          <p:nvPr/>
        </p:nvGrpSpPr>
        <p:grpSpPr bwMode="auto">
          <a:xfrm>
            <a:off x="3333363" y="3092139"/>
            <a:ext cx="3328988" cy="3294063"/>
            <a:chOff x="1536" y="1920"/>
            <a:chExt cx="2097" cy="2075"/>
          </a:xfrm>
        </p:grpSpPr>
        <p:grpSp>
          <p:nvGrpSpPr>
            <p:cNvPr id="17" name="Group 15">
              <a:extLst>
                <a:ext uri="{FF2B5EF4-FFF2-40B4-BE49-F238E27FC236}">
                  <a16:creationId xmlns:a16="http://schemas.microsoft.com/office/drawing/2014/main" id="{E613AF98-A2F7-46BA-C7E0-08C5A0526310}"/>
                </a:ext>
              </a:extLst>
            </p:cNvPr>
            <p:cNvGrpSpPr>
              <a:grpSpLocks/>
            </p:cNvGrpSpPr>
            <p:nvPr/>
          </p:nvGrpSpPr>
          <p:grpSpPr bwMode="auto">
            <a:xfrm>
              <a:off x="1803" y="1920"/>
              <a:ext cx="1830" cy="2075"/>
              <a:chOff x="3819" y="1824"/>
              <a:chExt cx="1830" cy="2075"/>
            </a:xfrm>
          </p:grpSpPr>
          <p:sp>
            <p:nvSpPr>
              <p:cNvPr id="19" name="Oval 16">
                <a:extLst>
                  <a:ext uri="{FF2B5EF4-FFF2-40B4-BE49-F238E27FC236}">
                    <a16:creationId xmlns:a16="http://schemas.microsoft.com/office/drawing/2014/main" id="{64BC35BF-FF10-28B0-F0AF-8A1248DA0769}"/>
                  </a:ext>
                </a:extLst>
              </p:cNvPr>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Line 17">
                <a:extLst>
                  <a:ext uri="{FF2B5EF4-FFF2-40B4-BE49-F238E27FC236}">
                    <a16:creationId xmlns:a16="http://schemas.microsoft.com/office/drawing/2014/main" id="{7C1F4C1F-5EE7-610F-F478-956E9D8EC1D3}"/>
                  </a:ext>
                </a:extLst>
              </p:cNvPr>
              <p:cNvSpPr>
                <a:spLocks noChangeShapeType="1"/>
              </p:cNvSpPr>
              <p:nvPr/>
            </p:nvSpPr>
            <p:spPr bwMode="auto">
              <a:xfrm flipH="1">
                <a:off x="4166" y="2107"/>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Line 18">
                <a:extLst>
                  <a:ext uri="{FF2B5EF4-FFF2-40B4-BE49-F238E27FC236}">
                    <a16:creationId xmlns:a16="http://schemas.microsoft.com/office/drawing/2014/main" id="{86ECB78E-A04E-B3EB-1A71-34B8B6B84267}"/>
                  </a:ext>
                </a:extLst>
              </p:cNvPr>
              <p:cNvSpPr>
                <a:spLocks noChangeShapeType="1"/>
              </p:cNvSpPr>
              <p:nvPr/>
            </p:nvSpPr>
            <p:spPr bwMode="auto">
              <a:xfrm>
                <a:off x="4530" y="2107"/>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Rectangle 19">
                <a:extLst>
                  <a:ext uri="{FF2B5EF4-FFF2-40B4-BE49-F238E27FC236}">
                    <a16:creationId xmlns:a16="http://schemas.microsoft.com/office/drawing/2014/main" id="{7C4EDA98-72CD-440F-5697-CE9B6C800196}"/>
                  </a:ext>
                </a:extLst>
              </p:cNvPr>
              <p:cNvSpPr>
                <a:spLocks noChangeArrowheads="1"/>
              </p:cNvSpPr>
              <p:nvPr/>
            </p:nvSpPr>
            <p:spPr bwMode="auto">
              <a:xfrm>
                <a:off x="3984" y="2331"/>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20">
                <a:extLst>
                  <a:ext uri="{FF2B5EF4-FFF2-40B4-BE49-F238E27FC236}">
                    <a16:creationId xmlns:a16="http://schemas.microsoft.com/office/drawing/2014/main" id="{ABE73A73-489F-549D-B419-D74AB89272C9}"/>
                  </a:ext>
                </a:extLst>
              </p:cNvPr>
              <p:cNvSpPr txBox="1">
                <a:spLocks noChangeArrowheads="1"/>
              </p:cNvSpPr>
              <p:nvPr/>
            </p:nvSpPr>
            <p:spPr bwMode="auto">
              <a:xfrm>
                <a:off x="4089" y="2061"/>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21">
                <a:extLst>
                  <a:ext uri="{FF2B5EF4-FFF2-40B4-BE49-F238E27FC236}">
                    <a16:creationId xmlns:a16="http://schemas.microsoft.com/office/drawing/2014/main" id="{94883CF6-6C38-67A5-A588-BFD043DF9936}"/>
                  </a:ext>
                </a:extLst>
              </p:cNvPr>
              <p:cNvSpPr txBox="1">
                <a:spLocks noChangeArrowheads="1"/>
              </p:cNvSpPr>
              <p:nvPr/>
            </p:nvSpPr>
            <p:spPr bwMode="auto">
              <a:xfrm>
                <a:off x="4770" y="2061"/>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val 22">
                <a:extLst>
                  <a:ext uri="{FF2B5EF4-FFF2-40B4-BE49-F238E27FC236}">
                    <a16:creationId xmlns:a16="http://schemas.microsoft.com/office/drawing/2014/main" id="{14B721D8-A1EB-DB4B-E738-3AE8A7EA2CA9}"/>
                  </a:ext>
                </a:extLst>
              </p:cNvPr>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23">
                <a:extLst>
                  <a:ext uri="{FF2B5EF4-FFF2-40B4-BE49-F238E27FC236}">
                    <a16:creationId xmlns:a16="http://schemas.microsoft.com/office/drawing/2014/main" id="{A3BEBB97-ACB8-8516-CADB-81E5BDB3366A}"/>
                  </a:ext>
                </a:extLst>
              </p:cNvPr>
              <p:cNvSpPr>
                <a:spLocks noChangeShapeType="1"/>
              </p:cNvSpPr>
              <p:nvPr/>
            </p:nvSpPr>
            <p:spPr bwMode="auto">
              <a:xfrm flipH="1">
                <a:off x="4464" y="2704"/>
                <a:ext cx="465"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24">
                <a:extLst>
                  <a:ext uri="{FF2B5EF4-FFF2-40B4-BE49-F238E27FC236}">
                    <a16:creationId xmlns:a16="http://schemas.microsoft.com/office/drawing/2014/main" id="{DB5E4417-4736-D86A-8A04-BC46DD99619B}"/>
                  </a:ext>
                </a:extLst>
              </p:cNvPr>
              <p:cNvSpPr>
                <a:spLocks noChangeShapeType="1"/>
              </p:cNvSpPr>
              <p:nvPr/>
            </p:nvSpPr>
            <p:spPr bwMode="auto">
              <a:xfrm>
                <a:off x="4929" y="2704"/>
                <a:ext cx="400" cy="2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25">
                <a:extLst>
                  <a:ext uri="{FF2B5EF4-FFF2-40B4-BE49-F238E27FC236}">
                    <a16:creationId xmlns:a16="http://schemas.microsoft.com/office/drawing/2014/main" id="{50ADC5DF-FC19-5B7E-5546-5073F48181AE}"/>
                  </a:ext>
                </a:extLst>
              </p:cNvPr>
              <p:cNvSpPr>
                <a:spLocks noChangeArrowheads="1"/>
              </p:cNvSpPr>
              <p:nvPr/>
            </p:nvSpPr>
            <p:spPr bwMode="auto">
              <a:xfrm>
                <a:off x="5148" y="296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26">
                <a:extLst>
                  <a:ext uri="{FF2B5EF4-FFF2-40B4-BE49-F238E27FC236}">
                    <a16:creationId xmlns:a16="http://schemas.microsoft.com/office/drawing/2014/main" id="{5F31FFB0-D5A9-9940-1059-7EE3480DA633}"/>
                  </a:ext>
                </a:extLst>
              </p:cNvPr>
              <p:cNvSpPr>
                <a:spLocks noChangeArrowheads="1"/>
              </p:cNvSpPr>
              <p:nvPr/>
            </p:nvSpPr>
            <p:spPr bwMode="auto">
              <a:xfrm>
                <a:off x="4704"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27">
                <a:extLst>
                  <a:ext uri="{FF2B5EF4-FFF2-40B4-BE49-F238E27FC236}">
                    <a16:creationId xmlns:a16="http://schemas.microsoft.com/office/drawing/2014/main" id="{010C358E-F84D-5A32-7708-4A5A4C1B3437}"/>
                  </a:ext>
                </a:extLst>
              </p:cNvPr>
              <p:cNvSpPr txBox="1">
                <a:spLocks noChangeArrowheads="1"/>
              </p:cNvSpPr>
              <p:nvPr/>
            </p:nvSpPr>
            <p:spPr bwMode="auto">
              <a:xfrm>
                <a:off x="4082" y="2619"/>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28">
                <a:extLst>
                  <a:ext uri="{FF2B5EF4-FFF2-40B4-BE49-F238E27FC236}">
                    <a16:creationId xmlns:a16="http://schemas.microsoft.com/office/drawing/2014/main" id="{217EEAB4-EE00-B0EA-A9E9-04B19A414EFA}"/>
                  </a:ext>
                </a:extLst>
              </p:cNvPr>
              <p:cNvSpPr txBox="1">
                <a:spLocks noChangeArrowheads="1"/>
              </p:cNvSpPr>
              <p:nvPr/>
            </p:nvSpPr>
            <p:spPr bwMode="auto">
              <a:xfrm>
                <a:off x="5124"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val 29">
                <a:extLst>
                  <a:ext uri="{FF2B5EF4-FFF2-40B4-BE49-F238E27FC236}">
                    <a16:creationId xmlns:a16="http://schemas.microsoft.com/office/drawing/2014/main" id="{0ED7BAF2-215E-639D-43E8-029E395527AA}"/>
                  </a:ext>
                </a:extLst>
              </p:cNvPr>
              <p:cNvSpPr>
                <a:spLocks noChangeArrowheads="1"/>
              </p:cNvSpPr>
              <p:nvPr/>
            </p:nvSpPr>
            <p:spPr bwMode="auto">
              <a:xfrm>
                <a:off x="4080" y="2976"/>
                <a:ext cx="768" cy="384"/>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Taxable</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Income</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30">
                <a:extLst>
                  <a:ext uri="{FF2B5EF4-FFF2-40B4-BE49-F238E27FC236}">
                    <a16:creationId xmlns:a16="http://schemas.microsoft.com/office/drawing/2014/main" id="{98007ED2-9064-4207-B886-08D23E55E523}"/>
                  </a:ext>
                </a:extLst>
              </p:cNvPr>
              <p:cNvSpPr>
                <a:spLocks noChangeArrowheads="1"/>
              </p:cNvSpPr>
              <p:nvPr/>
            </p:nvSpPr>
            <p:spPr bwMode="auto">
              <a:xfrm>
                <a:off x="3840"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31">
                <a:extLst>
                  <a:ext uri="{FF2B5EF4-FFF2-40B4-BE49-F238E27FC236}">
                    <a16:creationId xmlns:a16="http://schemas.microsoft.com/office/drawing/2014/main" id="{0D3E2D8D-05A7-CC1D-9CE7-A3219040BCEA}"/>
                  </a:ext>
                </a:extLst>
              </p:cNvPr>
              <p:cNvSpPr>
                <a:spLocks noChangeShapeType="1"/>
              </p:cNvSpPr>
              <p:nvPr/>
            </p:nvSpPr>
            <p:spPr bwMode="auto">
              <a:xfrm flipH="1">
                <a:off x="4032"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32">
                <a:extLst>
                  <a:ext uri="{FF2B5EF4-FFF2-40B4-BE49-F238E27FC236}">
                    <a16:creationId xmlns:a16="http://schemas.microsoft.com/office/drawing/2014/main" id="{BB799BD2-B68A-DDA9-E4A3-6A35352A2A5C}"/>
                  </a:ext>
                </a:extLst>
              </p:cNvPr>
              <p:cNvSpPr>
                <a:spLocks noChangeShapeType="1"/>
              </p:cNvSpPr>
              <p:nvPr/>
            </p:nvSpPr>
            <p:spPr bwMode="auto">
              <a:xfrm>
                <a:off x="4464"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Text Box 33">
                <a:extLst>
                  <a:ext uri="{FF2B5EF4-FFF2-40B4-BE49-F238E27FC236}">
                    <a16:creationId xmlns:a16="http://schemas.microsoft.com/office/drawing/2014/main" id="{0F0D5866-7E0E-DB28-CE04-69728C544754}"/>
                  </a:ext>
                </a:extLst>
              </p:cNvPr>
              <p:cNvSpPr txBox="1">
                <a:spLocks noChangeArrowheads="1"/>
              </p:cNvSpPr>
              <p:nvPr/>
            </p:nvSpPr>
            <p:spPr bwMode="auto">
              <a:xfrm>
                <a:off x="3819"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34">
                <a:extLst>
                  <a:ext uri="{FF2B5EF4-FFF2-40B4-BE49-F238E27FC236}">
                    <a16:creationId xmlns:a16="http://schemas.microsoft.com/office/drawing/2014/main" id="{B2EC45BE-BC25-64EF-F390-99FFEDF7E678}"/>
                  </a:ext>
                </a:extLst>
              </p:cNvPr>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Line 35">
              <a:extLst>
                <a:ext uri="{FF2B5EF4-FFF2-40B4-BE49-F238E27FC236}">
                  <a16:creationId xmlns:a16="http://schemas.microsoft.com/office/drawing/2014/main" id="{CC2B3697-4D18-EAB3-9999-6FA43F63E454}"/>
                </a:ext>
              </a:extLst>
            </p:cNvPr>
            <p:cNvSpPr>
              <a:spLocks noChangeShapeType="1"/>
            </p:cNvSpPr>
            <p:nvPr/>
          </p:nvSpPr>
          <p:spPr bwMode="auto">
            <a:xfrm rot="-2664477">
              <a:off x="1536" y="2400"/>
              <a:ext cx="192" cy="192"/>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8" name="Group 36">
            <a:extLst>
              <a:ext uri="{FF2B5EF4-FFF2-40B4-BE49-F238E27FC236}">
                <a16:creationId xmlns:a16="http://schemas.microsoft.com/office/drawing/2014/main" id="{36B00D33-4427-ED2F-37AF-1962492440FD}"/>
              </a:ext>
            </a:extLst>
          </p:cNvPr>
          <p:cNvGrpSpPr>
            <a:grpSpLocks/>
          </p:cNvGrpSpPr>
          <p:nvPr/>
        </p:nvGrpSpPr>
        <p:grpSpPr bwMode="auto">
          <a:xfrm>
            <a:off x="1123563" y="2833377"/>
            <a:ext cx="2657475" cy="2620962"/>
            <a:chOff x="48" y="1757"/>
            <a:chExt cx="1674" cy="1651"/>
          </a:xfrm>
        </p:grpSpPr>
        <p:grpSp>
          <p:nvGrpSpPr>
            <p:cNvPr id="39" name="Group 37">
              <a:extLst>
                <a:ext uri="{FF2B5EF4-FFF2-40B4-BE49-F238E27FC236}">
                  <a16:creationId xmlns:a16="http://schemas.microsoft.com/office/drawing/2014/main" id="{2266A55A-0DE3-46AD-131B-34AA6E585587}"/>
                </a:ext>
              </a:extLst>
            </p:cNvPr>
            <p:cNvGrpSpPr>
              <a:grpSpLocks/>
            </p:cNvGrpSpPr>
            <p:nvPr/>
          </p:nvGrpSpPr>
          <p:grpSpPr bwMode="auto">
            <a:xfrm>
              <a:off x="48" y="1968"/>
              <a:ext cx="1674" cy="1440"/>
              <a:chOff x="2016" y="1824"/>
              <a:chExt cx="1674" cy="1440"/>
            </a:xfrm>
          </p:grpSpPr>
          <p:grpSp>
            <p:nvGrpSpPr>
              <p:cNvPr id="41" name="Group 38">
                <a:extLst>
                  <a:ext uri="{FF2B5EF4-FFF2-40B4-BE49-F238E27FC236}">
                    <a16:creationId xmlns:a16="http://schemas.microsoft.com/office/drawing/2014/main" id="{F5D95205-4CD7-0FF7-8ED5-603B1D2A54D4}"/>
                  </a:ext>
                </a:extLst>
              </p:cNvPr>
              <p:cNvGrpSpPr>
                <a:grpSpLocks/>
              </p:cNvGrpSpPr>
              <p:nvPr/>
            </p:nvGrpSpPr>
            <p:grpSpPr bwMode="auto">
              <a:xfrm>
                <a:off x="2016" y="1824"/>
                <a:ext cx="1527" cy="1440"/>
                <a:chOff x="2016" y="1968"/>
                <a:chExt cx="1527" cy="1440"/>
              </a:xfrm>
            </p:grpSpPr>
            <p:sp>
              <p:nvSpPr>
                <p:cNvPr id="43" name="Oval 39">
                  <a:extLst>
                    <a:ext uri="{FF2B5EF4-FFF2-40B4-BE49-F238E27FC236}">
                      <a16:creationId xmlns:a16="http://schemas.microsoft.com/office/drawing/2014/main" id="{60A4C8C0-7AAF-B5EB-0B79-460FB88CE3FB}"/>
                    </a:ext>
                  </a:extLst>
                </p:cNvPr>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40">
                  <a:extLst>
                    <a:ext uri="{FF2B5EF4-FFF2-40B4-BE49-F238E27FC236}">
                      <a16:creationId xmlns:a16="http://schemas.microsoft.com/office/drawing/2014/main" id="{14765B9C-49A8-A490-2368-6B610263293C}"/>
                    </a:ext>
                  </a:extLst>
                </p:cNvPr>
                <p:cNvSpPr>
                  <a:spLocks noChangeShapeType="1"/>
                </p:cNvSpPr>
                <p:nvPr/>
              </p:nvSpPr>
              <p:spPr bwMode="auto">
                <a:xfrm flipH="1">
                  <a:off x="2198" y="2251"/>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41">
                  <a:extLst>
                    <a:ext uri="{FF2B5EF4-FFF2-40B4-BE49-F238E27FC236}">
                      <a16:creationId xmlns:a16="http://schemas.microsoft.com/office/drawing/2014/main" id="{CEE9B57E-8299-56DF-06EF-C49D174F928F}"/>
                    </a:ext>
                  </a:extLst>
                </p:cNvPr>
                <p:cNvSpPr>
                  <a:spLocks noChangeShapeType="1"/>
                </p:cNvSpPr>
                <p:nvPr/>
              </p:nvSpPr>
              <p:spPr bwMode="auto">
                <a:xfrm>
                  <a:off x="2562" y="2251"/>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Rectangle 42">
                  <a:extLst>
                    <a:ext uri="{FF2B5EF4-FFF2-40B4-BE49-F238E27FC236}">
                      <a16:creationId xmlns:a16="http://schemas.microsoft.com/office/drawing/2014/main" id="{03FB47EB-2A1A-55B8-F7EA-EABF7D3941E2}"/>
                    </a:ext>
                  </a:extLst>
                </p:cNvPr>
                <p:cNvSpPr>
                  <a:spLocks noChangeArrowheads="1"/>
                </p:cNvSpPr>
                <p:nvPr/>
              </p:nvSpPr>
              <p:spPr bwMode="auto">
                <a:xfrm>
                  <a:off x="2016" y="247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43">
                  <a:extLst>
                    <a:ext uri="{FF2B5EF4-FFF2-40B4-BE49-F238E27FC236}">
                      <a16:creationId xmlns:a16="http://schemas.microsoft.com/office/drawing/2014/main" id="{ECDD4A1F-B3F6-87D8-D525-D071725A2245}"/>
                    </a:ext>
                  </a:extLst>
                </p:cNvPr>
                <p:cNvSpPr txBox="1">
                  <a:spLocks noChangeArrowheads="1"/>
                </p:cNvSpPr>
                <p:nvPr/>
              </p:nvSpPr>
              <p:spPr bwMode="auto">
                <a:xfrm>
                  <a:off x="2121" y="2205"/>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44">
                  <a:extLst>
                    <a:ext uri="{FF2B5EF4-FFF2-40B4-BE49-F238E27FC236}">
                      <a16:creationId xmlns:a16="http://schemas.microsoft.com/office/drawing/2014/main" id="{D4F8BCE7-A477-4C33-FFE5-FA96A3FFC054}"/>
                    </a:ext>
                  </a:extLst>
                </p:cNvPr>
                <p:cNvSpPr txBox="1">
                  <a:spLocks noChangeArrowheads="1"/>
                </p:cNvSpPr>
                <p:nvPr/>
              </p:nvSpPr>
              <p:spPr bwMode="auto">
                <a:xfrm>
                  <a:off x="2802" y="2205"/>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val 45">
                  <a:extLst>
                    <a:ext uri="{FF2B5EF4-FFF2-40B4-BE49-F238E27FC236}">
                      <a16:creationId xmlns:a16="http://schemas.microsoft.com/office/drawing/2014/main" id="{246316EB-EFC1-CC01-F573-5679351030C2}"/>
                    </a:ext>
                  </a:extLst>
                </p:cNvPr>
                <p:cNvSpPr>
                  <a:spLocks noChangeArrowheads="1"/>
                </p:cNvSpPr>
                <p:nvPr/>
              </p:nvSpPr>
              <p:spPr bwMode="auto">
                <a:xfrm>
                  <a:off x="2671" y="2475"/>
                  <a:ext cx="545" cy="373"/>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Line 46">
                  <a:extLst>
                    <a:ext uri="{FF2B5EF4-FFF2-40B4-BE49-F238E27FC236}">
                      <a16:creationId xmlns:a16="http://schemas.microsoft.com/office/drawing/2014/main" id="{AF166D9D-CA68-2E65-C042-FF1D497B732A}"/>
                    </a:ext>
                  </a:extLst>
                </p:cNvPr>
                <p:cNvSpPr>
                  <a:spLocks noChangeShapeType="1"/>
                </p:cNvSpPr>
                <p:nvPr/>
              </p:nvSpPr>
              <p:spPr bwMode="auto">
                <a:xfrm flipH="1">
                  <a:off x="2525" y="2848"/>
                  <a:ext cx="436"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Line 47">
                  <a:extLst>
                    <a:ext uri="{FF2B5EF4-FFF2-40B4-BE49-F238E27FC236}">
                      <a16:creationId xmlns:a16="http://schemas.microsoft.com/office/drawing/2014/main" id="{E8152F8C-D5E4-4608-1FC1-60E97B642B0E}"/>
                    </a:ext>
                  </a:extLst>
                </p:cNvPr>
                <p:cNvSpPr>
                  <a:spLocks noChangeShapeType="1"/>
                </p:cNvSpPr>
                <p:nvPr/>
              </p:nvSpPr>
              <p:spPr bwMode="auto">
                <a:xfrm>
                  <a:off x="2961" y="2848"/>
                  <a:ext cx="400"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Rectangle 48">
                  <a:extLst>
                    <a:ext uri="{FF2B5EF4-FFF2-40B4-BE49-F238E27FC236}">
                      <a16:creationId xmlns:a16="http://schemas.microsoft.com/office/drawing/2014/main" id="{9D9D8DB0-3FAF-961D-E0CF-00ED0C7E6AEF}"/>
                    </a:ext>
                  </a:extLst>
                </p:cNvPr>
                <p:cNvSpPr>
                  <a:spLocks noChangeArrowheads="1"/>
                </p:cNvSpPr>
                <p:nvPr/>
              </p:nvSpPr>
              <p:spPr bwMode="auto">
                <a:xfrm>
                  <a:off x="3180" y="3109"/>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Rectangle 49">
                  <a:extLst>
                    <a:ext uri="{FF2B5EF4-FFF2-40B4-BE49-F238E27FC236}">
                      <a16:creationId xmlns:a16="http://schemas.microsoft.com/office/drawing/2014/main" id="{53EC1B36-519A-6FC6-1806-849C06265F1C}"/>
                    </a:ext>
                  </a:extLst>
                </p:cNvPr>
                <p:cNvSpPr>
                  <a:spLocks noChangeArrowheads="1"/>
                </p:cNvSpPr>
                <p:nvPr/>
              </p:nvSpPr>
              <p:spPr bwMode="auto">
                <a:xfrm>
                  <a:off x="2343" y="3109"/>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Text Box 50">
                  <a:extLst>
                    <a:ext uri="{FF2B5EF4-FFF2-40B4-BE49-F238E27FC236}">
                      <a16:creationId xmlns:a16="http://schemas.microsoft.com/office/drawing/2014/main" id="{B59D9C59-3922-CF5B-67AE-CD78C52F0300}"/>
                    </a:ext>
                  </a:extLst>
                </p:cNvPr>
                <p:cNvSpPr txBox="1">
                  <a:spLocks noChangeArrowheads="1"/>
                </p:cNvSpPr>
                <p:nvPr/>
              </p:nvSpPr>
              <p:spPr bwMode="auto">
                <a:xfrm>
                  <a:off x="2114" y="2763"/>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2" name="Text Box 51">
                <a:extLst>
                  <a:ext uri="{FF2B5EF4-FFF2-40B4-BE49-F238E27FC236}">
                    <a16:creationId xmlns:a16="http://schemas.microsoft.com/office/drawing/2014/main" id="{9D62069D-AB80-8267-35B1-7E4EEE5FF26E}"/>
                  </a:ext>
                </a:extLst>
              </p:cNvPr>
              <p:cNvSpPr txBox="1">
                <a:spLocks noChangeArrowheads="1"/>
              </p:cNvSpPr>
              <p:nvPr/>
            </p:nvSpPr>
            <p:spPr bwMode="auto">
              <a:xfrm>
                <a:off x="3165"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0" name="Line 52">
              <a:extLst>
                <a:ext uri="{FF2B5EF4-FFF2-40B4-BE49-F238E27FC236}">
                  <a16:creationId xmlns:a16="http://schemas.microsoft.com/office/drawing/2014/main" id="{6FB9C233-7A29-C5EC-A710-A1D0DDAD2927}"/>
                </a:ext>
              </a:extLst>
            </p:cNvPr>
            <p:cNvSpPr>
              <a:spLocks noChangeShapeType="1"/>
            </p:cNvSpPr>
            <p:nvPr/>
          </p:nvSpPr>
          <p:spPr bwMode="auto">
            <a:xfrm rot="-2664477" flipH="1" flipV="1">
              <a:off x="727" y="1757"/>
              <a:ext cx="402" cy="26"/>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5" name="矩形 54">
            <a:extLst>
              <a:ext uri="{FF2B5EF4-FFF2-40B4-BE49-F238E27FC236}">
                <a16:creationId xmlns:a16="http://schemas.microsoft.com/office/drawing/2014/main" id="{C5870F90-21DB-923E-2FEA-8AE6E005C0D8}"/>
              </a:ext>
            </a:extLst>
          </p:cNvPr>
          <p:cNvSpPr/>
          <p:nvPr/>
        </p:nvSpPr>
        <p:spPr bwMode="auto">
          <a:xfrm>
            <a:off x="1008583" y="3074638"/>
            <a:ext cx="2772000" cy="2478331"/>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 name="矩形 55">
            <a:extLst>
              <a:ext uri="{FF2B5EF4-FFF2-40B4-BE49-F238E27FC236}">
                <a16:creationId xmlns:a16="http://schemas.microsoft.com/office/drawing/2014/main" id="{DE4B9FD7-666D-AB5B-11F0-9743F47D1674}"/>
              </a:ext>
            </a:extLst>
          </p:cNvPr>
          <p:cNvSpPr/>
          <p:nvPr/>
        </p:nvSpPr>
        <p:spPr bwMode="auto">
          <a:xfrm>
            <a:off x="6672650" y="1238315"/>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矩形 56">
            <a:extLst>
              <a:ext uri="{FF2B5EF4-FFF2-40B4-BE49-F238E27FC236}">
                <a16:creationId xmlns:a16="http://schemas.microsoft.com/office/drawing/2014/main" id="{BCCDD87D-C820-FE26-462E-61FA80E198D3}"/>
              </a:ext>
            </a:extLst>
          </p:cNvPr>
          <p:cNvSpPr/>
          <p:nvPr/>
        </p:nvSpPr>
        <p:spPr bwMode="auto">
          <a:xfrm>
            <a:off x="6672650" y="1979095"/>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矩形 57">
            <a:extLst>
              <a:ext uri="{FF2B5EF4-FFF2-40B4-BE49-F238E27FC236}">
                <a16:creationId xmlns:a16="http://schemas.microsoft.com/office/drawing/2014/main" id="{FFA0A03B-75EC-4F1B-2D33-E857A27835AF}"/>
              </a:ext>
            </a:extLst>
          </p:cNvPr>
          <p:cNvSpPr/>
          <p:nvPr/>
        </p:nvSpPr>
        <p:spPr bwMode="auto">
          <a:xfrm>
            <a:off x="6672650" y="2719875"/>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矩形 58">
            <a:extLst>
              <a:ext uri="{FF2B5EF4-FFF2-40B4-BE49-F238E27FC236}">
                <a16:creationId xmlns:a16="http://schemas.microsoft.com/office/drawing/2014/main" id="{205D382A-F0E9-6363-A4C9-C57C9A9243E6}"/>
              </a:ext>
            </a:extLst>
          </p:cNvPr>
          <p:cNvSpPr/>
          <p:nvPr/>
        </p:nvSpPr>
        <p:spPr bwMode="auto">
          <a:xfrm>
            <a:off x="6672650" y="1492958"/>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0" name="矩形 59">
            <a:extLst>
              <a:ext uri="{FF2B5EF4-FFF2-40B4-BE49-F238E27FC236}">
                <a16:creationId xmlns:a16="http://schemas.microsoft.com/office/drawing/2014/main" id="{1041F89C-A469-E4CB-DC0A-945ABCBB72B0}"/>
              </a:ext>
            </a:extLst>
          </p:cNvPr>
          <p:cNvSpPr/>
          <p:nvPr/>
        </p:nvSpPr>
        <p:spPr bwMode="auto">
          <a:xfrm>
            <a:off x="6672650" y="3192914"/>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1" name="矩形 60">
            <a:extLst>
              <a:ext uri="{FF2B5EF4-FFF2-40B4-BE49-F238E27FC236}">
                <a16:creationId xmlns:a16="http://schemas.microsoft.com/office/drawing/2014/main" id="{47891850-F618-BA87-A6D2-AA44B941B2B3}"/>
              </a:ext>
            </a:extLst>
          </p:cNvPr>
          <p:cNvSpPr/>
          <p:nvPr/>
        </p:nvSpPr>
        <p:spPr bwMode="auto">
          <a:xfrm>
            <a:off x="7609654" y="5578385"/>
            <a:ext cx="2340000" cy="1260000"/>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49683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30A889-7D55-DC50-C52B-E88172E6E6D5}"/>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graphicFrame>
        <p:nvGraphicFramePr>
          <p:cNvPr id="3" name="Group 3">
            <a:extLst>
              <a:ext uri="{FF2B5EF4-FFF2-40B4-BE49-F238E27FC236}">
                <a16:creationId xmlns:a16="http://schemas.microsoft.com/office/drawing/2014/main" id="{74CB1653-6D3E-581C-D46B-BB3A80548645}"/>
              </a:ext>
            </a:extLst>
          </p:cNvPr>
          <p:cNvGraphicFramePr>
            <a:graphicFrameLocks/>
          </p:cNvGraphicFramePr>
          <p:nvPr>
            <p:extLst>
              <p:ext uri="{D42A27DB-BD31-4B8C-83A1-F6EECF244321}">
                <p14:modId xmlns:p14="http://schemas.microsoft.com/office/powerpoint/2010/main" val="1450569909"/>
              </p:ext>
            </p:extLst>
          </p:nvPr>
        </p:nvGraphicFramePr>
        <p:xfrm>
          <a:off x="6849008" y="747402"/>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4" name="图片 3">
            <a:extLst>
              <a:ext uri="{FF2B5EF4-FFF2-40B4-BE49-F238E27FC236}">
                <a16:creationId xmlns:a16="http://schemas.microsoft.com/office/drawing/2014/main" id="{A06D71F2-B412-5FB2-040E-124C197866F9}"/>
              </a:ext>
            </a:extLst>
          </p:cNvPr>
          <p:cNvPicPr>
            <a:picLocks noChangeAspect="1"/>
          </p:cNvPicPr>
          <p:nvPr/>
        </p:nvPicPr>
        <p:blipFill>
          <a:blip r:embed="rId2"/>
          <a:stretch>
            <a:fillRect/>
          </a:stretch>
        </p:blipFill>
        <p:spPr>
          <a:xfrm>
            <a:off x="7395925" y="3678295"/>
            <a:ext cx="2824644" cy="3179705"/>
          </a:xfrm>
          <a:prstGeom prst="rect">
            <a:avLst/>
          </a:prstGeom>
        </p:spPr>
      </p:pic>
      <p:sp>
        <p:nvSpPr>
          <p:cNvPr id="5" name="Rectangle 3">
            <a:extLst>
              <a:ext uri="{FF2B5EF4-FFF2-40B4-BE49-F238E27FC236}">
                <a16:creationId xmlns:a16="http://schemas.microsoft.com/office/drawing/2014/main" id="{A71F1DDB-A60B-B094-C1C9-15C4A1DEE0FD}"/>
              </a:ext>
            </a:extLst>
          </p:cNvPr>
          <p:cNvSpPr>
            <a:spLocks noChangeArrowheads="1"/>
          </p:cNvSpPr>
          <p:nvPr/>
        </p:nvSpPr>
        <p:spPr bwMode="auto">
          <a:xfrm>
            <a:off x="1360189" y="1433165"/>
            <a:ext cx="576000" cy="475200"/>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Group 4">
            <a:extLst>
              <a:ext uri="{FF2B5EF4-FFF2-40B4-BE49-F238E27FC236}">
                <a16:creationId xmlns:a16="http://schemas.microsoft.com/office/drawing/2014/main" id="{8B5DF3DB-AD9F-900C-3CD3-7B7ECE5882EA}"/>
              </a:ext>
            </a:extLst>
          </p:cNvPr>
          <p:cNvGrpSpPr>
            <a:grpSpLocks/>
          </p:cNvGrpSpPr>
          <p:nvPr/>
        </p:nvGrpSpPr>
        <p:grpSpPr bwMode="auto">
          <a:xfrm>
            <a:off x="2045989" y="1128365"/>
            <a:ext cx="2168525" cy="1262063"/>
            <a:chOff x="624" y="720"/>
            <a:chExt cx="1366" cy="795"/>
          </a:xfrm>
        </p:grpSpPr>
        <p:grpSp>
          <p:nvGrpSpPr>
            <p:cNvPr id="7" name="Group 5">
              <a:extLst>
                <a:ext uri="{FF2B5EF4-FFF2-40B4-BE49-F238E27FC236}">
                  <a16:creationId xmlns:a16="http://schemas.microsoft.com/office/drawing/2014/main" id="{C7D21B88-D9EC-976E-19C9-83D05975928D}"/>
                </a:ext>
              </a:extLst>
            </p:cNvPr>
            <p:cNvGrpSpPr>
              <a:grpSpLocks/>
            </p:cNvGrpSpPr>
            <p:nvPr/>
          </p:nvGrpSpPr>
          <p:grpSpPr bwMode="auto">
            <a:xfrm>
              <a:off x="864" y="720"/>
              <a:ext cx="1126" cy="795"/>
              <a:chOff x="480" y="2640"/>
              <a:chExt cx="1126" cy="795"/>
            </a:xfrm>
          </p:grpSpPr>
          <p:sp>
            <p:nvSpPr>
              <p:cNvPr id="9" name="Oval 6">
                <a:extLst>
                  <a:ext uri="{FF2B5EF4-FFF2-40B4-BE49-F238E27FC236}">
                    <a16:creationId xmlns:a16="http://schemas.microsoft.com/office/drawing/2014/main" id="{5C48419E-F4CB-D095-327F-66AE60B48F82}"/>
                  </a:ext>
                </a:extLst>
              </p:cNvPr>
              <p:cNvSpPr>
                <a:spLocks noChangeArrowheads="1"/>
              </p:cNvSpPr>
              <p:nvPr/>
            </p:nvSpPr>
            <p:spPr bwMode="auto">
              <a:xfrm>
                <a:off x="807" y="2640"/>
                <a:ext cx="436" cy="272"/>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Refund</a:t>
                </a:r>
              </a:p>
            </p:txBody>
          </p:sp>
          <p:sp>
            <p:nvSpPr>
              <p:cNvPr id="10" name="Line 7">
                <a:extLst>
                  <a:ext uri="{FF2B5EF4-FFF2-40B4-BE49-F238E27FC236}">
                    <a16:creationId xmlns:a16="http://schemas.microsoft.com/office/drawing/2014/main" id="{39070F95-5ADC-90B6-BD1C-E3DF48DA5A9F}"/>
                  </a:ext>
                </a:extLst>
              </p:cNvPr>
              <p:cNvSpPr>
                <a:spLocks noChangeShapeType="1"/>
              </p:cNvSpPr>
              <p:nvPr/>
            </p:nvSpPr>
            <p:spPr bwMode="auto">
              <a:xfrm flipH="1">
                <a:off x="661" y="2912"/>
                <a:ext cx="364"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8">
                <a:extLst>
                  <a:ext uri="{FF2B5EF4-FFF2-40B4-BE49-F238E27FC236}">
                    <a16:creationId xmlns:a16="http://schemas.microsoft.com/office/drawing/2014/main" id="{3F01DE7E-B07F-C0DC-9AC0-A1F8FACF4641}"/>
                  </a:ext>
                </a:extLst>
              </p:cNvPr>
              <p:cNvSpPr>
                <a:spLocks noChangeShapeType="1"/>
              </p:cNvSpPr>
              <p:nvPr/>
            </p:nvSpPr>
            <p:spPr bwMode="auto">
              <a:xfrm>
                <a:off x="1025" y="2912"/>
                <a:ext cx="363" cy="224"/>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Rectangle 9">
                <a:extLst>
                  <a:ext uri="{FF2B5EF4-FFF2-40B4-BE49-F238E27FC236}">
                    <a16:creationId xmlns:a16="http://schemas.microsoft.com/office/drawing/2014/main" id="{A3CEDE9E-3C63-28DA-EB59-55010E106D5E}"/>
                  </a:ext>
                </a:extLst>
              </p:cNvPr>
              <p:cNvSpPr>
                <a:spLocks noChangeArrowheads="1"/>
              </p:cNvSpPr>
              <p:nvPr/>
            </p:nvSpPr>
            <p:spPr bwMode="auto">
              <a:xfrm>
                <a:off x="480" y="3136"/>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10">
                <a:extLst>
                  <a:ext uri="{FF2B5EF4-FFF2-40B4-BE49-F238E27FC236}">
                    <a16:creationId xmlns:a16="http://schemas.microsoft.com/office/drawing/2014/main" id="{37CC9313-B439-E9E8-7B08-104D9D52FF38}"/>
                  </a:ext>
                </a:extLst>
              </p:cNvPr>
              <p:cNvSpPr>
                <a:spLocks noChangeArrowheads="1"/>
              </p:cNvSpPr>
              <p:nvPr/>
            </p:nvSpPr>
            <p:spPr bwMode="auto">
              <a:xfrm>
                <a:off x="1243" y="3136"/>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1">
                <a:extLst>
                  <a:ext uri="{FF2B5EF4-FFF2-40B4-BE49-F238E27FC236}">
                    <a16:creationId xmlns:a16="http://schemas.microsoft.com/office/drawing/2014/main" id="{8D77C93E-C256-DB63-462A-3F0B3E595052}"/>
                  </a:ext>
                </a:extLst>
              </p:cNvPr>
              <p:cNvSpPr txBox="1">
                <a:spLocks noChangeArrowheads="1"/>
              </p:cNvSpPr>
              <p:nvPr/>
            </p:nvSpPr>
            <p:spPr bwMode="auto">
              <a:xfrm>
                <a:off x="585" y="2868"/>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2">
                <a:extLst>
                  <a:ext uri="{FF2B5EF4-FFF2-40B4-BE49-F238E27FC236}">
                    <a16:creationId xmlns:a16="http://schemas.microsoft.com/office/drawing/2014/main" id="{0D38BC74-6539-A262-7BA5-CE01D33C6639}"/>
                  </a:ext>
                </a:extLst>
              </p:cNvPr>
              <p:cNvSpPr txBox="1">
                <a:spLocks noChangeArrowheads="1"/>
              </p:cNvSpPr>
              <p:nvPr/>
            </p:nvSpPr>
            <p:spPr bwMode="auto">
              <a:xfrm>
                <a:off x="1265" y="2868"/>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Line 13">
              <a:extLst>
                <a:ext uri="{FF2B5EF4-FFF2-40B4-BE49-F238E27FC236}">
                  <a16:creationId xmlns:a16="http://schemas.microsoft.com/office/drawing/2014/main" id="{949C1376-66AF-CF18-C81E-9403436F7061}"/>
                </a:ext>
              </a:extLst>
            </p:cNvPr>
            <p:cNvSpPr>
              <a:spLocks noChangeShapeType="1"/>
            </p:cNvSpPr>
            <p:nvPr/>
          </p:nvSpPr>
          <p:spPr bwMode="auto">
            <a:xfrm flipV="1">
              <a:off x="624" y="1056"/>
              <a:ext cx="240" cy="0"/>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 name="Group 14">
            <a:extLst>
              <a:ext uri="{FF2B5EF4-FFF2-40B4-BE49-F238E27FC236}">
                <a16:creationId xmlns:a16="http://schemas.microsoft.com/office/drawing/2014/main" id="{3B49A3D3-A3ED-8B9A-9C95-F8F00ACF3C92}"/>
              </a:ext>
            </a:extLst>
          </p:cNvPr>
          <p:cNvGrpSpPr>
            <a:grpSpLocks/>
          </p:cNvGrpSpPr>
          <p:nvPr/>
        </p:nvGrpSpPr>
        <p:grpSpPr bwMode="auto">
          <a:xfrm>
            <a:off x="3345720" y="3092139"/>
            <a:ext cx="3328988" cy="3294063"/>
            <a:chOff x="1536" y="1920"/>
            <a:chExt cx="2097" cy="2075"/>
          </a:xfrm>
        </p:grpSpPr>
        <p:grpSp>
          <p:nvGrpSpPr>
            <p:cNvPr id="17" name="Group 15">
              <a:extLst>
                <a:ext uri="{FF2B5EF4-FFF2-40B4-BE49-F238E27FC236}">
                  <a16:creationId xmlns:a16="http://schemas.microsoft.com/office/drawing/2014/main" id="{E4177408-BA4D-117B-AF26-361F82300EBD}"/>
                </a:ext>
              </a:extLst>
            </p:cNvPr>
            <p:cNvGrpSpPr>
              <a:grpSpLocks/>
            </p:cNvGrpSpPr>
            <p:nvPr/>
          </p:nvGrpSpPr>
          <p:grpSpPr bwMode="auto">
            <a:xfrm>
              <a:off x="1803" y="1920"/>
              <a:ext cx="1830" cy="2075"/>
              <a:chOff x="3819" y="1824"/>
              <a:chExt cx="1830" cy="2075"/>
            </a:xfrm>
          </p:grpSpPr>
          <p:sp>
            <p:nvSpPr>
              <p:cNvPr id="19" name="Oval 16">
                <a:extLst>
                  <a:ext uri="{FF2B5EF4-FFF2-40B4-BE49-F238E27FC236}">
                    <a16:creationId xmlns:a16="http://schemas.microsoft.com/office/drawing/2014/main" id="{F2837859-920E-9624-79AF-6D11B6995756}"/>
                  </a:ext>
                </a:extLst>
              </p:cNvPr>
              <p:cNvSpPr>
                <a:spLocks noChangeArrowheads="1"/>
              </p:cNvSpPr>
              <p:nvPr/>
            </p:nvSpPr>
            <p:spPr bwMode="auto">
              <a:xfrm>
                <a:off x="4311" y="1824"/>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Line 17">
                <a:extLst>
                  <a:ext uri="{FF2B5EF4-FFF2-40B4-BE49-F238E27FC236}">
                    <a16:creationId xmlns:a16="http://schemas.microsoft.com/office/drawing/2014/main" id="{5609C5BB-C7D8-3E1E-CC10-C415D31F3EC2}"/>
                  </a:ext>
                </a:extLst>
              </p:cNvPr>
              <p:cNvSpPr>
                <a:spLocks noChangeShapeType="1"/>
              </p:cNvSpPr>
              <p:nvPr/>
            </p:nvSpPr>
            <p:spPr bwMode="auto">
              <a:xfrm flipH="1">
                <a:off x="4166" y="2107"/>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Line 18">
                <a:extLst>
                  <a:ext uri="{FF2B5EF4-FFF2-40B4-BE49-F238E27FC236}">
                    <a16:creationId xmlns:a16="http://schemas.microsoft.com/office/drawing/2014/main" id="{470DD50D-E66C-589A-2F8B-A4103D356F29}"/>
                  </a:ext>
                </a:extLst>
              </p:cNvPr>
              <p:cNvSpPr>
                <a:spLocks noChangeShapeType="1"/>
              </p:cNvSpPr>
              <p:nvPr/>
            </p:nvSpPr>
            <p:spPr bwMode="auto">
              <a:xfrm>
                <a:off x="4530" y="2107"/>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Rectangle 19">
                <a:extLst>
                  <a:ext uri="{FF2B5EF4-FFF2-40B4-BE49-F238E27FC236}">
                    <a16:creationId xmlns:a16="http://schemas.microsoft.com/office/drawing/2014/main" id="{F71558EC-22D4-FD05-B794-CCD66E7C31EB}"/>
                  </a:ext>
                </a:extLst>
              </p:cNvPr>
              <p:cNvSpPr>
                <a:spLocks noChangeArrowheads="1"/>
              </p:cNvSpPr>
              <p:nvPr/>
            </p:nvSpPr>
            <p:spPr bwMode="auto">
              <a:xfrm>
                <a:off x="3984" y="2331"/>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20">
                <a:extLst>
                  <a:ext uri="{FF2B5EF4-FFF2-40B4-BE49-F238E27FC236}">
                    <a16:creationId xmlns:a16="http://schemas.microsoft.com/office/drawing/2014/main" id="{23F8DFE8-0597-BBF0-CA36-B00E5076CF3D}"/>
                  </a:ext>
                </a:extLst>
              </p:cNvPr>
              <p:cNvSpPr txBox="1">
                <a:spLocks noChangeArrowheads="1"/>
              </p:cNvSpPr>
              <p:nvPr/>
            </p:nvSpPr>
            <p:spPr bwMode="auto">
              <a:xfrm>
                <a:off x="4089" y="2061"/>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21">
                <a:extLst>
                  <a:ext uri="{FF2B5EF4-FFF2-40B4-BE49-F238E27FC236}">
                    <a16:creationId xmlns:a16="http://schemas.microsoft.com/office/drawing/2014/main" id="{06515159-9E3C-69F3-8C17-46D4718B6BEA}"/>
                  </a:ext>
                </a:extLst>
              </p:cNvPr>
              <p:cNvSpPr txBox="1">
                <a:spLocks noChangeArrowheads="1"/>
              </p:cNvSpPr>
              <p:nvPr/>
            </p:nvSpPr>
            <p:spPr bwMode="auto">
              <a:xfrm>
                <a:off x="4770" y="2061"/>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Oval 22">
                <a:extLst>
                  <a:ext uri="{FF2B5EF4-FFF2-40B4-BE49-F238E27FC236}">
                    <a16:creationId xmlns:a16="http://schemas.microsoft.com/office/drawing/2014/main" id="{620C70E5-F6E3-61D2-2662-B5EBD3343A4D}"/>
                  </a:ext>
                </a:extLst>
              </p:cNvPr>
              <p:cNvSpPr>
                <a:spLocks noChangeArrowheads="1"/>
              </p:cNvSpPr>
              <p:nvPr/>
            </p:nvSpPr>
            <p:spPr bwMode="auto">
              <a:xfrm>
                <a:off x="4639" y="2331"/>
                <a:ext cx="545" cy="37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23">
                <a:extLst>
                  <a:ext uri="{FF2B5EF4-FFF2-40B4-BE49-F238E27FC236}">
                    <a16:creationId xmlns:a16="http://schemas.microsoft.com/office/drawing/2014/main" id="{CFBC0930-75CF-417F-3065-7E3492EDABEB}"/>
                  </a:ext>
                </a:extLst>
              </p:cNvPr>
              <p:cNvSpPr>
                <a:spLocks noChangeShapeType="1"/>
              </p:cNvSpPr>
              <p:nvPr/>
            </p:nvSpPr>
            <p:spPr bwMode="auto">
              <a:xfrm flipH="1">
                <a:off x="4464" y="2704"/>
                <a:ext cx="465"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24">
                <a:extLst>
                  <a:ext uri="{FF2B5EF4-FFF2-40B4-BE49-F238E27FC236}">
                    <a16:creationId xmlns:a16="http://schemas.microsoft.com/office/drawing/2014/main" id="{5C90C723-5DD8-D192-B9F6-A63CB1293E10}"/>
                  </a:ext>
                </a:extLst>
              </p:cNvPr>
              <p:cNvSpPr>
                <a:spLocks noChangeShapeType="1"/>
              </p:cNvSpPr>
              <p:nvPr/>
            </p:nvSpPr>
            <p:spPr bwMode="auto">
              <a:xfrm>
                <a:off x="4929" y="2704"/>
                <a:ext cx="400" cy="2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25">
                <a:extLst>
                  <a:ext uri="{FF2B5EF4-FFF2-40B4-BE49-F238E27FC236}">
                    <a16:creationId xmlns:a16="http://schemas.microsoft.com/office/drawing/2014/main" id="{1FB33207-CA68-A3DE-8DF9-C9F0480CE4BF}"/>
                  </a:ext>
                </a:extLst>
              </p:cNvPr>
              <p:cNvSpPr>
                <a:spLocks noChangeArrowheads="1"/>
              </p:cNvSpPr>
              <p:nvPr/>
            </p:nvSpPr>
            <p:spPr bwMode="auto">
              <a:xfrm>
                <a:off x="5148" y="296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26">
                <a:extLst>
                  <a:ext uri="{FF2B5EF4-FFF2-40B4-BE49-F238E27FC236}">
                    <a16:creationId xmlns:a16="http://schemas.microsoft.com/office/drawing/2014/main" id="{98EF72B2-1037-5CB1-53C1-9FB3B598C068}"/>
                  </a:ext>
                </a:extLst>
              </p:cNvPr>
              <p:cNvSpPr>
                <a:spLocks noChangeArrowheads="1"/>
              </p:cNvSpPr>
              <p:nvPr/>
            </p:nvSpPr>
            <p:spPr bwMode="auto">
              <a:xfrm>
                <a:off x="4704"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27">
                <a:extLst>
                  <a:ext uri="{FF2B5EF4-FFF2-40B4-BE49-F238E27FC236}">
                    <a16:creationId xmlns:a16="http://schemas.microsoft.com/office/drawing/2014/main" id="{98B14881-2C5F-703A-62A9-ABD363F0AA57}"/>
                  </a:ext>
                </a:extLst>
              </p:cNvPr>
              <p:cNvSpPr txBox="1">
                <a:spLocks noChangeArrowheads="1"/>
              </p:cNvSpPr>
              <p:nvPr/>
            </p:nvSpPr>
            <p:spPr bwMode="auto">
              <a:xfrm>
                <a:off x="4082" y="2619"/>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 name="Text Box 28">
                <a:extLst>
                  <a:ext uri="{FF2B5EF4-FFF2-40B4-BE49-F238E27FC236}">
                    <a16:creationId xmlns:a16="http://schemas.microsoft.com/office/drawing/2014/main" id="{29D8CB5A-7071-7790-EA47-C034E321A0F5}"/>
                  </a:ext>
                </a:extLst>
              </p:cNvPr>
              <p:cNvSpPr txBox="1">
                <a:spLocks noChangeArrowheads="1"/>
              </p:cNvSpPr>
              <p:nvPr/>
            </p:nvSpPr>
            <p:spPr bwMode="auto">
              <a:xfrm>
                <a:off x="5124"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Oval 29">
                <a:extLst>
                  <a:ext uri="{FF2B5EF4-FFF2-40B4-BE49-F238E27FC236}">
                    <a16:creationId xmlns:a16="http://schemas.microsoft.com/office/drawing/2014/main" id="{AF0EBF57-CA5C-8B7C-C1D0-E8143A1E0E99}"/>
                  </a:ext>
                </a:extLst>
              </p:cNvPr>
              <p:cNvSpPr>
                <a:spLocks noChangeArrowheads="1"/>
              </p:cNvSpPr>
              <p:nvPr/>
            </p:nvSpPr>
            <p:spPr bwMode="auto">
              <a:xfrm>
                <a:off x="4080" y="2976"/>
                <a:ext cx="768" cy="384"/>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Taxable</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Income</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30">
                <a:extLst>
                  <a:ext uri="{FF2B5EF4-FFF2-40B4-BE49-F238E27FC236}">
                    <a16:creationId xmlns:a16="http://schemas.microsoft.com/office/drawing/2014/main" id="{2E05EF8C-DE03-6A3C-C646-51395E51C0DB}"/>
                  </a:ext>
                </a:extLst>
              </p:cNvPr>
              <p:cNvSpPr>
                <a:spLocks noChangeArrowheads="1"/>
              </p:cNvSpPr>
              <p:nvPr/>
            </p:nvSpPr>
            <p:spPr bwMode="auto">
              <a:xfrm>
                <a:off x="3840" y="3600"/>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31">
                <a:extLst>
                  <a:ext uri="{FF2B5EF4-FFF2-40B4-BE49-F238E27FC236}">
                    <a16:creationId xmlns:a16="http://schemas.microsoft.com/office/drawing/2014/main" id="{CF27CE3D-DCEC-9F55-F0D3-AAD0A106AAB5}"/>
                  </a:ext>
                </a:extLst>
              </p:cNvPr>
              <p:cNvSpPr>
                <a:spLocks noChangeShapeType="1"/>
              </p:cNvSpPr>
              <p:nvPr/>
            </p:nvSpPr>
            <p:spPr bwMode="auto">
              <a:xfrm flipH="1">
                <a:off x="4032"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32">
                <a:extLst>
                  <a:ext uri="{FF2B5EF4-FFF2-40B4-BE49-F238E27FC236}">
                    <a16:creationId xmlns:a16="http://schemas.microsoft.com/office/drawing/2014/main" id="{0602E5B1-505A-8F78-0681-245E1FEEF68B}"/>
                  </a:ext>
                </a:extLst>
              </p:cNvPr>
              <p:cNvSpPr>
                <a:spLocks noChangeShapeType="1"/>
              </p:cNvSpPr>
              <p:nvPr/>
            </p:nvSpPr>
            <p:spPr bwMode="auto">
              <a:xfrm>
                <a:off x="4464" y="3360"/>
                <a:ext cx="432" cy="240"/>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Text Box 33">
                <a:extLst>
                  <a:ext uri="{FF2B5EF4-FFF2-40B4-BE49-F238E27FC236}">
                    <a16:creationId xmlns:a16="http://schemas.microsoft.com/office/drawing/2014/main" id="{A6B4A0E2-D447-07F4-8FCB-166BBD3B35E1}"/>
                  </a:ext>
                </a:extLst>
              </p:cNvPr>
              <p:cNvSpPr txBox="1">
                <a:spLocks noChangeArrowheads="1"/>
              </p:cNvSpPr>
              <p:nvPr/>
            </p:nvSpPr>
            <p:spPr bwMode="auto">
              <a:xfrm>
                <a:off x="3819" y="3360"/>
                <a:ext cx="41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&lt;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34">
                <a:extLst>
                  <a:ext uri="{FF2B5EF4-FFF2-40B4-BE49-F238E27FC236}">
                    <a16:creationId xmlns:a16="http://schemas.microsoft.com/office/drawing/2014/main" id="{EA7A2506-1787-3E90-38D0-B9A347D21E61}"/>
                  </a:ext>
                </a:extLst>
              </p:cNvPr>
              <p:cNvSpPr txBox="1">
                <a:spLocks noChangeArrowheads="1"/>
              </p:cNvSpPr>
              <p:nvPr/>
            </p:nvSpPr>
            <p:spPr bwMode="auto">
              <a:xfrm>
                <a:off x="4704" y="3360"/>
                <a:ext cx="48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&gt;= 80K</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Line 35">
              <a:extLst>
                <a:ext uri="{FF2B5EF4-FFF2-40B4-BE49-F238E27FC236}">
                  <a16:creationId xmlns:a16="http://schemas.microsoft.com/office/drawing/2014/main" id="{23107A2A-C63C-3E5A-1A59-D4E5CC3A1986}"/>
                </a:ext>
              </a:extLst>
            </p:cNvPr>
            <p:cNvSpPr>
              <a:spLocks noChangeShapeType="1"/>
            </p:cNvSpPr>
            <p:nvPr/>
          </p:nvSpPr>
          <p:spPr bwMode="auto">
            <a:xfrm rot="-2664477">
              <a:off x="1536" y="2400"/>
              <a:ext cx="192" cy="192"/>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8" name="Group 36">
            <a:extLst>
              <a:ext uri="{FF2B5EF4-FFF2-40B4-BE49-F238E27FC236}">
                <a16:creationId xmlns:a16="http://schemas.microsoft.com/office/drawing/2014/main" id="{A53F2E90-7D65-4B93-5E91-FA3F0F2A0693}"/>
              </a:ext>
            </a:extLst>
          </p:cNvPr>
          <p:cNvGrpSpPr>
            <a:grpSpLocks/>
          </p:cNvGrpSpPr>
          <p:nvPr/>
        </p:nvGrpSpPr>
        <p:grpSpPr bwMode="auto">
          <a:xfrm>
            <a:off x="1135920" y="2833377"/>
            <a:ext cx="2657475" cy="2620962"/>
            <a:chOff x="48" y="1757"/>
            <a:chExt cx="1674" cy="1651"/>
          </a:xfrm>
        </p:grpSpPr>
        <p:grpSp>
          <p:nvGrpSpPr>
            <p:cNvPr id="39" name="Group 37">
              <a:extLst>
                <a:ext uri="{FF2B5EF4-FFF2-40B4-BE49-F238E27FC236}">
                  <a16:creationId xmlns:a16="http://schemas.microsoft.com/office/drawing/2014/main" id="{44E18CD6-8CA2-57C1-37AF-28A26FFC9EA3}"/>
                </a:ext>
              </a:extLst>
            </p:cNvPr>
            <p:cNvGrpSpPr>
              <a:grpSpLocks/>
            </p:cNvGrpSpPr>
            <p:nvPr/>
          </p:nvGrpSpPr>
          <p:grpSpPr bwMode="auto">
            <a:xfrm>
              <a:off x="48" y="1968"/>
              <a:ext cx="1674" cy="1440"/>
              <a:chOff x="2016" y="1824"/>
              <a:chExt cx="1674" cy="1440"/>
            </a:xfrm>
          </p:grpSpPr>
          <p:grpSp>
            <p:nvGrpSpPr>
              <p:cNvPr id="41" name="Group 38">
                <a:extLst>
                  <a:ext uri="{FF2B5EF4-FFF2-40B4-BE49-F238E27FC236}">
                    <a16:creationId xmlns:a16="http://schemas.microsoft.com/office/drawing/2014/main" id="{0D87875E-9385-6069-B08D-49D32359C19A}"/>
                  </a:ext>
                </a:extLst>
              </p:cNvPr>
              <p:cNvGrpSpPr>
                <a:grpSpLocks/>
              </p:cNvGrpSpPr>
              <p:nvPr/>
            </p:nvGrpSpPr>
            <p:grpSpPr bwMode="auto">
              <a:xfrm>
                <a:off x="2016" y="1824"/>
                <a:ext cx="1527" cy="1440"/>
                <a:chOff x="2016" y="1968"/>
                <a:chExt cx="1527" cy="1440"/>
              </a:xfrm>
            </p:grpSpPr>
            <p:sp>
              <p:nvSpPr>
                <p:cNvPr id="43" name="Oval 39">
                  <a:extLst>
                    <a:ext uri="{FF2B5EF4-FFF2-40B4-BE49-F238E27FC236}">
                      <a16:creationId xmlns:a16="http://schemas.microsoft.com/office/drawing/2014/main" id="{3D7F7237-489F-AE1E-092C-A02E11B931CF}"/>
                    </a:ext>
                  </a:extLst>
                </p:cNvPr>
                <p:cNvSpPr>
                  <a:spLocks noChangeArrowheads="1"/>
                </p:cNvSpPr>
                <p:nvPr/>
              </p:nvSpPr>
              <p:spPr bwMode="auto">
                <a:xfrm>
                  <a:off x="2343" y="1968"/>
                  <a:ext cx="437" cy="283"/>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Line 40">
                  <a:extLst>
                    <a:ext uri="{FF2B5EF4-FFF2-40B4-BE49-F238E27FC236}">
                      <a16:creationId xmlns:a16="http://schemas.microsoft.com/office/drawing/2014/main" id="{D9AA81FB-B03A-98BC-EA7D-F8039C9C3695}"/>
                    </a:ext>
                  </a:extLst>
                </p:cNvPr>
                <p:cNvSpPr>
                  <a:spLocks noChangeShapeType="1"/>
                </p:cNvSpPr>
                <p:nvPr/>
              </p:nvSpPr>
              <p:spPr bwMode="auto">
                <a:xfrm flipH="1">
                  <a:off x="2198" y="2251"/>
                  <a:ext cx="364"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5" name="Line 41">
                  <a:extLst>
                    <a:ext uri="{FF2B5EF4-FFF2-40B4-BE49-F238E27FC236}">
                      <a16:creationId xmlns:a16="http://schemas.microsoft.com/office/drawing/2014/main" id="{2D4C7E40-70DD-2947-3934-3B3C679CE5C5}"/>
                    </a:ext>
                  </a:extLst>
                </p:cNvPr>
                <p:cNvSpPr>
                  <a:spLocks noChangeShapeType="1"/>
                </p:cNvSpPr>
                <p:nvPr/>
              </p:nvSpPr>
              <p:spPr bwMode="auto">
                <a:xfrm>
                  <a:off x="2562" y="2251"/>
                  <a:ext cx="363"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6" name="Rectangle 42">
                  <a:extLst>
                    <a:ext uri="{FF2B5EF4-FFF2-40B4-BE49-F238E27FC236}">
                      <a16:creationId xmlns:a16="http://schemas.microsoft.com/office/drawing/2014/main" id="{C6FBA081-FF90-2464-D325-DA12448D5D76}"/>
                    </a:ext>
                  </a:extLst>
                </p:cNvPr>
                <p:cNvSpPr>
                  <a:spLocks noChangeArrowheads="1"/>
                </p:cNvSpPr>
                <p:nvPr/>
              </p:nvSpPr>
              <p:spPr bwMode="auto">
                <a:xfrm>
                  <a:off x="2016" y="2475"/>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7" name="Text Box 43">
                  <a:extLst>
                    <a:ext uri="{FF2B5EF4-FFF2-40B4-BE49-F238E27FC236}">
                      <a16:creationId xmlns:a16="http://schemas.microsoft.com/office/drawing/2014/main" id="{2FAAF463-D0F9-835D-4201-8E9AB0DCD1D1}"/>
                    </a:ext>
                  </a:extLst>
                </p:cNvPr>
                <p:cNvSpPr txBox="1">
                  <a:spLocks noChangeArrowheads="1"/>
                </p:cNvSpPr>
                <p:nvPr/>
              </p:nvSpPr>
              <p:spPr bwMode="auto">
                <a:xfrm>
                  <a:off x="2121" y="2205"/>
                  <a:ext cx="28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8" name="Text Box 44">
                  <a:extLst>
                    <a:ext uri="{FF2B5EF4-FFF2-40B4-BE49-F238E27FC236}">
                      <a16:creationId xmlns:a16="http://schemas.microsoft.com/office/drawing/2014/main" id="{4ABDF9C2-6F71-1E97-7DD3-D8E1971EFDB5}"/>
                    </a:ext>
                  </a:extLst>
                </p:cNvPr>
                <p:cNvSpPr txBox="1">
                  <a:spLocks noChangeArrowheads="1"/>
                </p:cNvSpPr>
                <p:nvPr/>
              </p:nvSpPr>
              <p:spPr bwMode="auto">
                <a:xfrm>
                  <a:off x="2802" y="2205"/>
                  <a:ext cx="2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9" name="Oval 45">
                  <a:extLst>
                    <a:ext uri="{FF2B5EF4-FFF2-40B4-BE49-F238E27FC236}">
                      <a16:creationId xmlns:a16="http://schemas.microsoft.com/office/drawing/2014/main" id="{E990AB2A-5D16-07C5-2CA5-F84D16706025}"/>
                    </a:ext>
                  </a:extLst>
                </p:cNvPr>
                <p:cNvSpPr>
                  <a:spLocks noChangeArrowheads="1"/>
                </p:cNvSpPr>
                <p:nvPr/>
              </p:nvSpPr>
              <p:spPr bwMode="auto">
                <a:xfrm>
                  <a:off x="2671" y="2475"/>
                  <a:ext cx="545" cy="373"/>
                </a:xfrm>
                <a:prstGeom prst="ellipse">
                  <a:avLst/>
                </a:prstGeom>
                <a:solidFill>
                  <a:schemeClr val="bg1">
                    <a:lumMod val="95000"/>
                  </a:schemeClr>
                </a:solidFill>
                <a:ln w="254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Marital</a:t>
                  </a:r>
                </a:p>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Status</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0" name="Line 46">
                  <a:extLst>
                    <a:ext uri="{FF2B5EF4-FFF2-40B4-BE49-F238E27FC236}">
                      <a16:creationId xmlns:a16="http://schemas.microsoft.com/office/drawing/2014/main" id="{36A208C6-FA93-B654-DD57-B7937E488FF2}"/>
                    </a:ext>
                  </a:extLst>
                </p:cNvPr>
                <p:cNvSpPr>
                  <a:spLocks noChangeShapeType="1"/>
                </p:cNvSpPr>
                <p:nvPr/>
              </p:nvSpPr>
              <p:spPr bwMode="auto">
                <a:xfrm flipH="1">
                  <a:off x="2525" y="2848"/>
                  <a:ext cx="436"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1" name="Line 47">
                  <a:extLst>
                    <a:ext uri="{FF2B5EF4-FFF2-40B4-BE49-F238E27FC236}">
                      <a16:creationId xmlns:a16="http://schemas.microsoft.com/office/drawing/2014/main" id="{99ED634F-E2BC-2DD6-1567-E757788349E3}"/>
                    </a:ext>
                  </a:extLst>
                </p:cNvPr>
                <p:cNvSpPr>
                  <a:spLocks noChangeShapeType="1"/>
                </p:cNvSpPr>
                <p:nvPr/>
              </p:nvSpPr>
              <p:spPr bwMode="auto">
                <a:xfrm>
                  <a:off x="2961" y="2848"/>
                  <a:ext cx="400" cy="261"/>
                </a:xfrm>
                <a:prstGeom prst="line">
                  <a:avLst/>
                </a:prstGeom>
                <a:noFill/>
                <a:ln w="25400">
                  <a:solidFill>
                    <a:srgbClr val="13548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2" name="Rectangle 48">
                  <a:extLst>
                    <a:ext uri="{FF2B5EF4-FFF2-40B4-BE49-F238E27FC236}">
                      <a16:creationId xmlns:a16="http://schemas.microsoft.com/office/drawing/2014/main" id="{92845B1B-5F17-D868-F470-D0D67D7B381A}"/>
                    </a:ext>
                  </a:extLst>
                </p:cNvPr>
                <p:cNvSpPr>
                  <a:spLocks noChangeArrowheads="1"/>
                </p:cNvSpPr>
                <p:nvPr/>
              </p:nvSpPr>
              <p:spPr bwMode="auto">
                <a:xfrm>
                  <a:off x="3180" y="3109"/>
                  <a:ext cx="363" cy="299"/>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Don’t </a:t>
                  </a:r>
                </a:p>
                <a:p>
                  <a:pPr algn="ctr">
                    <a:spcBef>
                      <a:spcPct val="0"/>
                    </a:spcBef>
                    <a:spcAft>
                      <a:spcPct val="0"/>
                    </a:spcAft>
                    <a:buClrTx/>
                    <a:buSzTx/>
                    <a:buFontTx/>
                    <a:buNone/>
                  </a:pPr>
                  <a:r>
                    <a:rPr lang="en-US" altLang="zh-CN" sz="1400" b="0">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Rectangle 49">
                  <a:extLst>
                    <a:ext uri="{FF2B5EF4-FFF2-40B4-BE49-F238E27FC236}">
                      <a16:creationId xmlns:a16="http://schemas.microsoft.com/office/drawing/2014/main" id="{80C3909F-7D6B-6E41-C5B9-FE7E66E6ED62}"/>
                    </a:ext>
                  </a:extLst>
                </p:cNvPr>
                <p:cNvSpPr>
                  <a:spLocks noChangeArrowheads="1"/>
                </p:cNvSpPr>
                <p:nvPr/>
              </p:nvSpPr>
              <p:spPr bwMode="auto">
                <a:xfrm>
                  <a:off x="2343" y="3109"/>
                  <a:ext cx="363" cy="299"/>
                </a:xfrm>
                <a:prstGeom prst="rect">
                  <a:avLst/>
                </a:prstGeom>
                <a:solidFill>
                  <a:schemeClr val="bg1">
                    <a:lumMod val="95000"/>
                  </a:schemeClr>
                </a:solidFill>
                <a:ln w="25400">
                  <a:solidFill>
                    <a:srgbClr val="13548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6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Cheat</a:t>
                  </a:r>
                  <a:endParaRPr lang="en-US" altLang="zh-CN" sz="2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Text Box 50">
                  <a:extLst>
                    <a:ext uri="{FF2B5EF4-FFF2-40B4-BE49-F238E27FC236}">
                      <a16:creationId xmlns:a16="http://schemas.microsoft.com/office/drawing/2014/main" id="{D74579D8-9B63-1777-87A4-1C242254D73E}"/>
                    </a:ext>
                  </a:extLst>
                </p:cNvPr>
                <p:cNvSpPr txBox="1">
                  <a:spLocks noChangeArrowheads="1"/>
                </p:cNvSpPr>
                <p:nvPr/>
              </p:nvSpPr>
              <p:spPr bwMode="auto">
                <a:xfrm>
                  <a:off x="2114" y="2763"/>
                  <a:ext cx="55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Single,</a:t>
                  </a:r>
                </a:p>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2" name="Text Box 51">
                <a:extLst>
                  <a:ext uri="{FF2B5EF4-FFF2-40B4-BE49-F238E27FC236}">
                    <a16:creationId xmlns:a16="http://schemas.microsoft.com/office/drawing/2014/main" id="{25A6416F-5C32-2667-43FC-BD524106A2FB}"/>
                  </a:ext>
                </a:extLst>
              </p:cNvPr>
              <p:cNvSpPr txBox="1">
                <a:spLocks noChangeArrowheads="1"/>
              </p:cNvSpPr>
              <p:nvPr/>
            </p:nvSpPr>
            <p:spPr bwMode="auto">
              <a:xfrm>
                <a:off x="3165" y="2687"/>
                <a:ext cx="52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Married</a:t>
                </a:r>
                <a:endParaRPr lang="en-US" altLang="zh-CN" sz="18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0" name="Line 52">
              <a:extLst>
                <a:ext uri="{FF2B5EF4-FFF2-40B4-BE49-F238E27FC236}">
                  <a16:creationId xmlns:a16="http://schemas.microsoft.com/office/drawing/2014/main" id="{58BB7F27-479B-4D89-287E-A92590556007}"/>
                </a:ext>
              </a:extLst>
            </p:cNvPr>
            <p:cNvSpPr>
              <a:spLocks noChangeShapeType="1"/>
            </p:cNvSpPr>
            <p:nvPr/>
          </p:nvSpPr>
          <p:spPr bwMode="auto">
            <a:xfrm rot="-2664477" flipH="1" flipV="1">
              <a:off x="727" y="1757"/>
              <a:ext cx="402" cy="26"/>
            </a:xfrm>
            <a:prstGeom prst="line">
              <a:avLst/>
            </a:prstGeom>
            <a:noFill/>
            <a:ln w="76200" cmpd="sng">
              <a:solidFill>
                <a:srgbClr val="FF6600"/>
              </a:solidFill>
              <a:bevel/>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56" name="矩形 55">
            <a:extLst>
              <a:ext uri="{FF2B5EF4-FFF2-40B4-BE49-F238E27FC236}">
                <a16:creationId xmlns:a16="http://schemas.microsoft.com/office/drawing/2014/main" id="{EB2889B0-06BA-A572-2698-ABE38055E7D5}"/>
              </a:ext>
            </a:extLst>
          </p:cNvPr>
          <p:cNvSpPr/>
          <p:nvPr/>
        </p:nvSpPr>
        <p:spPr bwMode="auto">
          <a:xfrm>
            <a:off x="6752609" y="121290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7" name="矩形 56">
            <a:extLst>
              <a:ext uri="{FF2B5EF4-FFF2-40B4-BE49-F238E27FC236}">
                <a16:creationId xmlns:a16="http://schemas.microsoft.com/office/drawing/2014/main" id="{75360AE6-5867-38BB-E5AA-F584EC50B951}"/>
              </a:ext>
            </a:extLst>
          </p:cNvPr>
          <p:cNvSpPr/>
          <p:nvPr/>
        </p:nvSpPr>
        <p:spPr bwMode="auto">
          <a:xfrm>
            <a:off x="6752609" y="195368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 name="矩形 57">
            <a:extLst>
              <a:ext uri="{FF2B5EF4-FFF2-40B4-BE49-F238E27FC236}">
                <a16:creationId xmlns:a16="http://schemas.microsoft.com/office/drawing/2014/main" id="{4AE5A2BF-77C2-1D94-F105-75CCAD53A3B2}"/>
              </a:ext>
            </a:extLst>
          </p:cNvPr>
          <p:cNvSpPr/>
          <p:nvPr/>
        </p:nvSpPr>
        <p:spPr bwMode="auto">
          <a:xfrm>
            <a:off x="6752609" y="2694467"/>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9" name="矩形 58">
            <a:extLst>
              <a:ext uri="{FF2B5EF4-FFF2-40B4-BE49-F238E27FC236}">
                <a16:creationId xmlns:a16="http://schemas.microsoft.com/office/drawing/2014/main" id="{6ACE23FA-C33D-A798-F022-7B1684538C21}"/>
              </a:ext>
            </a:extLst>
          </p:cNvPr>
          <p:cNvSpPr/>
          <p:nvPr/>
        </p:nvSpPr>
        <p:spPr bwMode="auto">
          <a:xfrm>
            <a:off x="6752609" y="1467550"/>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0" name="矩形 59">
            <a:extLst>
              <a:ext uri="{FF2B5EF4-FFF2-40B4-BE49-F238E27FC236}">
                <a16:creationId xmlns:a16="http://schemas.microsoft.com/office/drawing/2014/main" id="{6D1D2FF3-8395-9363-006B-12AFEEB9B47F}"/>
              </a:ext>
            </a:extLst>
          </p:cNvPr>
          <p:cNvSpPr/>
          <p:nvPr/>
        </p:nvSpPr>
        <p:spPr bwMode="auto">
          <a:xfrm>
            <a:off x="6752609" y="3167506"/>
            <a:ext cx="3672000" cy="252000"/>
          </a:xfrm>
          <a:prstGeom prst="rect">
            <a:avLst/>
          </a:prstGeom>
          <a:solidFill>
            <a:schemeClr val="accent6">
              <a:lumMod val="20000"/>
              <a:lumOff val="80000"/>
            </a:schemeClr>
          </a:solid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1" name="矩形 60">
            <a:extLst>
              <a:ext uri="{FF2B5EF4-FFF2-40B4-BE49-F238E27FC236}">
                <a16:creationId xmlns:a16="http://schemas.microsoft.com/office/drawing/2014/main" id="{184EBBC7-69CC-81B8-6CC0-57A947C22511}"/>
              </a:ext>
            </a:extLst>
          </p:cNvPr>
          <p:cNvSpPr/>
          <p:nvPr/>
        </p:nvSpPr>
        <p:spPr bwMode="auto">
          <a:xfrm>
            <a:off x="3701152" y="2915402"/>
            <a:ext cx="2875622" cy="3658394"/>
          </a:xfrm>
          <a:prstGeom prst="rect">
            <a:avLst/>
          </a:prstGeom>
          <a:noFill/>
          <a:ln w="19050"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9097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F7CCE-DA3B-8C39-BE07-F91F66ABF0BE}"/>
              </a:ext>
            </a:extLst>
          </p:cNvPr>
          <p:cNvSpPr>
            <a:spLocks noGrp="1"/>
          </p:cNvSpPr>
          <p:nvPr>
            <p:ph type="title"/>
          </p:nvPr>
        </p:nvSpPr>
        <p:spPr/>
        <p:txBody>
          <a:bodyPr>
            <a:normAutofit fontScale="90000"/>
          </a:bodyPr>
          <a:lstStyle/>
          <a:p>
            <a:r>
              <a:rPr kumimoji="1" lang="en-US" altLang="zh-CN" dirty="0"/>
              <a:t>Hunt</a:t>
            </a:r>
            <a:r>
              <a:rPr kumimoji="1" lang="zh-CN" altLang="en-US" dirty="0"/>
              <a:t>算法</a:t>
            </a:r>
          </a:p>
        </p:txBody>
      </p:sp>
      <p:sp>
        <p:nvSpPr>
          <p:cNvPr id="3" name="Rectangle 7">
            <a:extLst>
              <a:ext uri="{FF2B5EF4-FFF2-40B4-BE49-F238E27FC236}">
                <a16:creationId xmlns:a16="http://schemas.microsoft.com/office/drawing/2014/main" id="{4CA84B44-03E6-E6E5-1B3E-DFB8E2310658}"/>
              </a:ext>
            </a:extLst>
          </p:cNvPr>
          <p:cNvSpPr txBox="1">
            <a:spLocks noChangeArrowheads="1"/>
          </p:cNvSpPr>
          <p:nvPr/>
        </p:nvSpPr>
        <p:spPr>
          <a:xfrm>
            <a:off x="484959" y="1299697"/>
            <a:ext cx="10907969" cy="4048801"/>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Hunt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算法采用贪心策略构建决策树</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在选择划分数据的属性时，采取一系列局部最优决策来构造决策树。</a:t>
            </a:r>
            <a:endParaRPr lang="en-US" altLang="zh-CN"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决策树归纳的设计问题</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solidFill>
                  <a:srgbClr val="C00000"/>
                </a:solidFill>
                <a:latin typeface="Times New Roman" panose="02020603050405020304" pitchFamily="18" charset="0"/>
                <a:ea typeface="微软雅黑" panose="020B0503020204020204" pitchFamily="34" charset="-122"/>
                <a:cs typeface="+mn-ea"/>
                <a:sym typeface="Times New Roman" panose="02020603050405020304" pitchFamily="18" charset="0"/>
              </a:rPr>
              <a:t>如何分裂训练记录？</a:t>
            </a:r>
          </a:p>
          <a:p>
            <a:pPr lvl="2" fontAlgn="base">
              <a:lnSpc>
                <a:spcPct val="150000"/>
              </a:lnSpc>
              <a:spcBef>
                <a:spcPts val="600"/>
              </a:spcBef>
              <a:spcAft>
                <a:spcPct val="0"/>
              </a:spcAft>
              <a:buClr>
                <a:srgbClr val="FF6700"/>
              </a:buClr>
            </a:pPr>
            <a:r>
              <a:rPr lang="zh-CN" altLang="en-US" dirty="0">
                <a:solidFill>
                  <a:srgbClr val="C00000"/>
                </a:solidFill>
                <a:sym typeface="Times New Roman" panose="02020603050405020304" pitchFamily="18" charset="0"/>
              </a:rPr>
              <a:t>怎样为不同类型的属性指定测试条件？</a:t>
            </a:r>
            <a:endParaRPr lang="en-US" altLang="zh-CN" dirty="0">
              <a:solidFill>
                <a:srgbClr val="C00000"/>
              </a:solidFill>
              <a:sym typeface="Times New Roman" panose="02020603050405020304" pitchFamily="18" charset="0"/>
            </a:endParaRPr>
          </a:p>
          <a:p>
            <a:pPr lvl="2" fontAlgn="base">
              <a:lnSpc>
                <a:spcPct val="150000"/>
              </a:lnSpc>
              <a:spcBef>
                <a:spcPts val="600"/>
              </a:spcBef>
              <a:spcAft>
                <a:spcPct val="0"/>
              </a:spcAft>
              <a:buClr>
                <a:srgbClr val="FF6700"/>
              </a:buClr>
            </a:pPr>
            <a:r>
              <a:rPr lang="zh-CN" altLang="en-US" dirty="0">
                <a:sym typeface="Times New Roman" panose="02020603050405020304" pitchFamily="18" charset="0"/>
              </a:rPr>
              <a:t>怎样评估每种测试条件？</a:t>
            </a:r>
            <a:endParaRPr lang="en-US" altLang="zh-CN" dirty="0">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如何停止分裂过程？</a:t>
            </a:r>
          </a:p>
        </p:txBody>
      </p:sp>
    </p:spTree>
    <p:extLst>
      <p:ext uri="{BB962C8B-B14F-4D97-AF65-F5344CB8AC3E}">
        <p14:creationId xmlns:p14="http://schemas.microsoft.com/office/powerpoint/2010/main" val="3004899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4C140-D7C6-B112-88CC-E627CFAFAC66}"/>
              </a:ext>
            </a:extLst>
          </p:cNvPr>
          <p:cNvSpPr>
            <a:spLocks noGrp="1"/>
          </p:cNvSpPr>
          <p:nvPr>
            <p:ph type="title"/>
          </p:nvPr>
        </p:nvSpPr>
        <p:spPr/>
        <p:txBody>
          <a:bodyPr>
            <a:normAutofit fontScale="90000"/>
          </a:bodyPr>
          <a:lstStyle/>
          <a:p>
            <a:r>
              <a:rPr kumimoji="1" lang="zh-CN" altLang="en-US" dirty="0"/>
              <a:t>怎样为不同类型的属性指定测试条件</a:t>
            </a:r>
          </a:p>
        </p:txBody>
      </p:sp>
      <p:sp>
        <p:nvSpPr>
          <p:cNvPr id="3" name="Rectangle 3">
            <a:extLst>
              <a:ext uri="{FF2B5EF4-FFF2-40B4-BE49-F238E27FC236}">
                <a16:creationId xmlns:a16="http://schemas.microsoft.com/office/drawing/2014/main" id="{7F4CFE98-C7D7-A62F-5F73-BFC95E1C2671}"/>
              </a:ext>
            </a:extLst>
          </p:cNvPr>
          <p:cNvSpPr txBox="1">
            <a:spLocks noChangeArrowheads="1"/>
          </p:cNvSpPr>
          <p:nvPr/>
        </p:nvSpPr>
        <p:spPr>
          <a:xfrm>
            <a:off x="1191113" y="845250"/>
            <a:ext cx="3492001" cy="4141134"/>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依赖于属性的类型</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标称</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序数</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连续</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依赖于划分的路数</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多路划分</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二元划分</a:t>
            </a:r>
          </a:p>
        </p:txBody>
      </p:sp>
      <p:graphicFrame>
        <p:nvGraphicFramePr>
          <p:cNvPr id="4" name="Group 3">
            <a:extLst>
              <a:ext uri="{FF2B5EF4-FFF2-40B4-BE49-F238E27FC236}">
                <a16:creationId xmlns:a16="http://schemas.microsoft.com/office/drawing/2014/main" id="{D7B98DBD-484B-8178-D721-5120068DEE14}"/>
              </a:ext>
            </a:extLst>
          </p:cNvPr>
          <p:cNvGraphicFramePr>
            <a:graphicFrameLocks/>
          </p:cNvGraphicFramePr>
          <p:nvPr>
            <p:extLst>
              <p:ext uri="{D42A27DB-BD31-4B8C-83A1-F6EECF244321}">
                <p14:modId xmlns:p14="http://schemas.microsoft.com/office/powerpoint/2010/main" val="312707515"/>
              </p:ext>
            </p:extLst>
          </p:nvPr>
        </p:nvGraphicFramePr>
        <p:xfrm>
          <a:off x="6380245" y="851250"/>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grpSp>
        <p:nvGrpSpPr>
          <p:cNvPr id="5" name="组合 4">
            <a:extLst>
              <a:ext uri="{FF2B5EF4-FFF2-40B4-BE49-F238E27FC236}">
                <a16:creationId xmlns:a16="http://schemas.microsoft.com/office/drawing/2014/main" id="{5946619F-883B-3135-AFC6-B6AADF62B9E7}"/>
              </a:ext>
            </a:extLst>
          </p:cNvPr>
          <p:cNvGrpSpPr/>
          <p:nvPr/>
        </p:nvGrpSpPr>
        <p:grpSpPr>
          <a:xfrm>
            <a:off x="6120713" y="4058126"/>
            <a:ext cx="3865037" cy="2689225"/>
            <a:chOff x="4994538" y="2644775"/>
            <a:chExt cx="3865037" cy="2689225"/>
          </a:xfrm>
        </p:grpSpPr>
        <p:sp>
          <p:nvSpPr>
            <p:cNvPr id="6" name="Line 9">
              <a:extLst>
                <a:ext uri="{FF2B5EF4-FFF2-40B4-BE49-F238E27FC236}">
                  <a16:creationId xmlns:a16="http://schemas.microsoft.com/office/drawing/2014/main" id="{596BE384-2064-D29F-B081-515B4A7F1A30}"/>
                </a:ext>
              </a:extLst>
            </p:cNvPr>
            <p:cNvSpPr>
              <a:spLocks noChangeShapeType="1"/>
            </p:cNvSpPr>
            <p:nvPr/>
          </p:nvSpPr>
          <p:spPr bwMode="auto">
            <a:xfrm>
              <a:off x="7012250" y="4429125"/>
              <a:ext cx="242888"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Line 10">
              <a:extLst>
                <a:ext uri="{FF2B5EF4-FFF2-40B4-BE49-F238E27FC236}">
                  <a16:creationId xmlns:a16="http://schemas.microsoft.com/office/drawing/2014/main" id="{938BF777-9A47-315B-A1B2-A7BC63681D7B}"/>
                </a:ext>
              </a:extLst>
            </p:cNvPr>
            <p:cNvSpPr>
              <a:spLocks noChangeShapeType="1"/>
            </p:cNvSpPr>
            <p:nvPr/>
          </p:nvSpPr>
          <p:spPr bwMode="auto">
            <a:xfrm flipH="1">
              <a:off x="5881950" y="4429125"/>
              <a:ext cx="323850" cy="5270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Line 11">
              <a:extLst>
                <a:ext uri="{FF2B5EF4-FFF2-40B4-BE49-F238E27FC236}">
                  <a16:creationId xmlns:a16="http://schemas.microsoft.com/office/drawing/2014/main" id="{749B06AF-8C53-D5CE-2E61-C481A539835C}"/>
                </a:ext>
              </a:extLst>
            </p:cNvPr>
            <p:cNvSpPr>
              <a:spLocks noChangeShapeType="1"/>
            </p:cNvSpPr>
            <p:nvPr/>
          </p:nvSpPr>
          <p:spPr bwMode="auto">
            <a:xfrm flipH="1">
              <a:off x="6528063" y="3635375"/>
              <a:ext cx="403225"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Line 12">
              <a:extLst>
                <a:ext uri="{FF2B5EF4-FFF2-40B4-BE49-F238E27FC236}">
                  <a16:creationId xmlns:a16="http://schemas.microsoft.com/office/drawing/2014/main" id="{C5BE93B3-3397-D4BB-FD8C-AE6085B5EE85}"/>
                </a:ext>
              </a:extLst>
            </p:cNvPr>
            <p:cNvSpPr>
              <a:spLocks noChangeShapeType="1"/>
            </p:cNvSpPr>
            <p:nvPr/>
          </p:nvSpPr>
          <p:spPr bwMode="auto">
            <a:xfrm>
              <a:off x="7739325" y="3635375"/>
              <a:ext cx="484188" cy="52863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Line 13">
              <a:extLst>
                <a:ext uri="{FF2B5EF4-FFF2-40B4-BE49-F238E27FC236}">
                  <a16:creationId xmlns:a16="http://schemas.microsoft.com/office/drawing/2014/main" id="{C61C7305-F6C8-CC51-D185-C5D570A7975F}"/>
                </a:ext>
              </a:extLst>
            </p:cNvPr>
            <p:cNvSpPr>
              <a:spLocks noChangeShapeType="1"/>
            </p:cNvSpPr>
            <p:nvPr/>
          </p:nvSpPr>
          <p:spPr bwMode="auto">
            <a:xfrm>
              <a:off x="6689988" y="2908300"/>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Line 14">
              <a:extLst>
                <a:ext uri="{FF2B5EF4-FFF2-40B4-BE49-F238E27FC236}">
                  <a16:creationId xmlns:a16="http://schemas.microsoft.com/office/drawing/2014/main" id="{9814BAE9-79E2-7B7B-46E9-E6496F75D8DE}"/>
                </a:ext>
              </a:extLst>
            </p:cNvPr>
            <p:cNvSpPr>
              <a:spLocks noChangeShapeType="1"/>
            </p:cNvSpPr>
            <p:nvPr/>
          </p:nvSpPr>
          <p:spPr bwMode="auto">
            <a:xfrm flipH="1">
              <a:off x="5316800" y="2908300"/>
              <a:ext cx="565150" cy="46355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Text Box 15">
              <a:extLst>
                <a:ext uri="{FF2B5EF4-FFF2-40B4-BE49-F238E27FC236}">
                  <a16:creationId xmlns:a16="http://schemas.microsoft.com/office/drawing/2014/main" id="{CF536FB7-5D9B-C396-42A1-126169CCE465}"/>
                </a:ext>
              </a:extLst>
            </p:cNvPr>
            <p:cNvSpPr txBox="1">
              <a:spLocks noChangeArrowheads="1"/>
            </p:cNvSpPr>
            <p:nvPr/>
          </p:nvSpPr>
          <p:spPr bwMode="auto">
            <a:xfrm>
              <a:off x="5834325" y="2644775"/>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Refund</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Text Box 16">
              <a:extLst>
                <a:ext uri="{FF2B5EF4-FFF2-40B4-BE49-F238E27FC236}">
                  <a16:creationId xmlns:a16="http://schemas.microsoft.com/office/drawing/2014/main" id="{4E78CC60-F390-80ED-7519-8F2C6E03DFAA}"/>
                </a:ext>
              </a:extLst>
            </p:cNvPr>
            <p:cNvSpPr txBox="1">
              <a:spLocks noChangeArrowheads="1"/>
            </p:cNvSpPr>
            <p:nvPr/>
          </p:nvSpPr>
          <p:spPr bwMode="auto">
            <a:xfrm>
              <a:off x="6850325" y="3371850"/>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MarSt</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17">
              <a:extLst>
                <a:ext uri="{FF2B5EF4-FFF2-40B4-BE49-F238E27FC236}">
                  <a16:creationId xmlns:a16="http://schemas.microsoft.com/office/drawing/2014/main" id="{7F4533F5-27F0-1CA1-78F1-1C9E8C8635B4}"/>
                </a:ext>
              </a:extLst>
            </p:cNvPr>
            <p:cNvSpPr txBox="1">
              <a:spLocks noChangeArrowheads="1"/>
            </p:cNvSpPr>
            <p:nvPr/>
          </p:nvSpPr>
          <p:spPr bwMode="auto">
            <a:xfrm>
              <a:off x="6124838" y="4164013"/>
              <a:ext cx="936000" cy="338554"/>
            </a:xfrm>
            <a:prstGeom prst="rect">
              <a:avLst/>
            </a:prstGeom>
            <a:solidFill>
              <a:schemeClr val="accent6">
                <a:lumMod val="20000"/>
                <a:lumOff val="80000"/>
              </a:schemeClr>
            </a:solidFill>
            <a:ln w="12700">
              <a:solidFill>
                <a:srgbClr val="FF6600"/>
              </a:solidFill>
              <a:miter lim="800000"/>
              <a:headEnd/>
              <a:tailEnd/>
            </a:ln>
            <a:effectLst/>
          </p:spPr>
          <p:txBody>
            <a:bodyPr>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TaxInc</a:t>
              </a:r>
              <a:endParaRPr lang="en-US" altLang="zh-CN" sz="1600" b="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AutoShape 18">
              <a:extLst>
                <a:ext uri="{FF2B5EF4-FFF2-40B4-BE49-F238E27FC236}">
                  <a16:creationId xmlns:a16="http://schemas.microsoft.com/office/drawing/2014/main" id="{EFC95FD6-C507-66D3-EDE0-81D8BB18EF9D}"/>
                </a:ext>
              </a:extLst>
            </p:cNvPr>
            <p:cNvSpPr>
              <a:spLocks noChangeArrowheads="1"/>
            </p:cNvSpPr>
            <p:nvPr/>
          </p:nvSpPr>
          <p:spPr bwMode="auto">
            <a:xfrm>
              <a:off x="6892685" y="4953000"/>
              <a:ext cx="720000" cy="366713"/>
            </a:xfrm>
            <a:prstGeom prst="roundRect">
              <a:avLst>
                <a:gd name="adj" fmla="val 16769"/>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AutoShape 20">
              <a:extLst>
                <a:ext uri="{FF2B5EF4-FFF2-40B4-BE49-F238E27FC236}">
                  <a16:creationId xmlns:a16="http://schemas.microsoft.com/office/drawing/2014/main" id="{BD92EEBE-73F0-3F1E-B287-0632CE556179}"/>
                </a:ext>
              </a:extLst>
            </p:cNvPr>
            <p:cNvSpPr>
              <a:spLocks noChangeArrowheads="1"/>
            </p:cNvSpPr>
            <p:nvPr/>
          </p:nvSpPr>
          <p:spPr bwMode="auto">
            <a:xfrm>
              <a:off x="5559688" y="4970463"/>
              <a:ext cx="720000" cy="363537"/>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AutoShape 22">
              <a:extLst>
                <a:ext uri="{FF2B5EF4-FFF2-40B4-BE49-F238E27FC236}">
                  <a16:creationId xmlns:a16="http://schemas.microsoft.com/office/drawing/2014/main" id="{76701A16-A01D-5059-527F-E38746F22B12}"/>
                </a:ext>
              </a:extLst>
            </p:cNvPr>
            <p:cNvSpPr>
              <a:spLocks noChangeArrowheads="1"/>
            </p:cNvSpPr>
            <p:nvPr/>
          </p:nvSpPr>
          <p:spPr bwMode="auto">
            <a:xfrm>
              <a:off x="4994538" y="3386138"/>
              <a:ext cx="720000" cy="347662"/>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AutoShape 24">
              <a:extLst>
                <a:ext uri="{FF2B5EF4-FFF2-40B4-BE49-F238E27FC236}">
                  <a16:creationId xmlns:a16="http://schemas.microsoft.com/office/drawing/2014/main" id="{9E940564-5C06-1BBA-61A5-7A9D7202D2A7}"/>
                </a:ext>
              </a:extLst>
            </p:cNvPr>
            <p:cNvSpPr>
              <a:spLocks noChangeArrowheads="1"/>
            </p:cNvSpPr>
            <p:nvPr/>
          </p:nvSpPr>
          <p:spPr bwMode="auto">
            <a:xfrm>
              <a:off x="7890138" y="4191000"/>
              <a:ext cx="720000" cy="381000"/>
            </a:xfrm>
            <a:prstGeom prst="roundRect">
              <a:avLst>
                <a:gd name="adj" fmla="val 16667"/>
              </a:avLst>
            </a:prstGeom>
            <a:solidFill>
              <a:schemeClr val="bg1">
                <a:lumMod val="95000"/>
              </a:schemeClr>
            </a:solidFill>
            <a:ln w="12700">
              <a:solidFill>
                <a:srgbClr val="13548C"/>
              </a:solidFill>
              <a:round/>
              <a:headEnd/>
              <a:tailEnd/>
            </a:ln>
            <a:effec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ts val="0"/>
                </a:spcBef>
                <a:spcAft>
                  <a:spcPct val="0"/>
                </a:spcAft>
                <a:buClrTx/>
                <a:buSzTx/>
                <a:buNone/>
              </a:pPr>
              <a:r>
                <a:rPr lang="en-US" altLang="zh-CN" sz="140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1400" b="0">
                <a:solidFill>
                  <a:srgbClr val="13548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Text Box 26">
              <a:extLst>
                <a:ext uri="{FF2B5EF4-FFF2-40B4-BE49-F238E27FC236}">
                  <a16:creationId xmlns:a16="http://schemas.microsoft.com/office/drawing/2014/main" id="{6A195BF6-A1BA-A983-2356-505F6D070FF1}"/>
                </a:ext>
              </a:extLst>
            </p:cNvPr>
            <p:cNvSpPr txBox="1">
              <a:spLocks noChangeArrowheads="1"/>
            </p:cNvSpPr>
            <p:nvPr/>
          </p:nvSpPr>
          <p:spPr bwMode="auto">
            <a:xfrm>
              <a:off x="5104069" y="2908300"/>
              <a:ext cx="48314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Yes</a:t>
              </a:r>
            </a:p>
          </p:txBody>
        </p:sp>
        <p:sp>
          <p:nvSpPr>
            <p:cNvPr id="20" name="Text Box 27">
              <a:extLst>
                <a:ext uri="{FF2B5EF4-FFF2-40B4-BE49-F238E27FC236}">
                  <a16:creationId xmlns:a16="http://schemas.microsoft.com/office/drawing/2014/main" id="{F8C9DAB7-8DB9-CA1A-2E1B-59A99B6EC52F}"/>
                </a:ext>
              </a:extLst>
            </p:cNvPr>
            <p:cNvSpPr txBox="1">
              <a:spLocks noChangeArrowheads="1"/>
            </p:cNvSpPr>
            <p:nvPr/>
          </p:nvSpPr>
          <p:spPr bwMode="auto">
            <a:xfrm>
              <a:off x="6929271" y="2908300"/>
              <a:ext cx="43473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No</a:t>
              </a:r>
            </a:p>
          </p:txBody>
        </p:sp>
        <p:sp>
          <p:nvSpPr>
            <p:cNvPr id="21" name="Text Box 28">
              <a:extLst>
                <a:ext uri="{FF2B5EF4-FFF2-40B4-BE49-F238E27FC236}">
                  <a16:creationId xmlns:a16="http://schemas.microsoft.com/office/drawing/2014/main" id="{00C425FF-3AC2-6A69-98CD-365EF96E3510}"/>
                </a:ext>
              </a:extLst>
            </p:cNvPr>
            <p:cNvSpPr txBox="1">
              <a:spLocks noChangeArrowheads="1"/>
            </p:cNvSpPr>
            <p:nvPr/>
          </p:nvSpPr>
          <p:spPr bwMode="auto">
            <a:xfrm>
              <a:off x="7999151" y="3677878"/>
              <a:ext cx="86042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ct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Married</a:t>
              </a:r>
              <a:r>
                <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rPr>
                <a:t> </a:t>
              </a:r>
            </a:p>
          </p:txBody>
        </p:sp>
        <p:sp>
          <p:nvSpPr>
            <p:cNvPr id="22" name="Text Box 29">
              <a:extLst>
                <a:ext uri="{FF2B5EF4-FFF2-40B4-BE49-F238E27FC236}">
                  <a16:creationId xmlns:a16="http://schemas.microsoft.com/office/drawing/2014/main" id="{CC2DC856-7F79-23EA-C637-421671D79C10}"/>
                </a:ext>
              </a:extLst>
            </p:cNvPr>
            <p:cNvSpPr txBox="1">
              <a:spLocks noChangeArrowheads="1"/>
            </p:cNvSpPr>
            <p:nvPr/>
          </p:nvSpPr>
          <p:spPr bwMode="auto">
            <a:xfrm>
              <a:off x="5797819" y="3495675"/>
              <a:ext cx="949298"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indent="0" algn="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Single, </a:t>
              </a:r>
            </a:p>
            <a:p>
              <a:pPr marL="0" indent="0" algn="r">
                <a:spcBef>
                  <a:spcPts val="0"/>
                </a:spcBef>
                <a:spcAft>
                  <a:spcPct val="0"/>
                </a:spcAft>
                <a:buClr>
                  <a:schemeClr val="accent2"/>
                </a:buClr>
                <a:buFont typeface="Monotype Sorts" pitchFamily="2" charset="2"/>
                <a:buNone/>
              </a:pPr>
              <a:r>
                <a:rPr lang="en-US" altLang="zh-CN" sz="1600" b="0">
                  <a:latin typeface="Times New Roman" panose="02020603050405020304" pitchFamily="18" charset="0"/>
                  <a:ea typeface="微软雅黑" panose="020B0503020204020204" pitchFamily="34" charset="-122"/>
                  <a:sym typeface="Times New Roman" panose="02020603050405020304" pitchFamily="18" charset="0"/>
                </a:rPr>
                <a:t>Divorced</a:t>
              </a:r>
              <a:endParaRPr lang="en-US" altLang="zh-CN" sz="1600" b="0">
                <a:solidFill>
                  <a:schemeClr val="bg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Text Box 30">
              <a:extLst>
                <a:ext uri="{FF2B5EF4-FFF2-40B4-BE49-F238E27FC236}">
                  <a16:creationId xmlns:a16="http://schemas.microsoft.com/office/drawing/2014/main" id="{78DCA4F7-4317-EC1E-57BD-F806DF845809}"/>
                </a:ext>
              </a:extLst>
            </p:cNvPr>
            <p:cNvSpPr txBox="1">
              <a:spLocks noChangeArrowheads="1"/>
            </p:cNvSpPr>
            <p:nvPr/>
          </p:nvSpPr>
          <p:spPr bwMode="auto">
            <a:xfrm>
              <a:off x="5345642" y="4520018"/>
              <a:ext cx="70403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&lt; 80K</a:t>
              </a:r>
            </a:p>
          </p:txBody>
        </p:sp>
        <p:sp>
          <p:nvSpPr>
            <p:cNvPr id="24" name="Text Box 31">
              <a:extLst>
                <a:ext uri="{FF2B5EF4-FFF2-40B4-BE49-F238E27FC236}">
                  <a16:creationId xmlns:a16="http://schemas.microsoft.com/office/drawing/2014/main" id="{175DDD8D-1586-90A3-2566-6D37B12E9306}"/>
                </a:ext>
              </a:extLst>
            </p:cNvPr>
            <p:cNvSpPr txBox="1">
              <a:spLocks noChangeArrowheads="1"/>
            </p:cNvSpPr>
            <p:nvPr/>
          </p:nvSpPr>
          <p:spPr bwMode="auto">
            <a:xfrm>
              <a:off x="7119930" y="4517101"/>
              <a:ext cx="70403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indent="0" algn="ctr">
                <a:spcBef>
                  <a:spcPts val="0"/>
                </a:spcBef>
                <a:buClr>
                  <a:schemeClr val="accent2"/>
                </a:buClr>
                <a:buSzPct val="75000"/>
                <a:buFont typeface="Monotype Sorts" pitchFamily="2" charset="2"/>
                <a:buNone/>
                <a:defRPr sz="16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en-US" altLang="zh-CN">
                  <a:sym typeface="Times New Roman" panose="02020603050405020304" pitchFamily="18" charset="0"/>
                </a:rPr>
                <a:t>&gt; 80K</a:t>
              </a:r>
            </a:p>
          </p:txBody>
        </p:sp>
      </p:grpSp>
    </p:spTree>
    <p:extLst>
      <p:ext uri="{BB962C8B-B14F-4D97-AF65-F5344CB8AC3E}">
        <p14:creationId xmlns:p14="http://schemas.microsoft.com/office/powerpoint/2010/main" val="176249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5CC62F-5D6C-C22A-B90A-3BAEADFE4484}"/>
              </a:ext>
            </a:extLst>
          </p:cNvPr>
          <p:cNvSpPr>
            <a:spLocks noGrp="1"/>
          </p:cNvSpPr>
          <p:nvPr>
            <p:ph type="title"/>
          </p:nvPr>
        </p:nvSpPr>
        <p:spPr/>
        <p:txBody>
          <a:bodyPr>
            <a:normAutofit fontScale="90000"/>
          </a:bodyPr>
          <a:lstStyle/>
          <a:p>
            <a:r>
              <a:rPr kumimoji="1" lang="zh-CN" altLang="en-US" dirty="0"/>
              <a:t>基于标称属性的分裂</a:t>
            </a:r>
          </a:p>
        </p:txBody>
      </p:sp>
      <p:sp>
        <p:nvSpPr>
          <p:cNvPr id="3" name="Rectangle 3">
            <a:extLst>
              <a:ext uri="{FF2B5EF4-FFF2-40B4-BE49-F238E27FC236}">
                <a16:creationId xmlns:a16="http://schemas.microsoft.com/office/drawing/2014/main" id="{00BE57A1-65AD-AAF9-F578-B816DEC6E03E}"/>
              </a:ext>
            </a:extLst>
          </p:cNvPr>
          <p:cNvSpPr txBox="1">
            <a:spLocks noChangeArrowheads="1"/>
          </p:cNvSpPr>
          <p:nvPr/>
        </p:nvSpPr>
        <p:spPr>
          <a:xfrm>
            <a:off x="691979" y="781755"/>
            <a:ext cx="8639175" cy="4029075"/>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多路划分：</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划分数（输出数）取决</a:t>
            </a: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gn="just" fontAlgn="base">
              <a:lnSpc>
                <a:spcPct val="150000"/>
              </a:lnSpc>
              <a:spcBef>
                <a:spcPts val="0"/>
              </a:spcBef>
              <a:spcAft>
                <a:spcPct val="0"/>
              </a:spcAft>
              <a:buClr>
                <a:srgbClr val="FF6600"/>
              </a:buClr>
              <a:buSzPct val="80000"/>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     于该属性不同属性值的个数</a:t>
            </a: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00000"/>
              </a:lnSpc>
              <a:spcBef>
                <a:spcPts val="600"/>
              </a:spcBef>
              <a:spcAft>
                <a:spcPct val="0"/>
              </a:spcAft>
              <a:buClr>
                <a:srgbClr val="FF6600"/>
              </a:buClr>
              <a:buSzPct val="80000"/>
              <a:buFont typeface="Wingdings" panose="05000000000000000000" pitchFamily="2" charset="2"/>
              <a:buChar char="l"/>
            </a:pP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二元划分：</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划分数为</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，这种划分要考虑创建</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个属性值的二元划分的所有</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en-US" altLang="zh-CN" sz="2400" baseline="30000">
                <a:latin typeface="Times New Roman" panose="02020603050405020304" pitchFamily="18" charset="0"/>
                <a:ea typeface="微软雅黑" panose="020B0503020204020204" pitchFamily="34" charset="-122"/>
                <a:cs typeface="+mn-ea"/>
                <a:sym typeface="Times New Roman" panose="02020603050405020304" pitchFamily="18" charset="0"/>
              </a:rPr>
              <a:t>k-1</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种方法</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4" name="Group 4">
            <a:extLst>
              <a:ext uri="{FF2B5EF4-FFF2-40B4-BE49-F238E27FC236}">
                <a16:creationId xmlns:a16="http://schemas.microsoft.com/office/drawing/2014/main" id="{2A83ED9F-D7E5-7DDA-A813-DCFB9D372091}"/>
              </a:ext>
            </a:extLst>
          </p:cNvPr>
          <p:cNvGrpSpPr>
            <a:grpSpLocks/>
          </p:cNvGrpSpPr>
          <p:nvPr/>
        </p:nvGrpSpPr>
        <p:grpSpPr bwMode="auto">
          <a:xfrm>
            <a:off x="3614330" y="2046031"/>
            <a:ext cx="2896430" cy="1409074"/>
            <a:chOff x="2054" y="1680"/>
            <a:chExt cx="1184" cy="576"/>
          </a:xfrm>
        </p:grpSpPr>
        <p:sp>
          <p:nvSpPr>
            <p:cNvPr id="5" name="Oval 5">
              <a:extLst>
                <a:ext uri="{FF2B5EF4-FFF2-40B4-BE49-F238E27FC236}">
                  <a16:creationId xmlns:a16="http://schemas.microsoft.com/office/drawing/2014/main" id="{9995672B-014C-7DD1-FD90-3C6EE8414F65}"/>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婚姻</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Line 6">
              <a:extLst>
                <a:ext uri="{FF2B5EF4-FFF2-40B4-BE49-F238E27FC236}">
                  <a16:creationId xmlns:a16="http://schemas.microsoft.com/office/drawing/2014/main" id="{1C00F681-A0B9-0027-6FA0-3E707DE30745}"/>
                </a:ext>
              </a:extLst>
            </p:cNvPr>
            <p:cNvSpPr>
              <a:spLocks noChangeShapeType="1"/>
            </p:cNvSpPr>
            <p:nvPr/>
          </p:nvSpPr>
          <p:spPr bwMode="auto">
            <a:xfrm flipH="1">
              <a:off x="2064" y="1968"/>
              <a:ext cx="576"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Line 7">
              <a:extLst>
                <a:ext uri="{FF2B5EF4-FFF2-40B4-BE49-F238E27FC236}">
                  <a16:creationId xmlns:a16="http://schemas.microsoft.com/office/drawing/2014/main" id="{FD041607-3F03-F437-1E30-85B4CFC71D18}"/>
                </a:ext>
              </a:extLst>
            </p:cNvPr>
            <p:cNvSpPr>
              <a:spLocks noChangeShapeType="1"/>
            </p:cNvSpPr>
            <p:nvPr/>
          </p:nvSpPr>
          <p:spPr bwMode="auto">
            <a:xfrm>
              <a:off x="2640" y="1968"/>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Line 8">
              <a:extLst>
                <a:ext uri="{FF2B5EF4-FFF2-40B4-BE49-F238E27FC236}">
                  <a16:creationId xmlns:a16="http://schemas.microsoft.com/office/drawing/2014/main" id="{CBD20620-B7EC-D005-BCDA-B2CE41EC33EB}"/>
                </a:ext>
              </a:extLst>
            </p:cNvPr>
            <p:cNvSpPr>
              <a:spLocks noChangeShapeType="1"/>
            </p:cNvSpPr>
            <p:nvPr/>
          </p:nvSpPr>
          <p:spPr bwMode="auto">
            <a:xfrm>
              <a:off x="2640" y="1968"/>
              <a:ext cx="576"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Text Box 9">
              <a:extLst>
                <a:ext uri="{FF2B5EF4-FFF2-40B4-BE49-F238E27FC236}">
                  <a16:creationId xmlns:a16="http://schemas.microsoft.com/office/drawing/2014/main" id="{1B60EE92-3683-53E5-AEBC-CF8357B65130}"/>
                </a:ext>
              </a:extLst>
            </p:cNvPr>
            <p:cNvSpPr txBox="1">
              <a:spLocks noChangeArrowheads="1"/>
            </p:cNvSpPr>
            <p:nvPr/>
          </p:nvSpPr>
          <p:spPr bwMode="auto">
            <a:xfrm>
              <a:off x="2054" y="1904"/>
              <a:ext cx="26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已婚</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 Box 10">
              <a:extLst>
                <a:ext uri="{FF2B5EF4-FFF2-40B4-BE49-F238E27FC236}">
                  <a16:creationId xmlns:a16="http://schemas.microsoft.com/office/drawing/2014/main" id="{2030B7C4-140B-C452-ECD1-6BCE08F3D361}"/>
                </a:ext>
              </a:extLst>
            </p:cNvPr>
            <p:cNvSpPr txBox="1">
              <a:spLocks noChangeArrowheads="1"/>
            </p:cNvSpPr>
            <p:nvPr/>
          </p:nvSpPr>
          <p:spPr bwMode="auto">
            <a:xfrm>
              <a:off x="2381" y="2090"/>
              <a:ext cx="26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未婚</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Text Box 11">
              <a:extLst>
                <a:ext uri="{FF2B5EF4-FFF2-40B4-BE49-F238E27FC236}">
                  <a16:creationId xmlns:a16="http://schemas.microsoft.com/office/drawing/2014/main" id="{755EAD99-3DE3-898E-5BDE-791A10422CA1}"/>
                </a:ext>
              </a:extLst>
            </p:cNvPr>
            <p:cNvSpPr txBox="1">
              <a:spLocks noChangeArrowheads="1"/>
            </p:cNvSpPr>
            <p:nvPr/>
          </p:nvSpPr>
          <p:spPr bwMode="auto">
            <a:xfrm>
              <a:off x="2974" y="1902"/>
              <a:ext cx="26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离婚</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2" name="Text Box 24">
            <a:extLst>
              <a:ext uri="{FF2B5EF4-FFF2-40B4-BE49-F238E27FC236}">
                <a16:creationId xmlns:a16="http://schemas.microsoft.com/office/drawing/2014/main" id="{D9AD484E-B3D9-743D-6679-93F129B99019}"/>
              </a:ext>
            </a:extLst>
          </p:cNvPr>
          <p:cNvSpPr txBox="1">
            <a:spLocks noChangeArrowheads="1"/>
          </p:cNvSpPr>
          <p:nvPr/>
        </p:nvSpPr>
        <p:spPr bwMode="auto">
          <a:xfrm>
            <a:off x="6483974" y="5000864"/>
            <a:ext cx="608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OR</a:t>
            </a:r>
          </a:p>
        </p:txBody>
      </p:sp>
      <p:graphicFrame>
        <p:nvGraphicFramePr>
          <p:cNvPr id="13" name="Group 3">
            <a:extLst>
              <a:ext uri="{FF2B5EF4-FFF2-40B4-BE49-F238E27FC236}">
                <a16:creationId xmlns:a16="http://schemas.microsoft.com/office/drawing/2014/main" id="{5A9718DD-9940-FD0D-20A8-9442166F33A3}"/>
              </a:ext>
            </a:extLst>
          </p:cNvPr>
          <p:cNvGraphicFramePr>
            <a:graphicFrameLocks/>
          </p:cNvGraphicFramePr>
          <p:nvPr>
            <p:extLst>
              <p:ext uri="{D42A27DB-BD31-4B8C-83A1-F6EECF244321}">
                <p14:modId xmlns:p14="http://schemas.microsoft.com/office/powerpoint/2010/main" val="2972481528"/>
              </p:ext>
            </p:extLst>
          </p:nvPr>
        </p:nvGraphicFramePr>
        <p:xfrm>
          <a:off x="7657112" y="788105"/>
          <a:ext cx="3492001" cy="2916000"/>
        </p:xfrm>
        <a:graphic>
          <a:graphicData uri="http://schemas.openxmlformats.org/drawingml/2006/table">
            <a:tbl>
              <a:tblPr/>
              <a:tblGrid>
                <a:gridCol w="467474">
                  <a:extLst>
                    <a:ext uri="{9D8B030D-6E8A-4147-A177-3AD203B41FA5}">
                      <a16:colId xmlns:a16="http://schemas.microsoft.com/office/drawing/2014/main" val="20000"/>
                    </a:ext>
                  </a:extLst>
                </a:gridCol>
                <a:gridCol w="767992">
                  <a:extLst>
                    <a:ext uri="{9D8B030D-6E8A-4147-A177-3AD203B41FA5}">
                      <a16:colId xmlns:a16="http://schemas.microsoft.com/office/drawing/2014/main" val="20001"/>
                    </a:ext>
                  </a:extLst>
                </a:gridCol>
                <a:gridCol w="834775">
                  <a:extLst>
                    <a:ext uri="{9D8B030D-6E8A-4147-A177-3AD203B41FA5}">
                      <a16:colId xmlns:a16="http://schemas.microsoft.com/office/drawing/2014/main" val="20002"/>
                    </a:ext>
                  </a:extLst>
                </a:gridCol>
                <a:gridCol w="767992">
                  <a:extLst>
                    <a:ext uri="{9D8B030D-6E8A-4147-A177-3AD203B41FA5}">
                      <a16:colId xmlns:a16="http://schemas.microsoft.com/office/drawing/2014/main" val="20003"/>
                    </a:ext>
                  </a:extLst>
                </a:gridCol>
                <a:gridCol w="653768">
                  <a:extLst>
                    <a:ext uri="{9D8B030D-6E8A-4147-A177-3AD203B41FA5}">
                      <a16:colId xmlns:a16="http://schemas.microsoft.com/office/drawing/2014/main" val="20005"/>
                    </a:ext>
                  </a:extLst>
                </a:gridCol>
              </a:tblGrid>
              <a:tr h="486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Refund</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Marital Status</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Taxable Income</a:t>
                      </a:r>
                      <a:endParaRPr kumimoji="0" lang="zh-CN" altLang="en-US" sz="1500" b="1" i="0" u="none" strike="noStrike" cap="none" normalizeH="0" baseline="0">
                        <a:ln>
                          <a:noFill/>
                        </a:ln>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Cheat</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Divorced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srgbClr val="FF66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Married</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75K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No</a:t>
                      </a:r>
                      <a:endPar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43000">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0" marR="0" marT="0" marB="0"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No</a:t>
                      </a:r>
                      <a:endParaRPr kumimoji="0" lang="zh-CN" altLang="en-US" sz="15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Single</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90K</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defRPr/>
                      </a:pPr>
                      <a:r>
                        <a:rPr kumimoji="0" lang="en-US" altLang="zh-CN"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Yes</a:t>
                      </a: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 </a:t>
                      </a:r>
                      <a:endParaRPr kumimoji="0" lang="zh-CN" altLang="en-US" sz="15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grpSp>
        <p:nvGrpSpPr>
          <p:cNvPr id="14" name="Group 4">
            <a:extLst>
              <a:ext uri="{FF2B5EF4-FFF2-40B4-BE49-F238E27FC236}">
                <a16:creationId xmlns:a16="http://schemas.microsoft.com/office/drawing/2014/main" id="{781B8928-CC86-1E00-416B-B204059F6CB8}"/>
              </a:ext>
            </a:extLst>
          </p:cNvPr>
          <p:cNvGrpSpPr>
            <a:grpSpLocks/>
          </p:cNvGrpSpPr>
          <p:nvPr/>
        </p:nvGrpSpPr>
        <p:grpSpPr bwMode="auto">
          <a:xfrm>
            <a:off x="2265800" y="4826706"/>
            <a:ext cx="3278054" cy="1235387"/>
            <a:chOff x="1886" y="1680"/>
            <a:chExt cx="1340" cy="505"/>
          </a:xfrm>
        </p:grpSpPr>
        <p:sp>
          <p:nvSpPr>
            <p:cNvPr id="15" name="Oval 5">
              <a:extLst>
                <a:ext uri="{FF2B5EF4-FFF2-40B4-BE49-F238E27FC236}">
                  <a16:creationId xmlns:a16="http://schemas.microsoft.com/office/drawing/2014/main" id="{490B3E4C-B313-23B5-8B65-E0DD114DC37A}"/>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婚姻</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Line 6">
              <a:extLst>
                <a:ext uri="{FF2B5EF4-FFF2-40B4-BE49-F238E27FC236}">
                  <a16:creationId xmlns:a16="http://schemas.microsoft.com/office/drawing/2014/main" id="{24F395B6-3571-3E6D-B4CA-9E70262A6B03}"/>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Line 8">
              <a:extLst>
                <a:ext uri="{FF2B5EF4-FFF2-40B4-BE49-F238E27FC236}">
                  <a16:creationId xmlns:a16="http://schemas.microsoft.com/office/drawing/2014/main" id="{4346BE21-544B-9237-8689-C658EC8E4AB0}"/>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 Box 9">
              <a:extLst>
                <a:ext uri="{FF2B5EF4-FFF2-40B4-BE49-F238E27FC236}">
                  <a16:creationId xmlns:a16="http://schemas.microsoft.com/office/drawing/2014/main" id="{5FD28DFE-1339-272A-D09E-FA061A85A234}"/>
                </a:ext>
              </a:extLst>
            </p:cNvPr>
            <p:cNvSpPr txBox="1">
              <a:spLocks noChangeArrowheads="1"/>
            </p:cNvSpPr>
            <p:nvPr/>
          </p:nvSpPr>
          <p:spPr bwMode="auto">
            <a:xfrm>
              <a:off x="1886" y="1938"/>
              <a:ext cx="591"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已婚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未婚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19" name="Text Box 11">
              <a:extLst>
                <a:ext uri="{FF2B5EF4-FFF2-40B4-BE49-F238E27FC236}">
                  <a16:creationId xmlns:a16="http://schemas.microsoft.com/office/drawing/2014/main" id="{7974B207-808F-4BB6-787E-5EE489786F67}"/>
                </a:ext>
              </a:extLst>
            </p:cNvPr>
            <p:cNvSpPr txBox="1">
              <a:spLocks noChangeArrowheads="1"/>
            </p:cNvSpPr>
            <p:nvPr/>
          </p:nvSpPr>
          <p:spPr bwMode="auto">
            <a:xfrm>
              <a:off x="2871" y="1939"/>
              <a:ext cx="35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离婚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0" name="Group 4">
            <a:extLst>
              <a:ext uri="{FF2B5EF4-FFF2-40B4-BE49-F238E27FC236}">
                <a16:creationId xmlns:a16="http://schemas.microsoft.com/office/drawing/2014/main" id="{280524B2-EA97-E214-00A5-D64716550B5F}"/>
              </a:ext>
            </a:extLst>
          </p:cNvPr>
          <p:cNvGrpSpPr>
            <a:grpSpLocks/>
          </p:cNvGrpSpPr>
          <p:nvPr/>
        </p:nvGrpSpPr>
        <p:grpSpPr bwMode="auto">
          <a:xfrm>
            <a:off x="5041040" y="5622613"/>
            <a:ext cx="3278054" cy="1235387"/>
            <a:chOff x="1886" y="1680"/>
            <a:chExt cx="1340" cy="505"/>
          </a:xfrm>
        </p:grpSpPr>
        <p:sp>
          <p:nvSpPr>
            <p:cNvPr id="21" name="Oval 5">
              <a:extLst>
                <a:ext uri="{FF2B5EF4-FFF2-40B4-BE49-F238E27FC236}">
                  <a16:creationId xmlns:a16="http://schemas.microsoft.com/office/drawing/2014/main" id="{430FDF13-71E3-0DED-A351-AA366CA43F36}"/>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婚姻</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Line 6">
              <a:extLst>
                <a:ext uri="{FF2B5EF4-FFF2-40B4-BE49-F238E27FC236}">
                  <a16:creationId xmlns:a16="http://schemas.microsoft.com/office/drawing/2014/main" id="{AD9BDDE3-AE5A-E982-AF9F-196552EDB030}"/>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Line 8">
              <a:extLst>
                <a:ext uri="{FF2B5EF4-FFF2-40B4-BE49-F238E27FC236}">
                  <a16:creationId xmlns:a16="http://schemas.microsoft.com/office/drawing/2014/main" id="{C65E4A6A-1A7A-CDCD-4B6C-E4DC57A6749E}"/>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9">
              <a:extLst>
                <a:ext uri="{FF2B5EF4-FFF2-40B4-BE49-F238E27FC236}">
                  <a16:creationId xmlns:a16="http://schemas.microsoft.com/office/drawing/2014/main" id="{8509D4E3-1EF2-5D19-F128-C19AC9E1B08D}"/>
                </a:ext>
              </a:extLst>
            </p:cNvPr>
            <p:cNvSpPr txBox="1">
              <a:spLocks noChangeArrowheads="1"/>
            </p:cNvSpPr>
            <p:nvPr/>
          </p:nvSpPr>
          <p:spPr bwMode="auto">
            <a:xfrm>
              <a:off x="1886" y="1938"/>
              <a:ext cx="591"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已婚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离婚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25" name="Text Box 11">
              <a:extLst>
                <a:ext uri="{FF2B5EF4-FFF2-40B4-BE49-F238E27FC236}">
                  <a16:creationId xmlns:a16="http://schemas.microsoft.com/office/drawing/2014/main" id="{A922227F-8B8F-3619-AAFA-7C6DA5ACC4C0}"/>
                </a:ext>
              </a:extLst>
            </p:cNvPr>
            <p:cNvSpPr txBox="1">
              <a:spLocks noChangeArrowheads="1"/>
            </p:cNvSpPr>
            <p:nvPr/>
          </p:nvSpPr>
          <p:spPr bwMode="auto">
            <a:xfrm>
              <a:off x="2871" y="1939"/>
              <a:ext cx="35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未婚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6" name="Group 4">
            <a:extLst>
              <a:ext uri="{FF2B5EF4-FFF2-40B4-BE49-F238E27FC236}">
                <a16:creationId xmlns:a16="http://schemas.microsoft.com/office/drawing/2014/main" id="{6B7F8DF8-BB98-FA41-D3E9-894512C8CC72}"/>
              </a:ext>
            </a:extLst>
          </p:cNvPr>
          <p:cNvGrpSpPr>
            <a:grpSpLocks/>
          </p:cNvGrpSpPr>
          <p:nvPr/>
        </p:nvGrpSpPr>
        <p:grpSpPr bwMode="auto">
          <a:xfrm>
            <a:off x="7816279" y="4826706"/>
            <a:ext cx="3248698" cy="1235387"/>
            <a:chOff x="1898" y="1680"/>
            <a:chExt cx="1328" cy="505"/>
          </a:xfrm>
        </p:grpSpPr>
        <p:sp>
          <p:nvSpPr>
            <p:cNvPr id="27" name="Oval 5">
              <a:extLst>
                <a:ext uri="{FF2B5EF4-FFF2-40B4-BE49-F238E27FC236}">
                  <a16:creationId xmlns:a16="http://schemas.microsoft.com/office/drawing/2014/main" id="{E90B867F-F048-3FA0-890B-BB345D783A67}"/>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婚姻</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Line 6">
              <a:extLst>
                <a:ext uri="{FF2B5EF4-FFF2-40B4-BE49-F238E27FC236}">
                  <a16:creationId xmlns:a16="http://schemas.microsoft.com/office/drawing/2014/main" id="{F1175F61-74F7-3669-4008-DF5F4B82BD6C}"/>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Line 8">
              <a:extLst>
                <a:ext uri="{FF2B5EF4-FFF2-40B4-BE49-F238E27FC236}">
                  <a16:creationId xmlns:a16="http://schemas.microsoft.com/office/drawing/2014/main" id="{7C2B881F-3EEE-C6DA-16B9-D88004DECD92}"/>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9">
              <a:extLst>
                <a:ext uri="{FF2B5EF4-FFF2-40B4-BE49-F238E27FC236}">
                  <a16:creationId xmlns:a16="http://schemas.microsoft.com/office/drawing/2014/main" id="{69E66755-1823-2B67-AE5E-C0C660D0B8C2}"/>
                </a:ext>
              </a:extLst>
            </p:cNvPr>
            <p:cNvSpPr txBox="1">
              <a:spLocks noChangeArrowheads="1"/>
            </p:cNvSpPr>
            <p:nvPr/>
          </p:nvSpPr>
          <p:spPr bwMode="auto">
            <a:xfrm>
              <a:off x="1898" y="1938"/>
              <a:ext cx="567"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离婚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未婚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p>
          </p:txBody>
        </p:sp>
        <p:sp>
          <p:nvSpPr>
            <p:cNvPr id="31" name="Text Box 11">
              <a:extLst>
                <a:ext uri="{FF2B5EF4-FFF2-40B4-BE49-F238E27FC236}">
                  <a16:creationId xmlns:a16="http://schemas.microsoft.com/office/drawing/2014/main" id="{7AA1E96F-A1D7-BFFC-677C-8AA85A8ADA9C}"/>
                </a:ext>
              </a:extLst>
            </p:cNvPr>
            <p:cNvSpPr txBox="1">
              <a:spLocks noChangeArrowheads="1"/>
            </p:cNvSpPr>
            <p:nvPr/>
          </p:nvSpPr>
          <p:spPr bwMode="auto">
            <a:xfrm>
              <a:off x="2871" y="1939"/>
              <a:ext cx="35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1800">
                  <a:latin typeface="Times New Roman" panose="02020603050405020304" pitchFamily="18" charset="0"/>
                  <a:ea typeface="微软雅黑" panose="020B0503020204020204" pitchFamily="34" charset="-122"/>
                  <a:sym typeface="Times New Roman" panose="02020603050405020304" pitchFamily="18" charset="0"/>
                </a:rPr>
                <a:t>已婚</a:t>
              </a: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extLst>
      <p:ext uri="{BB962C8B-B14F-4D97-AF65-F5344CB8AC3E}">
        <p14:creationId xmlns:p14="http://schemas.microsoft.com/office/powerpoint/2010/main" val="2966828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2CE3A-C16F-346A-7423-460613E99303}"/>
              </a:ext>
            </a:extLst>
          </p:cNvPr>
          <p:cNvSpPr>
            <a:spLocks noGrp="1"/>
          </p:cNvSpPr>
          <p:nvPr>
            <p:ph type="title"/>
          </p:nvPr>
        </p:nvSpPr>
        <p:spPr/>
        <p:txBody>
          <a:bodyPr>
            <a:normAutofit fontScale="90000"/>
          </a:bodyPr>
          <a:lstStyle/>
          <a:p>
            <a:r>
              <a:rPr kumimoji="1" lang="zh-CN" altLang="en-US" dirty="0"/>
              <a:t>基于序数属性的划分</a:t>
            </a:r>
          </a:p>
        </p:txBody>
      </p:sp>
      <p:sp>
        <p:nvSpPr>
          <p:cNvPr id="4" name="Rectangle 3">
            <a:extLst>
              <a:ext uri="{FF2B5EF4-FFF2-40B4-BE49-F238E27FC236}">
                <a16:creationId xmlns:a16="http://schemas.microsoft.com/office/drawing/2014/main" id="{FE7532F4-1F3C-0A5B-5AD6-86AB3EF0CA5F}"/>
              </a:ext>
            </a:extLst>
          </p:cNvPr>
          <p:cNvSpPr txBox="1">
            <a:spLocks noChangeArrowheads="1"/>
          </p:cNvSpPr>
          <p:nvPr/>
        </p:nvSpPr>
        <p:spPr>
          <a:xfrm>
            <a:off x="1124465" y="756000"/>
            <a:ext cx="9525075" cy="3735574"/>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多路划分：</a:t>
            </a:r>
            <a:r>
              <a:rPr lang="zh-CN" altLang="en-US" sz="2400" spc="110" dirty="0">
                <a:latin typeface="Times New Roman" panose="02020603050405020304" pitchFamily="18" charset="0"/>
                <a:ea typeface="微软雅黑" panose="020B0503020204020204" pitchFamily="34" charset="-122"/>
                <a:cs typeface="+mn-ea"/>
                <a:sym typeface="Times New Roman" panose="02020603050405020304" pitchFamily="18" charset="0"/>
              </a:rPr>
              <a:t>划分数（输出数）取决于该属性不同属性值的个数</a:t>
            </a:r>
            <a:endParaRPr lang="en-US" altLang="zh-CN" sz="2400" spc="11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00000"/>
              </a:lnSpc>
              <a:spcBef>
                <a:spcPts val="600"/>
              </a:spcBef>
              <a:spcAft>
                <a:spcPct val="0"/>
              </a:spcAft>
              <a:buClr>
                <a:srgbClr val="FF6600"/>
              </a:buClr>
              <a:buSzPct val="80000"/>
              <a:buFont typeface="Wingdings" panose="05000000000000000000" pitchFamily="2" charset="2"/>
              <a:buChar char="l"/>
            </a:pP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00000"/>
              </a:lnSpc>
              <a:spcBef>
                <a:spcPts val="600"/>
              </a:spcBef>
              <a:spcAft>
                <a:spcPct val="0"/>
              </a:spcAft>
              <a:buClr>
                <a:srgbClr val="FF6600"/>
              </a:buClr>
              <a:buSzPct val="80000"/>
              <a:buFont typeface="Wingdings" panose="05000000000000000000" pitchFamily="2" charset="2"/>
              <a:buChar char="l"/>
            </a:pP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00000"/>
              </a:lnSpc>
              <a:spcBef>
                <a:spcPts val="600"/>
              </a:spcBef>
              <a:spcAft>
                <a:spcPct val="0"/>
              </a:spcAft>
              <a:buClr>
                <a:srgbClr val="FF6600"/>
              </a:buClr>
              <a:buSzPct val="80000"/>
              <a:buFont typeface="Wingdings" panose="05000000000000000000" pitchFamily="2" charset="2"/>
              <a:buChar char="l"/>
            </a:pP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endParaRPr lang="en-US" altLang="zh-CN"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二元划分：</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划分数为</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，这种划分要考虑创建</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k</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个属性值的二元划分的所有</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en-US" altLang="zh-CN" sz="2400" baseline="30000" dirty="0">
                <a:latin typeface="Times New Roman" panose="02020603050405020304" pitchFamily="18" charset="0"/>
                <a:ea typeface="微软雅黑" panose="020B0503020204020204" pitchFamily="34" charset="-122"/>
                <a:cs typeface="+mn-ea"/>
                <a:sym typeface="Times New Roman" panose="02020603050405020304" pitchFamily="18" charset="0"/>
              </a:rPr>
              <a:t>k-1</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种方法</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Group 4">
            <a:extLst>
              <a:ext uri="{FF2B5EF4-FFF2-40B4-BE49-F238E27FC236}">
                <a16:creationId xmlns:a16="http://schemas.microsoft.com/office/drawing/2014/main" id="{570E635B-72B2-B2BF-D809-02C0C2E16467}"/>
              </a:ext>
            </a:extLst>
          </p:cNvPr>
          <p:cNvGrpSpPr>
            <a:grpSpLocks/>
          </p:cNvGrpSpPr>
          <p:nvPr/>
        </p:nvGrpSpPr>
        <p:grpSpPr bwMode="auto">
          <a:xfrm>
            <a:off x="4608645" y="1752600"/>
            <a:ext cx="2972266" cy="1409074"/>
            <a:chOff x="2038" y="1680"/>
            <a:chExt cx="1215" cy="576"/>
          </a:xfrm>
        </p:grpSpPr>
        <p:sp>
          <p:nvSpPr>
            <p:cNvPr id="6" name="Oval 5">
              <a:extLst>
                <a:ext uri="{FF2B5EF4-FFF2-40B4-BE49-F238E27FC236}">
                  <a16:creationId xmlns:a16="http://schemas.microsoft.com/office/drawing/2014/main" id="{4561E3C4-35D6-F050-2F7B-CD234A05FD61}"/>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宋体" panose="02010600030101010101" pitchFamily="2" charset="-122"/>
                </a:rPr>
                <a:t>Size</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Line 6">
              <a:extLst>
                <a:ext uri="{FF2B5EF4-FFF2-40B4-BE49-F238E27FC236}">
                  <a16:creationId xmlns:a16="http://schemas.microsoft.com/office/drawing/2014/main" id="{F117E378-0274-6413-0855-383A30D1DCE3}"/>
                </a:ext>
              </a:extLst>
            </p:cNvPr>
            <p:cNvSpPr>
              <a:spLocks noChangeShapeType="1"/>
            </p:cNvSpPr>
            <p:nvPr/>
          </p:nvSpPr>
          <p:spPr bwMode="auto">
            <a:xfrm flipH="1">
              <a:off x="2064" y="1968"/>
              <a:ext cx="576"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Line 7">
              <a:extLst>
                <a:ext uri="{FF2B5EF4-FFF2-40B4-BE49-F238E27FC236}">
                  <a16:creationId xmlns:a16="http://schemas.microsoft.com/office/drawing/2014/main" id="{B8A7ECB1-B55F-892C-942F-FDB7CC246EB7}"/>
                </a:ext>
              </a:extLst>
            </p:cNvPr>
            <p:cNvSpPr>
              <a:spLocks noChangeShapeType="1"/>
            </p:cNvSpPr>
            <p:nvPr/>
          </p:nvSpPr>
          <p:spPr bwMode="auto">
            <a:xfrm>
              <a:off x="2640" y="1968"/>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Line 8">
              <a:extLst>
                <a:ext uri="{FF2B5EF4-FFF2-40B4-BE49-F238E27FC236}">
                  <a16:creationId xmlns:a16="http://schemas.microsoft.com/office/drawing/2014/main" id="{28C6071F-08A6-5F05-1905-F914305690D1}"/>
                </a:ext>
              </a:extLst>
            </p:cNvPr>
            <p:cNvSpPr>
              <a:spLocks noChangeShapeType="1"/>
            </p:cNvSpPr>
            <p:nvPr/>
          </p:nvSpPr>
          <p:spPr bwMode="auto">
            <a:xfrm>
              <a:off x="2640" y="1968"/>
              <a:ext cx="576"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 Box 9">
              <a:extLst>
                <a:ext uri="{FF2B5EF4-FFF2-40B4-BE49-F238E27FC236}">
                  <a16:creationId xmlns:a16="http://schemas.microsoft.com/office/drawing/2014/main" id="{8F19B639-55FD-01E8-9400-7A5914BCCAE0}"/>
                </a:ext>
              </a:extLst>
            </p:cNvPr>
            <p:cNvSpPr txBox="1">
              <a:spLocks noChangeArrowheads="1"/>
            </p:cNvSpPr>
            <p:nvPr/>
          </p:nvSpPr>
          <p:spPr bwMode="auto">
            <a:xfrm>
              <a:off x="2038" y="1904"/>
              <a:ext cx="296"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Small</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Text Box 10">
              <a:extLst>
                <a:ext uri="{FF2B5EF4-FFF2-40B4-BE49-F238E27FC236}">
                  <a16:creationId xmlns:a16="http://schemas.microsoft.com/office/drawing/2014/main" id="{C9E337D1-83B8-DAB1-86A4-C9F6A5DA9B4B}"/>
                </a:ext>
              </a:extLst>
            </p:cNvPr>
            <p:cNvSpPr txBox="1">
              <a:spLocks noChangeArrowheads="1"/>
            </p:cNvSpPr>
            <p:nvPr/>
          </p:nvSpPr>
          <p:spPr bwMode="auto">
            <a:xfrm>
              <a:off x="2263" y="2090"/>
              <a:ext cx="39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Medium</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Text Box 11">
              <a:extLst>
                <a:ext uri="{FF2B5EF4-FFF2-40B4-BE49-F238E27FC236}">
                  <a16:creationId xmlns:a16="http://schemas.microsoft.com/office/drawing/2014/main" id="{43EC7904-633C-C0C3-FCE1-EACF8A29EA40}"/>
                </a:ext>
              </a:extLst>
            </p:cNvPr>
            <p:cNvSpPr txBox="1">
              <a:spLocks noChangeArrowheads="1"/>
            </p:cNvSpPr>
            <p:nvPr/>
          </p:nvSpPr>
          <p:spPr bwMode="auto">
            <a:xfrm>
              <a:off x="2959" y="1902"/>
              <a:ext cx="29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Large</a:t>
              </a:r>
            </a:p>
          </p:txBody>
        </p:sp>
      </p:grpSp>
      <p:sp>
        <p:nvSpPr>
          <p:cNvPr id="13" name="Text Box 24">
            <a:extLst>
              <a:ext uri="{FF2B5EF4-FFF2-40B4-BE49-F238E27FC236}">
                <a16:creationId xmlns:a16="http://schemas.microsoft.com/office/drawing/2014/main" id="{F18E662D-52B3-A0A7-B645-180BE5C92797}"/>
              </a:ext>
            </a:extLst>
          </p:cNvPr>
          <p:cNvSpPr txBox="1">
            <a:spLocks noChangeArrowheads="1"/>
          </p:cNvSpPr>
          <p:nvPr/>
        </p:nvSpPr>
        <p:spPr bwMode="auto">
          <a:xfrm>
            <a:off x="5791995" y="4822359"/>
            <a:ext cx="608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OR</a:t>
            </a:r>
          </a:p>
        </p:txBody>
      </p:sp>
      <p:grpSp>
        <p:nvGrpSpPr>
          <p:cNvPr id="14" name="Group 4">
            <a:extLst>
              <a:ext uri="{FF2B5EF4-FFF2-40B4-BE49-F238E27FC236}">
                <a16:creationId xmlns:a16="http://schemas.microsoft.com/office/drawing/2014/main" id="{BAE74B4C-1A3A-0B34-6624-71B04E916F93}"/>
              </a:ext>
            </a:extLst>
          </p:cNvPr>
          <p:cNvGrpSpPr>
            <a:grpSpLocks/>
          </p:cNvGrpSpPr>
          <p:nvPr/>
        </p:nvGrpSpPr>
        <p:grpSpPr bwMode="auto">
          <a:xfrm>
            <a:off x="1375670" y="4648201"/>
            <a:ext cx="3510454" cy="1235387"/>
            <a:chOff x="1805" y="1680"/>
            <a:chExt cx="1435" cy="505"/>
          </a:xfrm>
        </p:grpSpPr>
        <p:sp>
          <p:nvSpPr>
            <p:cNvPr id="15" name="Oval 5">
              <a:extLst>
                <a:ext uri="{FF2B5EF4-FFF2-40B4-BE49-F238E27FC236}">
                  <a16:creationId xmlns:a16="http://schemas.microsoft.com/office/drawing/2014/main" id="{23134850-3439-FD66-693B-E13AF7C1E47F}"/>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宋体" panose="02010600030101010101" pitchFamily="2" charset="-122"/>
                </a:rPr>
                <a:t>Size</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Line 6">
              <a:extLst>
                <a:ext uri="{FF2B5EF4-FFF2-40B4-BE49-F238E27FC236}">
                  <a16:creationId xmlns:a16="http://schemas.microsoft.com/office/drawing/2014/main" id="{7D4A2EDC-9D5A-DA51-01CB-3D6DB4EEEBE5}"/>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Line 8">
              <a:extLst>
                <a:ext uri="{FF2B5EF4-FFF2-40B4-BE49-F238E27FC236}">
                  <a16:creationId xmlns:a16="http://schemas.microsoft.com/office/drawing/2014/main" id="{3BCF71FA-F2EA-C1C1-7AE8-1D381812F407}"/>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 Box 9">
              <a:extLst>
                <a:ext uri="{FF2B5EF4-FFF2-40B4-BE49-F238E27FC236}">
                  <a16:creationId xmlns:a16="http://schemas.microsoft.com/office/drawing/2014/main" id="{60CE49A9-7737-4970-5712-093B76211368}"/>
                </a:ext>
              </a:extLst>
            </p:cNvPr>
            <p:cNvSpPr txBox="1">
              <a:spLocks noChangeArrowheads="1"/>
            </p:cNvSpPr>
            <p:nvPr/>
          </p:nvSpPr>
          <p:spPr bwMode="auto">
            <a:xfrm>
              <a:off x="1805" y="1938"/>
              <a:ext cx="753"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{Small, Medium}</a:t>
              </a:r>
            </a:p>
          </p:txBody>
        </p:sp>
        <p:sp>
          <p:nvSpPr>
            <p:cNvPr id="19" name="Text Box 11">
              <a:extLst>
                <a:ext uri="{FF2B5EF4-FFF2-40B4-BE49-F238E27FC236}">
                  <a16:creationId xmlns:a16="http://schemas.microsoft.com/office/drawing/2014/main" id="{A9DD4815-3E64-D1ED-B5C4-E8E82650BF2A}"/>
                </a:ext>
              </a:extLst>
            </p:cNvPr>
            <p:cNvSpPr txBox="1">
              <a:spLocks noChangeArrowheads="1"/>
            </p:cNvSpPr>
            <p:nvPr/>
          </p:nvSpPr>
          <p:spPr bwMode="auto">
            <a:xfrm>
              <a:off x="2856" y="1939"/>
              <a:ext cx="384"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{Large}</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0" name="Group 4">
            <a:extLst>
              <a:ext uri="{FF2B5EF4-FFF2-40B4-BE49-F238E27FC236}">
                <a16:creationId xmlns:a16="http://schemas.microsoft.com/office/drawing/2014/main" id="{7DEA8AB6-87E2-F134-E495-2BA611D92D39}"/>
              </a:ext>
            </a:extLst>
          </p:cNvPr>
          <p:cNvGrpSpPr>
            <a:grpSpLocks/>
          </p:cNvGrpSpPr>
          <p:nvPr/>
        </p:nvGrpSpPr>
        <p:grpSpPr bwMode="auto">
          <a:xfrm>
            <a:off x="4278118" y="5444108"/>
            <a:ext cx="3508008" cy="1235387"/>
            <a:chOff x="1857" y="1680"/>
            <a:chExt cx="1434" cy="505"/>
          </a:xfrm>
        </p:grpSpPr>
        <p:sp>
          <p:nvSpPr>
            <p:cNvPr id="21" name="Oval 5">
              <a:extLst>
                <a:ext uri="{FF2B5EF4-FFF2-40B4-BE49-F238E27FC236}">
                  <a16:creationId xmlns:a16="http://schemas.microsoft.com/office/drawing/2014/main" id="{10B4DF9D-CAA7-B0B9-0658-E889EB5856DC}"/>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宋体" panose="02010600030101010101" pitchFamily="2" charset="-122"/>
                </a:rPr>
                <a:t>Size</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Line 6">
              <a:extLst>
                <a:ext uri="{FF2B5EF4-FFF2-40B4-BE49-F238E27FC236}">
                  <a16:creationId xmlns:a16="http://schemas.microsoft.com/office/drawing/2014/main" id="{5FD327AC-5333-448C-8BD0-4C3975E63C54}"/>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Line 8">
              <a:extLst>
                <a:ext uri="{FF2B5EF4-FFF2-40B4-BE49-F238E27FC236}">
                  <a16:creationId xmlns:a16="http://schemas.microsoft.com/office/drawing/2014/main" id="{7E0CD049-8EE7-D792-4AC3-6EB902F74B12}"/>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9">
              <a:extLst>
                <a:ext uri="{FF2B5EF4-FFF2-40B4-BE49-F238E27FC236}">
                  <a16:creationId xmlns:a16="http://schemas.microsoft.com/office/drawing/2014/main" id="{E0436331-FBF3-9AF1-92F2-39E8E9D59F0B}"/>
                </a:ext>
              </a:extLst>
            </p:cNvPr>
            <p:cNvSpPr txBox="1">
              <a:spLocks noChangeArrowheads="1"/>
            </p:cNvSpPr>
            <p:nvPr/>
          </p:nvSpPr>
          <p:spPr bwMode="auto">
            <a:xfrm>
              <a:off x="1857" y="1938"/>
              <a:ext cx="652"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{Small, Large}</a:t>
              </a:r>
            </a:p>
          </p:txBody>
        </p:sp>
        <p:sp>
          <p:nvSpPr>
            <p:cNvPr id="25" name="Text Box 11">
              <a:extLst>
                <a:ext uri="{FF2B5EF4-FFF2-40B4-BE49-F238E27FC236}">
                  <a16:creationId xmlns:a16="http://schemas.microsoft.com/office/drawing/2014/main" id="{49C0FCE4-1381-529F-4670-CB6706BFC4EF}"/>
                </a:ext>
              </a:extLst>
            </p:cNvPr>
            <p:cNvSpPr txBox="1">
              <a:spLocks noChangeArrowheads="1"/>
            </p:cNvSpPr>
            <p:nvPr/>
          </p:nvSpPr>
          <p:spPr bwMode="auto">
            <a:xfrm>
              <a:off x="2805" y="1939"/>
              <a:ext cx="486"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{Medium}</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6" name="Group 4">
            <a:extLst>
              <a:ext uri="{FF2B5EF4-FFF2-40B4-BE49-F238E27FC236}">
                <a16:creationId xmlns:a16="http://schemas.microsoft.com/office/drawing/2014/main" id="{FEF7703E-DA4F-2922-5159-A7C9DEA8FF13}"/>
              </a:ext>
            </a:extLst>
          </p:cNvPr>
          <p:cNvGrpSpPr>
            <a:grpSpLocks/>
          </p:cNvGrpSpPr>
          <p:nvPr/>
        </p:nvGrpSpPr>
        <p:grpSpPr bwMode="auto">
          <a:xfrm>
            <a:off x="6896793" y="4648201"/>
            <a:ext cx="3512900" cy="1235387"/>
            <a:chOff x="1805" y="1680"/>
            <a:chExt cx="1436" cy="505"/>
          </a:xfrm>
        </p:grpSpPr>
        <p:sp>
          <p:nvSpPr>
            <p:cNvPr id="27" name="Oval 5">
              <a:extLst>
                <a:ext uri="{FF2B5EF4-FFF2-40B4-BE49-F238E27FC236}">
                  <a16:creationId xmlns:a16="http://schemas.microsoft.com/office/drawing/2014/main" id="{C8F5C009-07B8-00CE-F311-91C1C71BF9CB}"/>
                </a:ext>
              </a:extLst>
            </p:cNvPr>
            <p:cNvSpPr>
              <a:spLocks noChangeArrowheads="1"/>
            </p:cNvSpPr>
            <p:nvPr/>
          </p:nvSpPr>
          <p:spPr bwMode="auto">
            <a:xfrm>
              <a:off x="2357" y="1680"/>
              <a:ext cx="576" cy="288"/>
            </a:xfrm>
            <a:prstGeom prst="ellipse">
              <a:avLst/>
            </a:prstGeom>
            <a:solidFill>
              <a:schemeClr val="bg1">
                <a:lumMod val="95000"/>
              </a:schemeClr>
            </a:solidFill>
            <a:ln w="1270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a:latin typeface="Times New Roman" panose="02020603050405020304" pitchFamily="18" charset="0"/>
                  <a:ea typeface="宋体" panose="02010600030101010101" pitchFamily="2" charset="-122"/>
                </a:rPr>
                <a:t>Size</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Line 6">
              <a:extLst>
                <a:ext uri="{FF2B5EF4-FFF2-40B4-BE49-F238E27FC236}">
                  <a16:creationId xmlns:a16="http://schemas.microsoft.com/office/drawing/2014/main" id="{C104A87E-0DB4-F39D-762A-07ED35F8F2DF}"/>
                </a:ext>
              </a:extLst>
            </p:cNvPr>
            <p:cNvSpPr>
              <a:spLocks noChangeShapeType="1"/>
            </p:cNvSpPr>
            <p:nvPr/>
          </p:nvSpPr>
          <p:spPr bwMode="auto">
            <a:xfrm flipH="1">
              <a:off x="2208" y="1968"/>
              <a:ext cx="432" cy="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Line 8">
              <a:extLst>
                <a:ext uri="{FF2B5EF4-FFF2-40B4-BE49-F238E27FC236}">
                  <a16:creationId xmlns:a16="http://schemas.microsoft.com/office/drawing/2014/main" id="{33516B14-01AD-A8D7-9CFB-C5E65FC6C910}"/>
                </a:ext>
              </a:extLst>
            </p:cNvPr>
            <p:cNvSpPr>
              <a:spLocks noChangeShapeType="1"/>
            </p:cNvSpPr>
            <p:nvPr/>
          </p:nvSpPr>
          <p:spPr bwMode="auto">
            <a:xfrm>
              <a:off x="2640" y="1968"/>
              <a:ext cx="432" cy="2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Text Box 9">
              <a:extLst>
                <a:ext uri="{FF2B5EF4-FFF2-40B4-BE49-F238E27FC236}">
                  <a16:creationId xmlns:a16="http://schemas.microsoft.com/office/drawing/2014/main" id="{1B990FED-ACDF-F359-BB70-B5FF397ED867}"/>
                </a:ext>
              </a:extLst>
            </p:cNvPr>
            <p:cNvSpPr txBox="1">
              <a:spLocks noChangeArrowheads="1"/>
            </p:cNvSpPr>
            <p:nvPr/>
          </p:nvSpPr>
          <p:spPr bwMode="auto">
            <a:xfrm>
              <a:off x="1805" y="1938"/>
              <a:ext cx="751"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{Large, Medium}</a:t>
              </a:r>
            </a:p>
          </p:txBody>
        </p:sp>
        <p:sp>
          <p:nvSpPr>
            <p:cNvPr id="31" name="Text Box 11">
              <a:extLst>
                <a:ext uri="{FF2B5EF4-FFF2-40B4-BE49-F238E27FC236}">
                  <a16:creationId xmlns:a16="http://schemas.microsoft.com/office/drawing/2014/main" id="{25FE77B0-E64E-6B90-2012-4D57FA44ED40}"/>
                </a:ext>
              </a:extLst>
            </p:cNvPr>
            <p:cNvSpPr txBox="1">
              <a:spLocks noChangeArrowheads="1"/>
            </p:cNvSpPr>
            <p:nvPr/>
          </p:nvSpPr>
          <p:spPr bwMode="auto">
            <a:xfrm>
              <a:off x="2855" y="1939"/>
              <a:ext cx="386"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None/>
              </a:pPr>
              <a:r>
                <a:rPr lang="en-US" altLang="zh-CN" sz="1800">
                  <a:latin typeface="Times New Roman" panose="02020603050405020304" pitchFamily="18" charset="0"/>
                  <a:ea typeface="微软雅黑" panose="020B0503020204020204" pitchFamily="34" charset="-122"/>
                  <a:sym typeface="Times New Roman" panose="02020603050405020304" pitchFamily="18" charset="0"/>
                </a:rPr>
                <a:t>{Small}</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2" name="组合 31">
            <a:extLst>
              <a:ext uri="{FF2B5EF4-FFF2-40B4-BE49-F238E27FC236}">
                <a16:creationId xmlns:a16="http://schemas.microsoft.com/office/drawing/2014/main" id="{12143784-B6DB-4F7B-3669-9FE7116FF995}"/>
              </a:ext>
            </a:extLst>
          </p:cNvPr>
          <p:cNvGrpSpPr/>
          <p:nvPr/>
        </p:nvGrpSpPr>
        <p:grpSpPr>
          <a:xfrm>
            <a:off x="5682291" y="5615717"/>
            <a:ext cx="1039691" cy="1039691"/>
            <a:chOff x="3800678" y="5513509"/>
            <a:chExt cx="1440000" cy="1440000"/>
          </a:xfrm>
        </p:grpSpPr>
        <p:cxnSp>
          <p:nvCxnSpPr>
            <p:cNvPr id="33" name="直接连接符 62">
              <a:extLst>
                <a:ext uri="{FF2B5EF4-FFF2-40B4-BE49-F238E27FC236}">
                  <a16:creationId xmlns:a16="http://schemas.microsoft.com/office/drawing/2014/main" id="{572AB765-472A-F60F-21B0-0B67F79E7C1E}"/>
                </a:ext>
              </a:extLst>
            </p:cNvPr>
            <p:cNvCxnSpPr/>
            <p:nvPr/>
          </p:nvCxnSpPr>
          <p:spPr bwMode="auto">
            <a:xfrm flipH="1">
              <a:off x="3800678" y="5513509"/>
              <a:ext cx="1440000" cy="1440000"/>
            </a:xfrm>
            <a:prstGeom prst="line">
              <a:avLst/>
            </a:prstGeom>
            <a:ln w="57150">
              <a:solidFill>
                <a:srgbClr val="FF66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63">
              <a:extLst>
                <a:ext uri="{FF2B5EF4-FFF2-40B4-BE49-F238E27FC236}">
                  <a16:creationId xmlns:a16="http://schemas.microsoft.com/office/drawing/2014/main" id="{87B306BB-3346-FB6D-AB19-3E8262730CE0}"/>
                </a:ext>
              </a:extLst>
            </p:cNvPr>
            <p:cNvCxnSpPr/>
            <p:nvPr/>
          </p:nvCxnSpPr>
          <p:spPr bwMode="auto">
            <a:xfrm>
              <a:off x="3800678" y="5513509"/>
              <a:ext cx="1440000" cy="1440000"/>
            </a:xfrm>
            <a:prstGeom prst="line">
              <a:avLst/>
            </a:prstGeom>
            <a:ln w="57150">
              <a:solidFill>
                <a:srgbClr val="FF66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54240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31E565-FB21-B1AB-842E-7D5DB60587CA}"/>
              </a:ext>
            </a:extLst>
          </p:cNvPr>
          <p:cNvSpPr>
            <a:spLocks noGrp="1"/>
          </p:cNvSpPr>
          <p:nvPr>
            <p:ph type="title"/>
          </p:nvPr>
        </p:nvSpPr>
        <p:spPr/>
        <p:txBody>
          <a:bodyPr>
            <a:normAutofit fontScale="90000"/>
          </a:bodyPr>
          <a:lstStyle/>
          <a:p>
            <a:r>
              <a:rPr kumimoji="1" lang="zh-CN" altLang="en-US" dirty="0"/>
              <a:t>基于连续属性的划分</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9FAB13F2-3777-45BD-1CD2-0C1E2C22124F}"/>
                  </a:ext>
                </a:extLst>
              </p:cNvPr>
              <p:cNvSpPr txBox="1">
                <a:spLocks noChangeArrowheads="1"/>
              </p:cNvSpPr>
              <p:nvPr/>
            </p:nvSpPr>
            <p:spPr>
              <a:xfrm>
                <a:off x="1776000" y="756000"/>
                <a:ext cx="8640000" cy="1796582"/>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a:lnSpc>
                    <a:spcPct val="150000"/>
                  </a:lnSpc>
                  <a:spcBef>
                    <a:spcPts val="600"/>
                  </a:spcBef>
                  <a:buClr>
                    <a:srgbClr val="FF6600"/>
                  </a:buClr>
                  <a:buSzPct val="80000"/>
                  <a:buFont typeface="Wingdings" panose="05000000000000000000" pitchFamily="2" charset="2"/>
                  <a:buChar char="l"/>
                </a:pP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二元划分：</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A&lt;v</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or</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A</a:t>
                </a:r>
                <a14:m>
                  <m:oMath xmlns:m="http://schemas.openxmlformats.org/officeDocument/2006/math">
                    <m:r>
                      <a:rPr lang="en-US" altLang="zh-CN" sz="2400" i="1">
                        <a:latin typeface="Cambria Math" panose="02040503050406030204" pitchFamily="18" charset="0"/>
                        <a:ea typeface="Cambria Math" panose="02040503050406030204" pitchFamily="18" charset="0"/>
                        <a:cs typeface="+mn-ea"/>
                        <a:sym typeface="Times New Roman" panose="02020603050405020304" pitchFamily="18" charset="0"/>
                      </a:rPr>
                      <m:t>≥</m:t>
                    </m:r>
                  </m:oMath>
                </a14:m>
                <a:r>
                  <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rPr>
                  <a:t>v</a:t>
                </a:r>
                <a:r>
                  <a:rPr lang="zh-CN" altLang="en-US" sz="240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a:lnSpc>
                    <a:spcPct val="150000"/>
                  </a:lnSpc>
                  <a:spcBef>
                    <a:spcPts val="600"/>
                  </a:spcBef>
                  <a:buClr>
                    <a:srgbClr val="FF6600"/>
                  </a:buClr>
                  <a:buSzPct val="80000"/>
                  <a:buFont typeface="Wingdings" panose="05000000000000000000" pitchFamily="2" charset="2"/>
                  <a:buChar char="l"/>
                </a:pPr>
                <a:r>
                  <a:rPr lang="zh-CN" altLang="en-US" sz="2200">
                    <a:latin typeface="Times New Roman" panose="02020603050405020304" pitchFamily="18" charset="0"/>
                    <a:ea typeface="微软雅黑" panose="020B0503020204020204" pitchFamily="34" charset="-122"/>
                    <a:cs typeface="+mn-ea"/>
                    <a:sym typeface="Times New Roman" panose="02020603050405020304" pitchFamily="18" charset="0"/>
                  </a:rPr>
                  <a:t>考虑所有的划分点，选择一个</a:t>
                </a:r>
                <a:r>
                  <a:rPr lang="zh-CN" altLang="en-US" sz="22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最优划分点</a:t>
                </a:r>
                <a:r>
                  <a:rPr lang="en-US" altLang="zh-CN" sz="22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v</a:t>
                </a:r>
                <a:endParaRPr lang="en-US" altLang="zh-CN" sz="2200"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indent="-360000" algn="just" eaLnBrk="0" hangingPunct="0">
                  <a:lnSpc>
                    <a:spcPct val="150000"/>
                  </a:lnSpc>
                  <a:spcBef>
                    <a:spcPts val="600"/>
                  </a:spcBef>
                  <a:buClr>
                    <a:srgbClr val="FF6600"/>
                  </a:buClr>
                  <a:buSzPct val="80000"/>
                  <a:buFont typeface="Wingdings" panose="05000000000000000000" pitchFamily="2" charset="2"/>
                  <a:buChar char="l"/>
                </a:pPr>
                <a:r>
                  <a:rPr lang="zh-CN" altLang="en-US" sz="24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多路划分：</a:t>
                </a:r>
                <a:r>
                  <a:rPr lang="en-US" altLang="zh-CN"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v</a:t>
                </a:r>
                <a:r>
                  <a:rPr lang="en-US" altLang="zh-CN" sz="2400" baseline="-250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a:t>
                </a:r>
                <a14:m>
                  <m:oMath xmlns:m="http://schemas.openxmlformats.org/officeDocument/2006/math">
                    <m:r>
                      <a:rPr lang="en-US" altLang="zh-CN" sz="2400" i="1">
                        <a:solidFill>
                          <a:prstClr val="black"/>
                        </a:solidFill>
                        <a:latin typeface="Cambria Math" panose="02040503050406030204" pitchFamily="18" charset="0"/>
                        <a:ea typeface="Cambria Math" panose="02040503050406030204" pitchFamily="18" charset="0"/>
                        <a:cs typeface="+mn-ea"/>
                        <a:sym typeface="Times New Roman" panose="02020603050405020304" pitchFamily="18" charset="0"/>
                      </a:rPr>
                      <m:t>≤</m:t>
                    </m:r>
                  </m:oMath>
                </a14:m>
                <a:r>
                  <a:rPr lang="en-US" altLang="zh-CN"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A&lt;v</a:t>
                </a:r>
                <a:r>
                  <a:rPr lang="en-US" altLang="zh-CN" sz="2400" baseline="-250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i+1</a:t>
                </a:r>
                <a:r>
                  <a:rPr lang="zh-CN" altLang="en-US"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i=1,…,k</a:t>
                </a:r>
                <a:r>
                  <a:rPr lang="zh-CN" altLang="en-US"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Choice>
        <mc:Fallback xmlns="">
          <p:sp>
            <p:nvSpPr>
              <p:cNvPr id="3" name="Rectangle 3">
                <a:extLst>
                  <a:ext uri="{FF2B5EF4-FFF2-40B4-BE49-F238E27FC236}">
                    <a16:creationId xmlns:a16="http://schemas.microsoft.com/office/drawing/2014/main" id="{9FAB13F2-3777-45BD-1CD2-0C1E2C22124F}"/>
                  </a:ext>
                </a:extLst>
              </p:cNvPr>
              <p:cNvSpPr txBox="1">
                <a:spLocks noRot="1" noChangeAspect="1" noMove="1" noResize="1" noEditPoints="1" noAdjustHandles="1" noChangeArrowheads="1" noChangeShapeType="1" noTextEdit="1"/>
              </p:cNvSpPr>
              <p:nvPr/>
            </p:nvSpPr>
            <p:spPr>
              <a:xfrm>
                <a:off x="1776000" y="756000"/>
                <a:ext cx="8640000" cy="1796582"/>
              </a:xfrm>
              <a:prstGeom prst="rect">
                <a:avLst/>
              </a:prstGeom>
              <a:blipFill>
                <a:blip r:embed="rId2"/>
                <a:stretch>
                  <a:fillRect l="-440" b="-6294"/>
                </a:stretch>
              </a:blipFill>
            </p:spPr>
            <p:txBody>
              <a:bodyPr/>
              <a:lstStyle/>
              <a:p>
                <a:r>
                  <a:rPr lang="zh-CN" altLang="en-US">
                    <a:noFill/>
                  </a:rPr>
                  <a:t> </a:t>
                </a:r>
              </a:p>
            </p:txBody>
          </p:sp>
        </mc:Fallback>
      </mc:AlternateContent>
      <p:grpSp>
        <p:nvGrpSpPr>
          <p:cNvPr id="4" name="Group 4">
            <a:extLst>
              <a:ext uri="{FF2B5EF4-FFF2-40B4-BE49-F238E27FC236}">
                <a16:creationId xmlns:a16="http://schemas.microsoft.com/office/drawing/2014/main" id="{158945C9-2ABA-204F-8108-C76991C4FFF0}"/>
              </a:ext>
            </a:extLst>
          </p:cNvPr>
          <p:cNvGrpSpPr>
            <a:grpSpLocks/>
          </p:cNvGrpSpPr>
          <p:nvPr/>
        </p:nvGrpSpPr>
        <p:grpSpPr bwMode="auto">
          <a:xfrm>
            <a:off x="2773415" y="2990125"/>
            <a:ext cx="2383782" cy="2514600"/>
            <a:chOff x="2238" y="1438"/>
            <a:chExt cx="820" cy="865"/>
          </a:xfrm>
        </p:grpSpPr>
        <p:sp>
          <p:nvSpPr>
            <p:cNvPr id="5" name="Line 6">
              <a:extLst>
                <a:ext uri="{FF2B5EF4-FFF2-40B4-BE49-F238E27FC236}">
                  <a16:creationId xmlns:a16="http://schemas.microsoft.com/office/drawing/2014/main" id="{41CFED74-F6A3-05FA-F0A8-EB90D29E88F8}"/>
                </a:ext>
              </a:extLst>
            </p:cNvPr>
            <p:cNvSpPr>
              <a:spLocks noChangeShapeType="1"/>
            </p:cNvSpPr>
            <p:nvPr/>
          </p:nvSpPr>
          <p:spPr bwMode="auto">
            <a:xfrm flipH="1">
              <a:off x="2241" y="1968"/>
              <a:ext cx="399"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Line 8">
              <a:extLst>
                <a:ext uri="{FF2B5EF4-FFF2-40B4-BE49-F238E27FC236}">
                  <a16:creationId xmlns:a16="http://schemas.microsoft.com/office/drawing/2014/main" id="{A6FA7D43-E78F-EA10-7582-F50B504F1B28}"/>
                </a:ext>
              </a:extLst>
            </p:cNvPr>
            <p:cNvSpPr>
              <a:spLocks noChangeShapeType="1"/>
            </p:cNvSpPr>
            <p:nvPr/>
          </p:nvSpPr>
          <p:spPr bwMode="auto">
            <a:xfrm>
              <a:off x="2640" y="1968"/>
              <a:ext cx="399"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Text Box 9">
              <a:extLst>
                <a:ext uri="{FF2B5EF4-FFF2-40B4-BE49-F238E27FC236}">
                  <a16:creationId xmlns:a16="http://schemas.microsoft.com/office/drawing/2014/main" id="{C19C88A0-3400-F9E5-4C79-4E6F1F6E81C8}"/>
                </a:ext>
              </a:extLst>
            </p:cNvPr>
            <p:cNvSpPr txBox="1">
              <a:spLocks noChangeArrowheads="1"/>
            </p:cNvSpPr>
            <p:nvPr/>
          </p:nvSpPr>
          <p:spPr bwMode="auto">
            <a:xfrm>
              <a:off x="2238" y="1991"/>
              <a:ext cx="19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 Box 11">
              <a:extLst>
                <a:ext uri="{FF2B5EF4-FFF2-40B4-BE49-F238E27FC236}">
                  <a16:creationId xmlns:a16="http://schemas.microsoft.com/office/drawing/2014/main" id="{448B33FA-1B54-25A8-D85F-C927D6AF9A98}"/>
                </a:ext>
              </a:extLst>
            </p:cNvPr>
            <p:cNvSpPr txBox="1">
              <a:spLocks noChangeArrowheads="1"/>
            </p:cNvSpPr>
            <p:nvPr/>
          </p:nvSpPr>
          <p:spPr bwMode="auto">
            <a:xfrm>
              <a:off x="2886" y="1989"/>
              <a:ext cx="17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Oval 5">
              <a:extLst>
                <a:ext uri="{FF2B5EF4-FFF2-40B4-BE49-F238E27FC236}">
                  <a16:creationId xmlns:a16="http://schemas.microsoft.com/office/drawing/2014/main" id="{01319663-65D5-6091-95BE-EC9D8EDA3D32}"/>
                </a:ext>
              </a:extLst>
            </p:cNvPr>
            <p:cNvSpPr>
              <a:spLocks noChangeArrowheads="1"/>
            </p:cNvSpPr>
            <p:nvPr/>
          </p:nvSpPr>
          <p:spPr bwMode="auto">
            <a:xfrm>
              <a:off x="2387" y="1438"/>
              <a:ext cx="530" cy="53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Taxable Income</a:t>
              </a:r>
            </a:p>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&gt;80k?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0" name="矩形 9">
            <a:extLst>
              <a:ext uri="{FF2B5EF4-FFF2-40B4-BE49-F238E27FC236}">
                <a16:creationId xmlns:a16="http://schemas.microsoft.com/office/drawing/2014/main" id="{1A9693A9-2041-7151-EAD9-87CF391B0628}"/>
              </a:ext>
            </a:extLst>
          </p:cNvPr>
          <p:cNvSpPr/>
          <p:nvPr/>
        </p:nvSpPr>
        <p:spPr>
          <a:xfrm>
            <a:off x="3249393" y="6102000"/>
            <a:ext cx="1385316" cy="400110"/>
          </a:xfrm>
          <a:prstGeom prst="rect">
            <a:avLst/>
          </a:prstGeom>
          <a:solidFill>
            <a:srgbClr val="13548C"/>
          </a:solidFill>
        </p:spPr>
        <p:txBody>
          <a:bodyPr wrap="none">
            <a:spAutoFit/>
          </a:bodyPr>
          <a:lstStyle/>
          <a:p>
            <a:pPr algn="ctr"/>
            <a:r>
              <a:rPr lang="en-US" altLang="zh-CN" sz="200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Binary split</a:t>
            </a:r>
            <a:endParaRPr lang="zh-CN" altLang="en-US" sz="2000">
              <a:solidFill>
                <a:schemeClr val="bg1"/>
              </a:solidFill>
            </a:endParaRPr>
          </a:p>
        </p:txBody>
      </p:sp>
      <p:grpSp>
        <p:nvGrpSpPr>
          <p:cNvPr id="11" name="Group 4">
            <a:extLst>
              <a:ext uri="{FF2B5EF4-FFF2-40B4-BE49-F238E27FC236}">
                <a16:creationId xmlns:a16="http://schemas.microsoft.com/office/drawing/2014/main" id="{0283F1D1-6779-B311-8235-1E29F0CBF9FE}"/>
              </a:ext>
            </a:extLst>
          </p:cNvPr>
          <p:cNvGrpSpPr>
            <a:grpSpLocks/>
          </p:cNvGrpSpPr>
          <p:nvPr/>
        </p:nvGrpSpPr>
        <p:grpSpPr bwMode="auto">
          <a:xfrm>
            <a:off x="6368096" y="2990125"/>
            <a:ext cx="3351832" cy="2968100"/>
            <a:chOff x="2077" y="1438"/>
            <a:chExt cx="1153" cy="1021"/>
          </a:xfrm>
        </p:grpSpPr>
        <p:sp>
          <p:nvSpPr>
            <p:cNvPr id="12" name="Line 6">
              <a:extLst>
                <a:ext uri="{FF2B5EF4-FFF2-40B4-BE49-F238E27FC236}">
                  <a16:creationId xmlns:a16="http://schemas.microsoft.com/office/drawing/2014/main" id="{32DD4475-F48D-DD88-D1F1-EF161E770E8C}"/>
                </a:ext>
              </a:extLst>
            </p:cNvPr>
            <p:cNvSpPr>
              <a:spLocks noChangeShapeType="1"/>
            </p:cNvSpPr>
            <p:nvPr/>
          </p:nvSpPr>
          <p:spPr bwMode="auto">
            <a:xfrm flipH="1">
              <a:off x="2379" y="1968"/>
              <a:ext cx="272"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Line 8">
              <a:extLst>
                <a:ext uri="{FF2B5EF4-FFF2-40B4-BE49-F238E27FC236}">
                  <a16:creationId xmlns:a16="http://schemas.microsoft.com/office/drawing/2014/main" id="{5812AE75-B1BE-DB0D-FF84-E5EAAF2EBB31}"/>
                </a:ext>
              </a:extLst>
            </p:cNvPr>
            <p:cNvSpPr>
              <a:spLocks noChangeShapeType="1"/>
            </p:cNvSpPr>
            <p:nvPr/>
          </p:nvSpPr>
          <p:spPr bwMode="auto">
            <a:xfrm>
              <a:off x="2652" y="1968"/>
              <a:ext cx="272"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9">
              <a:extLst>
                <a:ext uri="{FF2B5EF4-FFF2-40B4-BE49-F238E27FC236}">
                  <a16:creationId xmlns:a16="http://schemas.microsoft.com/office/drawing/2014/main" id="{2405DAE6-79F9-BD2E-4102-7EBBCF151962}"/>
                </a:ext>
              </a:extLst>
            </p:cNvPr>
            <p:cNvSpPr txBox="1">
              <a:spLocks noChangeArrowheads="1"/>
            </p:cNvSpPr>
            <p:nvPr/>
          </p:nvSpPr>
          <p:spPr bwMode="auto">
            <a:xfrm>
              <a:off x="2175" y="1991"/>
              <a:ext cx="24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&lt;10k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1">
              <a:extLst>
                <a:ext uri="{FF2B5EF4-FFF2-40B4-BE49-F238E27FC236}">
                  <a16:creationId xmlns:a16="http://schemas.microsoft.com/office/drawing/2014/main" id="{784ACECF-833D-7788-F809-FF5CD7B337D2}"/>
                </a:ext>
              </a:extLst>
            </p:cNvPr>
            <p:cNvSpPr txBox="1">
              <a:spLocks noChangeArrowheads="1"/>
            </p:cNvSpPr>
            <p:nvPr/>
          </p:nvSpPr>
          <p:spPr bwMode="auto">
            <a:xfrm>
              <a:off x="2878" y="1989"/>
              <a:ext cx="24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&gt;80k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Line 6">
              <a:extLst>
                <a:ext uri="{FF2B5EF4-FFF2-40B4-BE49-F238E27FC236}">
                  <a16:creationId xmlns:a16="http://schemas.microsoft.com/office/drawing/2014/main" id="{A377DD95-7A9C-A654-84D1-546CFE878585}"/>
                </a:ext>
              </a:extLst>
            </p:cNvPr>
            <p:cNvSpPr>
              <a:spLocks noChangeShapeType="1"/>
            </p:cNvSpPr>
            <p:nvPr/>
          </p:nvSpPr>
          <p:spPr bwMode="auto">
            <a:xfrm flipH="1">
              <a:off x="2651" y="1968"/>
              <a:ext cx="0"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Line 8">
              <a:extLst>
                <a:ext uri="{FF2B5EF4-FFF2-40B4-BE49-F238E27FC236}">
                  <a16:creationId xmlns:a16="http://schemas.microsoft.com/office/drawing/2014/main" id="{B682CADB-80F3-9518-BD9A-C6D84901EAE0}"/>
                </a:ext>
              </a:extLst>
            </p:cNvPr>
            <p:cNvSpPr>
              <a:spLocks noChangeShapeType="1"/>
            </p:cNvSpPr>
            <p:nvPr/>
          </p:nvSpPr>
          <p:spPr bwMode="auto">
            <a:xfrm>
              <a:off x="2640" y="1968"/>
              <a:ext cx="570"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Line 8">
              <a:extLst>
                <a:ext uri="{FF2B5EF4-FFF2-40B4-BE49-F238E27FC236}">
                  <a16:creationId xmlns:a16="http://schemas.microsoft.com/office/drawing/2014/main" id="{F2F814A7-AD59-CE20-1B1F-F33770A95AEC}"/>
                </a:ext>
              </a:extLst>
            </p:cNvPr>
            <p:cNvSpPr>
              <a:spLocks noChangeShapeType="1"/>
            </p:cNvSpPr>
            <p:nvPr/>
          </p:nvSpPr>
          <p:spPr bwMode="auto">
            <a:xfrm flipH="1">
              <a:off x="2081" y="1968"/>
              <a:ext cx="570"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Oval 5">
              <a:extLst>
                <a:ext uri="{FF2B5EF4-FFF2-40B4-BE49-F238E27FC236}">
                  <a16:creationId xmlns:a16="http://schemas.microsoft.com/office/drawing/2014/main" id="{90A37314-A5A3-C4BC-28BF-814C66037D6E}"/>
                </a:ext>
              </a:extLst>
            </p:cNvPr>
            <p:cNvSpPr>
              <a:spLocks noChangeArrowheads="1"/>
            </p:cNvSpPr>
            <p:nvPr/>
          </p:nvSpPr>
          <p:spPr bwMode="auto">
            <a:xfrm>
              <a:off x="2387" y="1438"/>
              <a:ext cx="530" cy="53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Taxable Income?</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Text Box 9">
              <a:extLst>
                <a:ext uri="{FF2B5EF4-FFF2-40B4-BE49-F238E27FC236}">
                  <a16:creationId xmlns:a16="http://schemas.microsoft.com/office/drawing/2014/main" id="{0918B225-18C3-7D2F-E8B8-6CD60E0A1298}"/>
                </a:ext>
              </a:extLst>
            </p:cNvPr>
            <p:cNvSpPr txBox="1">
              <a:spLocks noChangeArrowheads="1"/>
            </p:cNvSpPr>
            <p:nvPr/>
          </p:nvSpPr>
          <p:spPr bwMode="auto">
            <a:xfrm>
              <a:off x="2077"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[10k,25k]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Text Box 9">
              <a:extLst>
                <a:ext uri="{FF2B5EF4-FFF2-40B4-BE49-F238E27FC236}">
                  <a16:creationId xmlns:a16="http://schemas.microsoft.com/office/drawing/2014/main" id="{62D14E2F-37A6-67F0-4873-6657C414217A}"/>
                </a:ext>
              </a:extLst>
            </p:cNvPr>
            <p:cNvSpPr txBox="1">
              <a:spLocks noChangeArrowheads="1"/>
            </p:cNvSpPr>
            <p:nvPr/>
          </p:nvSpPr>
          <p:spPr bwMode="auto">
            <a:xfrm>
              <a:off x="2449"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[25k,50k]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Text Box 9">
              <a:extLst>
                <a:ext uri="{FF2B5EF4-FFF2-40B4-BE49-F238E27FC236}">
                  <a16:creationId xmlns:a16="http://schemas.microsoft.com/office/drawing/2014/main" id="{C6335F52-8BD1-5467-C41A-B61861546CC1}"/>
                </a:ext>
              </a:extLst>
            </p:cNvPr>
            <p:cNvSpPr txBox="1">
              <a:spLocks noChangeArrowheads="1"/>
            </p:cNvSpPr>
            <p:nvPr/>
          </p:nvSpPr>
          <p:spPr bwMode="auto">
            <a:xfrm>
              <a:off x="2821"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a:latin typeface="Times New Roman" panose="02020603050405020304" pitchFamily="18" charset="0"/>
                  <a:ea typeface="微软雅黑" panose="020B0503020204020204" pitchFamily="34" charset="-122"/>
                  <a:sym typeface="Times New Roman" panose="02020603050405020304" pitchFamily="18" charset="0"/>
                </a:rPr>
                <a:t>[50k,80k]</a:t>
              </a:r>
              <a:endParaRPr lang="en-US" altLang="zh-CN"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矩形 22">
            <a:extLst>
              <a:ext uri="{FF2B5EF4-FFF2-40B4-BE49-F238E27FC236}">
                <a16:creationId xmlns:a16="http://schemas.microsoft.com/office/drawing/2014/main" id="{D4E69EFA-461A-827C-9C0C-6A32B554E1F4}"/>
              </a:ext>
            </a:extLst>
          </p:cNvPr>
          <p:cNvSpPr/>
          <p:nvPr/>
        </p:nvSpPr>
        <p:spPr>
          <a:xfrm>
            <a:off x="7224723" y="6102000"/>
            <a:ext cx="1768434" cy="400110"/>
          </a:xfrm>
          <a:prstGeom prst="rect">
            <a:avLst/>
          </a:prstGeom>
          <a:solidFill>
            <a:srgbClr val="13548C"/>
          </a:solidFill>
        </p:spPr>
        <p:txBody>
          <a:bodyPr wrap="none">
            <a:spAutoFit/>
          </a:bodyPr>
          <a:lstStyle/>
          <a:p>
            <a:pPr algn="ctr"/>
            <a:r>
              <a:rPr lang="en-US" altLang="zh-CN" sz="200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Multi-way split</a:t>
            </a:r>
            <a:endParaRPr lang="zh-CN" altLang="en-US" sz="2000">
              <a:solidFill>
                <a:schemeClr val="bg1"/>
              </a:solidFill>
            </a:endParaRPr>
          </a:p>
        </p:txBody>
      </p:sp>
    </p:spTree>
    <p:extLst>
      <p:ext uri="{BB962C8B-B14F-4D97-AF65-F5344CB8AC3E}">
        <p14:creationId xmlns:p14="http://schemas.microsoft.com/office/powerpoint/2010/main" val="2161603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F7CCE-DA3B-8C39-BE07-F91F66ABF0BE}"/>
              </a:ext>
            </a:extLst>
          </p:cNvPr>
          <p:cNvSpPr>
            <a:spLocks noGrp="1"/>
          </p:cNvSpPr>
          <p:nvPr>
            <p:ph type="title"/>
          </p:nvPr>
        </p:nvSpPr>
        <p:spPr/>
        <p:txBody>
          <a:bodyPr>
            <a:normAutofit fontScale="90000"/>
          </a:bodyPr>
          <a:lstStyle/>
          <a:p>
            <a:pPr algn="just" fontAlgn="base">
              <a:lnSpc>
                <a:spcPct val="150000"/>
              </a:lnSpc>
              <a:spcBef>
                <a:spcPts val="600"/>
              </a:spcBef>
              <a:spcAft>
                <a:spcPct val="0"/>
              </a:spcAft>
              <a:buClr>
                <a:srgbClr val="FF6600"/>
              </a:buClr>
              <a:buSzPct val="80000"/>
            </a:pPr>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决策树归纳的设计问题</a:t>
            </a:r>
          </a:p>
        </p:txBody>
      </p:sp>
      <p:sp>
        <p:nvSpPr>
          <p:cNvPr id="3" name="Rectangle 7">
            <a:extLst>
              <a:ext uri="{FF2B5EF4-FFF2-40B4-BE49-F238E27FC236}">
                <a16:creationId xmlns:a16="http://schemas.microsoft.com/office/drawing/2014/main" id="{4CA84B44-03E6-E6E5-1B3E-DFB8E2310658}"/>
              </a:ext>
            </a:extLst>
          </p:cNvPr>
          <p:cNvSpPr txBox="1">
            <a:spLocks noChangeArrowheads="1"/>
          </p:cNvSpPr>
          <p:nvPr/>
        </p:nvSpPr>
        <p:spPr>
          <a:xfrm>
            <a:off x="484959" y="1299697"/>
            <a:ext cx="10907969" cy="2473691"/>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如何分裂训练记录？</a:t>
            </a:r>
          </a:p>
          <a:p>
            <a:pPr lvl="2" fontAlgn="base">
              <a:lnSpc>
                <a:spcPct val="150000"/>
              </a:lnSpc>
              <a:spcBef>
                <a:spcPts val="600"/>
              </a:spcBef>
              <a:spcAft>
                <a:spcPct val="0"/>
              </a:spcAft>
              <a:buClr>
                <a:srgbClr val="FF6700"/>
              </a:buClr>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怎样为不同类型的属性指定测试条件？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fontAlgn="base">
              <a:lnSpc>
                <a:spcPct val="150000"/>
              </a:lnSpc>
              <a:spcBef>
                <a:spcPts val="600"/>
              </a:spcBef>
              <a:spcAft>
                <a:spcPct val="0"/>
              </a:spcAft>
              <a:buClr>
                <a:srgbClr val="FF6700"/>
              </a:buClr>
            </a:pPr>
            <a:r>
              <a:rPr lang="zh-CN" altLang="en-US" sz="2400" dirty="0">
                <a:solidFill>
                  <a:srgbClr val="C00000"/>
                </a:solidFill>
                <a:sym typeface="Times New Roman" panose="02020603050405020304" pitchFamily="18" charset="0"/>
              </a:rPr>
              <a:t>怎样评估每种测试条件？</a:t>
            </a:r>
            <a:endParaRPr lang="en-US" altLang="zh-CN" sz="2400" dirty="0">
              <a:solidFill>
                <a:srgbClr val="C00000"/>
              </a:solidFill>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如何停止分裂过程？</a:t>
            </a:r>
          </a:p>
        </p:txBody>
      </p:sp>
    </p:spTree>
    <p:extLst>
      <p:ext uri="{BB962C8B-B14F-4D97-AF65-F5344CB8AC3E}">
        <p14:creationId xmlns:p14="http://schemas.microsoft.com/office/powerpoint/2010/main" val="286913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A1440-05AE-8615-A74E-1DE61CAA58F0}"/>
              </a:ext>
            </a:extLst>
          </p:cNvPr>
          <p:cNvSpPr>
            <a:spLocks noGrp="1"/>
          </p:cNvSpPr>
          <p:nvPr>
            <p:ph type="title"/>
          </p:nvPr>
        </p:nvSpPr>
        <p:spPr/>
        <p:txBody>
          <a:bodyPr>
            <a:normAutofit fontScale="90000"/>
          </a:bodyPr>
          <a:lstStyle/>
          <a:p>
            <a:r>
              <a:rPr kumimoji="1" lang="zh-CN" altLang="en-US" dirty="0"/>
              <a:t>怎样选择最佳划分</a:t>
            </a:r>
          </a:p>
        </p:txBody>
      </p:sp>
      <p:sp>
        <p:nvSpPr>
          <p:cNvPr id="3" name="Text Box 8">
            <a:extLst>
              <a:ext uri="{FF2B5EF4-FFF2-40B4-BE49-F238E27FC236}">
                <a16:creationId xmlns:a16="http://schemas.microsoft.com/office/drawing/2014/main" id="{E36F1C5B-FB74-317D-093A-FF42DB7E5048}"/>
              </a:ext>
            </a:extLst>
          </p:cNvPr>
          <p:cNvSpPr txBox="1">
            <a:spLocks noChangeArrowheads="1"/>
          </p:cNvSpPr>
          <p:nvPr/>
        </p:nvSpPr>
        <p:spPr bwMode="auto">
          <a:xfrm>
            <a:off x="1666215" y="984544"/>
            <a:ext cx="8321322"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nSpc>
                <a:spcPct val="150000"/>
              </a:lnSpc>
              <a:spcBef>
                <a:spcPct val="50000"/>
              </a:spcBef>
              <a:spcAft>
                <a:spcPct val="0"/>
              </a:spcAft>
              <a:buClrTx/>
              <a:buSzTx/>
              <a:buFontTx/>
              <a:buNone/>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在划分前：</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10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个记录 </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class 0,</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10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个记录 </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class 1</a:t>
            </a:r>
          </a:p>
        </p:txBody>
      </p:sp>
      <p:grpSp>
        <p:nvGrpSpPr>
          <p:cNvPr id="4" name="组合 3">
            <a:extLst>
              <a:ext uri="{FF2B5EF4-FFF2-40B4-BE49-F238E27FC236}">
                <a16:creationId xmlns:a16="http://schemas.microsoft.com/office/drawing/2014/main" id="{40094ABE-04FD-F599-A942-FA38734019A1}"/>
              </a:ext>
            </a:extLst>
          </p:cNvPr>
          <p:cNvGrpSpPr/>
          <p:nvPr/>
        </p:nvGrpSpPr>
        <p:grpSpPr>
          <a:xfrm>
            <a:off x="1257856" y="2064827"/>
            <a:ext cx="2016365" cy="2463576"/>
            <a:chOff x="946692" y="2869393"/>
            <a:chExt cx="2016365" cy="2463576"/>
          </a:xfrm>
        </p:grpSpPr>
        <p:grpSp>
          <p:nvGrpSpPr>
            <p:cNvPr id="5" name="Group 4">
              <a:extLst>
                <a:ext uri="{FF2B5EF4-FFF2-40B4-BE49-F238E27FC236}">
                  <a16:creationId xmlns:a16="http://schemas.microsoft.com/office/drawing/2014/main" id="{F95B2E6C-C5D4-1BFE-C9B3-6CA83864F3D0}"/>
                </a:ext>
              </a:extLst>
            </p:cNvPr>
            <p:cNvGrpSpPr>
              <a:grpSpLocks/>
            </p:cNvGrpSpPr>
            <p:nvPr/>
          </p:nvGrpSpPr>
          <p:grpSpPr bwMode="auto">
            <a:xfrm>
              <a:off x="1065408" y="2869393"/>
              <a:ext cx="1720975" cy="1779116"/>
              <a:chOff x="2343" y="1678"/>
              <a:chExt cx="592" cy="612"/>
            </a:xfrm>
          </p:grpSpPr>
          <p:sp>
            <p:nvSpPr>
              <p:cNvPr id="8" name="Line 6">
                <a:extLst>
                  <a:ext uri="{FF2B5EF4-FFF2-40B4-BE49-F238E27FC236}">
                    <a16:creationId xmlns:a16="http://schemas.microsoft.com/office/drawing/2014/main" id="{68A7E3D6-544B-F82D-6C6B-0B091E4D8605}"/>
                  </a:ext>
                </a:extLst>
              </p:cNvPr>
              <p:cNvSpPr>
                <a:spLocks noChangeShapeType="1"/>
              </p:cNvSpPr>
              <p:nvPr/>
            </p:nvSpPr>
            <p:spPr bwMode="auto">
              <a:xfrm flipH="1">
                <a:off x="2427" y="1968"/>
                <a:ext cx="211"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Line 8">
                <a:extLst>
                  <a:ext uri="{FF2B5EF4-FFF2-40B4-BE49-F238E27FC236}">
                    <a16:creationId xmlns:a16="http://schemas.microsoft.com/office/drawing/2014/main" id="{EF4F4FA2-6FB9-A408-54CA-A8E2B3C89964}"/>
                  </a:ext>
                </a:extLst>
              </p:cNvPr>
              <p:cNvSpPr>
                <a:spLocks noChangeShapeType="1"/>
              </p:cNvSpPr>
              <p:nvPr/>
            </p:nvSpPr>
            <p:spPr bwMode="auto">
              <a:xfrm>
                <a:off x="2640" y="1968"/>
                <a:ext cx="211"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 Box 9">
                <a:extLst>
                  <a:ext uri="{FF2B5EF4-FFF2-40B4-BE49-F238E27FC236}">
                    <a16:creationId xmlns:a16="http://schemas.microsoft.com/office/drawing/2014/main" id="{13A22F9B-D4E0-4214-F4F4-227C424E2F44}"/>
                  </a:ext>
                </a:extLst>
              </p:cNvPr>
              <p:cNvSpPr txBox="1">
                <a:spLocks noChangeArrowheads="1"/>
              </p:cNvSpPr>
              <p:nvPr/>
            </p:nvSpPr>
            <p:spPr bwMode="auto">
              <a:xfrm>
                <a:off x="2343" y="2026"/>
                <a:ext cx="18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Text Box 11">
                <a:extLst>
                  <a:ext uri="{FF2B5EF4-FFF2-40B4-BE49-F238E27FC236}">
                    <a16:creationId xmlns:a16="http://schemas.microsoft.com/office/drawing/2014/main" id="{8A2A9B22-10DC-8AE0-B1FD-9B3EE3205EB5}"/>
                  </a:ext>
                </a:extLst>
              </p:cNvPr>
              <p:cNvSpPr txBox="1">
                <a:spLocks noChangeArrowheads="1"/>
              </p:cNvSpPr>
              <p:nvPr/>
            </p:nvSpPr>
            <p:spPr bwMode="auto">
              <a:xfrm>
                <a:off x="2768" y="2026"/>
                <a:ext cx="167"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Oval 5">
                <a:extLst>
                  <a:ext uri="{FF2B5EF4-FFF2-40B4-BE49-F238E27FC236}">
                    <a16:creationId xmlns:a16="http://schemas.microsoft.com/office/drawing/2014/main" id="{4A130CAE-D44C-32D7-C40B-033D5261DE76}"/>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Sex?</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6" name="Rectangle 48">
              <a:extLst>
                <a:ext uri="{FF2B5EF4-FFF2-40B4-BE49-F238E27FC236}">
                  <a16:creationId xmlns:a16="http://schemas.microsoft.com/office/drawing/2014/main" id="{60CA2025-349F-CC37-FDFA-10E99EDEC062}"/>
                </a:ext>
              </a:extLst>
            </p:cNvPr>
            <p:cNvSpPr>
              <a:spLocks noChangeArrowheads="1"/>
            </p:cNvSpPr>
            <p:nvPr/>
          </p:nvSpPr>
          <p:spPr bwMode="auto">
            <a:xfrm>
              <a:off x="946692"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C0:6</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C1:4</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Rectangle 48">
              <a:extLst>
                <a:ext uri="{FF2B5EF4-FFF2-40B4-BE49-F238E27FC236}">
                  <a16:creationId xmlns:a16="http://schemas.microsoft.com/office/drawing/2014/main" id="{E4E58B7F-E825-9B71-E1B0-D0BBC56977AE}"/>
                </a:ext>
              </a:extLst>
            </p:cNvPr>
            <p:cNvSpPr>
              <a:spLocks noChangeArrowheads="1"/>
            </p:cNvSpPr>
            <p:nvPr/>
          </p:nvSpPr>
          <p:spPr bwMode="auto">
            <a:xfrm>
              <a:off x="2243057"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C0:4</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C1:6</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3" name="组合 12">
            <a:extLst>
              <a:ext uri="{FF2B5EF4-FFF2-40B4-BE49-F238E27FC236}">
                <a16:creationId xmlns:a16="http://schemas.microsoft.com/office/drawing/2014/main" id="{3FC84343-CEA0-50B6-0BAC-E755BD73DED0}"/>
              </a:ext>
            </a:extLst>
          </p:cNvPr>
          <p:cNvGrpSpPr/>
          <p:nvPr/>
        </p:nvGrpSpPr>
        <p:grpSpPr>
          <a:xfrm>
            <a:off x="3859427" y="2054286"/>
            <a:ext cx="2805307" cy="2463575"/>
            <a:chOff x="565399" y="2869394"/>
            <a:chExt cx="2805307" cy="2463575"/>
          </a:xfrm>
        </p:grpSpPr>
        <p:grpSp>
          <p:nvGrpSpPr>
            <p:cNvPr id="14" name="Group 4">
              <a:extLst>
                <a:ext uri="{FF2B5EF4-FFF2-40B4-BE49-F238E27FC236}">
                  <a16:creationId xmlns:a16="http://schemas.microsoft.com/office/drawing/2014/main" id="{A1742FAB-153F-8078-9A2D-9DB3F3FD93D0}"/>
                </a:ext>
              </a:extLst>
            </p:cNvPr>
            <p:cNvGrpSpPr>
              <a:grpSpLocks/>
            </p:cNvGrpSpPr>
            <p:nvPr/>
          </p:nvGrpSpPr>
          <p:grpSpPr bwMode="auto">
            <a:xfrm>
              <a:off x="565399" y="2869394"/>
              <a:ext cx="2805307" cy="1816908"/>
              <a:chOff x="2171" y="1678"/>
              <a:chExt cx="965" cy="625"/>
            </a:xfrm>
          </p:grpSpPr>
          <p:sp>
            <p:nvSpPr>
              <p:cNvPr id="18" name="Line 6">
                <a:extLst>
                  <a:ext uri="{FF2B5EF4-FFF2-40B4-BE49-F238E27FC236}">
                    <a16:creationId xmlns:a16="http://schemas.microsoft.com/office/drawing/2014/main" id="{AB3CA6D5-9BBF-ABAE-383A-C425E8627B4C}"/>
                  </a:ext>
                </a:extLst>
              </p:cNvPr>
              <p:cNvSpPr>
                <a:spLocks noChangeShapeType="1"/>
              </p:cNvSpPr>
              <p:nvPr/>
            </p:nvSpPr>
            <p:spPr bwMode="auto">
              <a:xfrm flipH="1">
                <a:off x="2321" y="1968"/>
                <a:ext cx="322"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Line 8">
                <a:extLst>
                  <a:ext uri="{FF2B5EF4-FFF2-40B4-BE49-F238E27FC236}">
                    <a16:creationId xmlns:a16="http://schemas.microsoft.com/office/drawing/2014/main" id="{3C84214C-8A83-E1EF-FA55-CA9EBF7706DD}"/>
                  </a:ext>
                </a:extLst>
              </p:cNvPr>
              <p:cNvSpPr>
                <a:spLocks noChangeShapeType="1"/>
              </p:cNvSpPr>
              <p:nvPr/>
            </p:nvSpPr>
            <p:spPr bwMode="auto">
              <a:xfrm>
                <a:off x="2640" y="1968"/>
                <a:ext cx="322"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Text Box 9">
                <a:extLst>
                  <a:ext uri="{FF2B5EF4-FFF2-40B4-BE49-F238E27FC236}">
                    <a16:creationId xmlns:a16="http://schemas.microsoft.com/office/drawing/2014/main" id="{0A853B3E-5C59-33B1-C744-6E82C9D99AB6}"/>
                  </a:ext>
                </a:extLst>
              </p:cNvPr>
              <p:cNvSpPr txBox="1">
                <a:spLocks noChangeArrowheads="1"/>
              </p:cNvSpPr>
              <p:nvPr/>
            </p:nvSpPr>
            <p:spPr bwMode="auto">
              <a:xfrm>
                <a:off x="2171" y="2024"/>
                <a:ext cx="313"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Family</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Text Box 11">
                <a:extLst>
                  <a:ext uri="{FF2B5EF4-FFF2-40B4-BE49-F238E27FC236}">
                    <a16:creationId xmlns:a16="http://schemas.microsoft.com/office/drawing/2014/main" id="{5B2B035D-441D-5E2D-0045-BEFA3717F40D}"/>
                  </a:ext>
                </a:extLst>
              </p:cNvPr>
              <p:cNvSpPr txBox="1">
                <a:spLocks noChangeArrowheads="1"/>
              </p:cNvSpPr>
              <p:nvPr/>
            </p:nvSpPr>
            <p:spPr bwMode="auto">
              <a:xfrm>
                <a:off x="2813" y="2024"/>
                <a:ext cx="323"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Luxury</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Oval 5">
                <a:extLst>
                  <a:ext uri="{FF2B5EF4-FFF2-40B4-BE49-F238E27FC236}">
                    <a16:creationId xmlns:a16="http://schemas.microsoft.com/office/drawing/2014/main" id="{387180F8-C946-9DD0-21FF-7105C390C2E3}"/>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Car Type?</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Line 8">
                <a:extLst>
                  <a:ext uri="{FF2B5EF4-FFF2-40B4-BE49-F238E27FC236}">
                    <a16:creationId xmlns:a16="http://schemas.microsoft.com/office/drawing/2014/main" id="{45CA3028-A4B3-38B3-C30E-53903D924CF8}"/>
                  </a:ext>
                </a:extLst>
              </p:cNvPr>
              <p:cNvSpPr>
                <a:spLocks noChangeShapeType="1"/>
              </p:cNvSpPr>
              <p:nvPr/>
            </p:nvSpPr>
            <p:spPr bwMode="auto">
              <a:xfrm>
                <a:off x="2638" y="1981"/>
                <a:ext cx="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11">
                <a:extLst>
                  <a:ext uri="{FF2B5EF4-FFF2-40B4-BE49-F238E27FC236}">
                    <a16:creationId xmlns:a16="http://schemas.microsoft.com/office/drawing/2014/main" id="{87258F91-D6D8-0D5F-ED63-F1A360979E7F}"/>
                  </a:ext>
                </a:extLst>
              </p:cNvPr>
              <p:cNvSpPr txBox="1">
                <a:spLocks noChangeArrowheads="1"/>
              </p:cNvSpPr>
              <p:nvPr/>
            </p:nvSpPr>
            <p:spPr bwMode="auto">
              <a:xfrm>
                <a:off x="2432" y="2100"/>
                <a:ext cx="28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Sports</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5" name="Rectangle 48">
              <a:extLst>
                <a:ext uri="{FF2B5EF4-FFF2-40B4-BE49-F238E27FC236}">
                  <a16:creationId xmlns:a16="http://schemas.microsoft.com/office/drawing/2014/main" id="{55D22730-D7D0-75BE-A84A-2F579DD1D250}"/>
                </a:ext>
              </a:extLst>
            </p:cNvPr>
            <p:cNvSpPr>
              <a:spLocks noChangeArrowheads="1"/>
            </p:cNvSpPr>
            <p:nvPr/>
          </p:nvSpPr>
          <p:spPr bwMode="auto">
            <a:xfrm>
              <a:off x="641541"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C1:3</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Rectangle 48">
              <a:extLst>
                <a:ext uri="{FF2B5EF4-FFF2-40B4-BE49-F238E27FC236}">
                  <a16:creationId xmlns:a16="http://schemas.microsoft.com/office/drawing/2014/main" id="{3B835198-30EA-773C-3303-F920B586D07E}"/>
                </a:ext>
              </a:extLst>
            </p:cNvPr>
            <p:cNvSpPr>
              <a:spLocks noChangeArrowheads="1"/>
            </p:cNvSpPr>
            <p:nvPr/>
          </p:nvSpPr>
          <p:spPr bwMode="auto">
            <a:xfrm>
              <a:off x="2541217"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C1:7</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Rectangle 48">
              <a:extLst>
                <a:ext uri="{FF2B5EF4-FFF2-40B4-BE49-F238E27FC236}">
                  <a16:creationId xmlns:a16="http://schemas.microsoft.com/office/drawing/2014/main" id="{160E4DD1-1948-AB3E-49B3-18BEF8FCD56C}"/>
                </a:ext>
              </a:extLst>
            </p:cNvPr>
            <p:cNvSpPr>
              <a:spLocks noChangeArrowheads="1"/>
            </p:cNvSpPr>
            <p:nvPr/>
          </p:nvSpPr>
          <p:spPr bwMode="auto">
            <a:xfrm>
              <a:off x="1579444"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C0:8</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5" name="组合 24">
            <a:extLst>
              <a:ext uri="{FF2B5EF4-FFF2-40B4-BE49-F238E27FC236}">
                <a16:creationId xmlns:a16="http://schemas.microsoft.com/office/drawing/2014/main" id="{F55CDFE4-7609-BDAD-BBCC-091BD21DF5CD}"/>
              </a:ext>
            </a:extLst>
          </p:cNvPr>
          <p:cNvGrpSpPr/>
          <p:nvPr/>
        </p:nvGrpSpPr>
        <p:grpSpPr>
          <a:xfrm>
            <a:off x="7357008" y="2067899"/>
            <a:ext cx="3433093" cy="2463574"/>
            <a:chOff x="205402" y="2869395"/>
            <a:chExt cx="3433093" cy="2463574"/>
          </a:xfrm>
        </p:grpSpPr>
        <p:grpSp>
          <p:nvGrpSpPr>
            <p:cNvPr id="26" name="Group 4">
              <a:extLst>
                <a:ext uri="{FF2B5EF4-FFF2-40B4-BE49-F238E27FC236}">
                  <a16:creationId xmlns:a16="http://schemas.microsoft.com/office/drawing/2014/main" id="{78E9A351-8407-AD33-49CD-AA754AB64F66}"/>
                </a:ext>
              </a:extLst>
            </p:cNvPr>
            <p:cNvGrpSpPr>
              <a:grpSpLocks/>
            </p:cNvGrpSpPr>
            <p:nvPr/>
          </p:nvGrpSpPr>
          <p:grpSpPr bwMode="auto">
            <a:xfrm>
              <a:off x="469469" y="2869395"/>
              <a:ext cx="2971010" cy="2241338"/>
              <a:chOff x="2138" y="1678"/>
              <a:chExt cx="1022" cy="771"/>
            </a:xfrm>
          </p:grpSpPr>
          <p:sp>
            <p:nvSpPr>
              <p:cNvPr id="31" name="Line 6">
                <a:extLst>
                  <a:ext uri="{FF2B5EF4-FFF2-40B4-BE49-F238E27FC236}">
                    <a16:creationId xmlns:a16="http://schemas.microsoft.com/office/drawing/2014/main" id="{E8467F6B-08E3-924C-9B55-0C6A43A49EF2}"/>
                  </a:ext>
                </a:extLst>
              </p:cNvPr>
              <p:cNvSpPr>
                <a:spLocks noChangeShapeType="1"/>
              </p:cNvSpPr>
              <p:nvPr/>
            </p:nvSpPr>
            <p:spPr bwMode="auto">
              <a:xfrm flipH="1">
                <a:off x="2138" y="1963"/>
                <a:ext cx="52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Line 8">
                <a:extLst>
                  <a:ext uri="{FF2B5EF4-FFF2-40B4-BE49-F238E27FC236}">
                    <a16:creationId xmlns:a16="http://schemas.microsoft.com/office/drawing/2014/main" id="{36350E3D-59FC-7F8D-CAD0-9F40DEC02834}"/>
                  </a:ext>
                </a:extLst>
              </p:cNvPr>
              <p:cNvSpPr>
                <a:spLocks noChangeShapeType="1"/>
              </p:cNvSpPr>
              <p:nvPr/>
            </p:nvSpPr>
            <p:spPr bwMode="auto">
              <a:xfrm>
                <a:off x="2640" y="1963"/>
                <a:ext cx="52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Text Box 9">
                <a:extLst>
                  <a:ext uri="{FF2B5EF4-FFF2-40B4-BE49-F238E27FC236}">
                    <a16:creationId xmlns:a16="http://schemas.microsoft.com/office/drawing/2014/main" id="{438F0075-693E-9B87-BEA6-B95B73128AA1}"/>
                  </a:ext>
                </a:extLst>
              </p:cNvPr>
              <p:cNvSpPr txBox="1">
                <a:spLocks noChangeArrowheads="1"/>
              </p:cNvSpPr>
              <p:nvPr/>
            </p:nvSpPr>
            <p:spPr bwMode="auto">
              <a:xfrm>
                <a:off x="2252" y="2024"/>
                <a:ext cx="15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Line 8">
                <a:extLst>
                  <a:ext uri="{FF2B5EF4-FFF2-40B4-BE49-F238E27FC236}">
                    <a16:creationId xmlns:a16="http://schemas.microsoft.com/office/drawing/2014/main" id="{4B8597B3-F41B-FD96-9C79-2CB175AB9560}"/>
                  </a:ext>
                </a:extLst>
              </p:cNvPr>
              <p:cNvSpPr>
                <a:spLocks noChangeShapeType="1"/>
              </p:cNvSpPr>
              <p:nvPr/>
            </p:nvSpPr>
            <p:spPr bwMode="auto">
              <a:xfrm flipH="1">
                <a:off x="2450" y="1963"/>
                <a:ext cx="202" cy="348"/>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Line 8">
                <a:extLst>
                  <a:ext uri="{FF2B5EF4-FFF2-40B4-BE49-F238E27FC236}">
                    <a16:creationId xmlns:a16="http://schemas.microsoft.com/office/drawing/2014/main" id="{DEA223F7-8ECE-EA23-E63F-B826C116CCFD}"/>
                  </a:ext>
                </a:extLst>
              </p:cNvPr>
              <p:cNvSpPr>
                <a:spLocks noChangeShapeType="1"/>
              </p:cNvSpPr>
              <p:nvPr/>
            </p:nvSpPr>
            <p:spPr bwMode="auto">
              <a:xfrm>
                <a:off x="2631" y="1963"/>
                <a:ext cx="152" cy="327"/>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Oval 5">
                <a:extLst>
                  <a:ext uri="{FF2B5EF4-FFF2-40B4-BE49-F238E27FC236}">
                    <a16:creationId xmlns:a16="http://schemas.microsoft.com/office/drawing/2014/main" id="{290B66CA-7F7C-2146-CA6C-9CFF3C8230CF}"/>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Custom ID?</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11">
                <a:extLst>
                  <a:ext uri="{FF2B5EF4-FFF2-40B4-BE49-F238E27FC236}">
                    <a16:creationId xmlns:a16="http://schemas.microsoft.com/office/drawing/2014/main" id="{F2FCCB6B-9A95-5BBD-CEB5-478004030626}"/>
                  </a:ext>
                </a:extLst>
              </p:cNvPr>
              <p:cNvSpPr txBox="1">
                <a:spLocks noChangeArrowheads="1"/>
              </p:cNvSpPr>
              <p:nvPr/>
            </p:nvSpPr>
            <p:spPr bwMode="auto">
              <a:xfrm>
                <a:off x="2859" y="2311"/>
                <a:ext cx="15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Text Box 9">
                <a:extLst>
                  <a:ext uri="{FF2B5EF4-FFF2-40B4-BE49-F238E27FC236}">
                    <a16:creationId xmlns:a16="http://schemas.microsoft.com/office/drawing/2014/main" id="{7E5C3FD9-EC6F-FBA7-177F-70233A42254C}"/>
                  </a:ext>
                </a:extLst>
              </p:cNvPr>
              <p:cNvSpPr txBox="1">
                <a:spLocks noChangeArrowheads="1"/>
              </p:cNvSpPr>
              <p:nvPr/>
            </p:nvSpPr>
            <p:spPr bwMode="auto">
              <a:xfrm>
                <a:off x="2533" y="2080"/>
                <a:ext cx="181"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10</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9" name="Text Box 9">
                <a:extLst>
                  <a:ext uri="{FF2B5EF4-FFF2-40B4-BE49-F238E27FC236}">
                    <a16:creationId xmlns:a16="http://schemas.microsoft.com/office/drawing/2014/main" id="{479F0585-581F-6524-8D1B-5491352CE949}"/>
                  </a:ext>
                </a:extLst>
              </p:cNvPr>
              <p:cNvSpPr txBox="1">
                <a:spLocks noChangeArrowheads="1"/>
              </p:cNvSpPr>
              <p:nvPr/>
            </p:nvSpPr>
            <p:spPr bwMode="auto">
              <a:xfrm>
                <a:off x="2721" y="2088"/>
                <a:ext cx="17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11</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Text Box 9">
                <a:extLst>
                  <a:ext uri="{FF2B5EF4-FFF2-40B4-BE49-F238E27FC236}">
                    <a16:creationId xmlns:a16="http://schemas.microsoft.com/office/drawing/2014/main" id="{9E6823F8-8F84-5F5A-10A5-DC2F92BC2944}"/>
                  </a:ext>
                </a:extLst>
              </p:cNvPr>
              <p:cNvSpPr txBox="1">
                <a:spLocks noChangeArrowheads="1"/>
              </p:cNvSpPr>
              <p:nvPr/>
            </p:nvSpPr>
            <p:spPr bwMode="auto">
              <a:xfrm>
                <a:off x="2895" y="2024"/>
                <a:ext cx="181"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20</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7" name="Rectangle 48">
              <a:extLst>
                <a:ext uri="{FF2B5EF4-FFF2-40B4-BE49-F238E27FC236}">
                  <a16:creationId xmlns:a16="http://schemas.microsoft.com/office/drawing/2014/main" id="{C3AD0EEC-A947-7C54-477F-27306EA7685C}"/>
                </a:ext>
              </a:extLst>
            </p:cNvPr>
            <p:cNvSpPr>
              <a:spLocks noChangeArrowheads="1"/>
            </p:cNvSpPr>
            <p:nvPr/>
          </p:nvSpPr>
          <p:spPr bwMode="auto">
            <a:xfrm>
              <a:off x="205402"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dirty="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dirty="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Rectangle 48">
              <a:extLst>
                <a:ext uri="{FF2B5EF4-FFF2-40B4-BE49-F238E27FC236}">
                  <a16:creationId xmlns:a16="http://schemas.microsoft.com/office/drawing/2014/main" id="{C55960B5-BE29-5499-FCE6-A0E60C8B9AFE}"/>
                </a:ext>
              </a:extLst>
            </p:cNvPr>
            <p:cNvSpPr>
              <a:spLocks noChangeArrowheads="1"/>
            </p:cNvSpPr>
            <p:nvPr/>
          </p:nvSpPr>
          <p:spPr bwMode="auto">
            <a:xfrm>
              <a:off x="1899923"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C0:0</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C1:1</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Rectangle 48">
              <a:extLst>
                <a:ext uri="{FF2B5EF4-FFF2-40B4-BE49-F238E27FC236}">
                  <a16:creationId xmlns:a16="http://schemas.microsoft.com/office/drawing/2014/main" id="{EF4976C7-CE65-346A-1253-81392B7465EC}"/>
                </a:ext>
              </a:extLst>
            </p:cNvPr>
            <p:cNvSpPr>
              <a:spLocks noChangeArrowheads="1"/>
            </p:cNvSpPr>
            <p:nvPr/>
          </p:nvSpPr>
          <p:spPr bwMode="auto">
            <a:xfrm>
              <a:off x="1050980"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Rectangle 48">
              <a:extLst>
                <a:ext uri="{FF2B5EF4-FFF2-40B4-BE49-F238E27FC236}">
                  <a16:creationId xmlns:a16="http://schemas.microsoft.com/office/drawing/2014/main" id="{1F164020-D6CA-4ECA-9E13-C7355EA3549D}"/>
                </a:ext>
              </a:extLst>
            </p:cNvPr>
            <p:cNvSpPr>
              <a:spLocks noChangeArrowheads="1"/>
            </p:cNvSpPr>
            <p:nvPr/>
          </p:nvSpPr>
          <p:spPr bwMode="auto">
            <a:xfrm>
              <a:off x="2918495"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C0:0</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C1:1</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1" name="Rectangle 3">
            <a:extLst>
              <a:ext uri="{FF2B5EF4-FFF2-40B4-BE49-F238E27FC236}">
                <a16:creationId xmlns:a16="http://schemas.microsoft.com/office/drawing/2014/main" id="{EE18E97C-1F83-D69A-B2CC-A133D211BB6A}"/>
              </a:ext>
            </a:extLst>
          </p:cNvPr>
          <p:cNvSpPr txBox="1">
            <a:spLocks noChangeArrowheads="1"/>
          </p:cNvSpPr>
          <p:nvPr/>
        </p:nvSpPr>
        <p:spPr>
          <a:xfrm>
            <a:off x="892857" y="5192505"/>
            <a:ext cx="8640000" cy="1134862"/>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选择最佳划分的度量通常是根据划分后子结点纯性的程度。纯性的程度越高，类分布就越倾斜，划分结果越好。 </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2" name="Text Box 13">
            <a:extLst>
              <a:ext uri="{FF2B5EF4-FFF2-40B4-BE49-F238E27FC236}">
                <a16:creationId xmlns:a16="http://schemas.microsoft.com/office/drawing/2014/main" id="{0FF171FF-AE24-0826-6B41-74ED810F80A9}"/>
              </a:ext>
            </a:extLst>
          </p:cNvPr>
          <p:cNvSpPr txBox="1">
            <a:spLocks noChangeArrowheads="1"/>
          </p:cNvSpPr>
          <p:nvPr/>
        </p:nvSpPr>
        <p:spPr bwMode="auto">
          <a:xfrm>
            <a:off x="4695101" y="4558470"/>
            <a:ext cx="114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ctr">
              <a:spcBef>
                <a:spcPct val="50000"/>
              </a:spcBef>
              <a:buClrTx/>
              <a:buSzTx/>
              <a:buFontTx/>
              <a:buNone/>
              <a:defRPr sz="20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zh-CN" altLang="en-US" dirty="0">
                <a:sym typeface="Times New Roman" panose="02020603050405020304" pitchFamily="18" charset="0"/>
              </a:rPr>
              <a:t>纯性大</a:t>
            </a:r>
          </a:p>
        </p:txBody>
      </p:sp>
      <p:sp>
        <p:nvSpPr>
          <p:cNvPr id="43" name="Text Box 13">
            <a:extLst>
              <a:ext uri="{FF2B5EF4-FFF2-40B4-BE49-F238E27FC236}">
                <a16:creationId xmlns:a16="http://schemas.microsoft.com/office/drawing/2014/main" id="{C7D1A9F9-1EC1-753B-0271-80EB8E9572CD}"/>
              </a:ext>
            </a:extLst>
          </p:cNvPr>
          <p:cNvSpPr txBox="1">
            <a:spLocks noChangeArrowheads="1"/>
          </p:cNvSpPr>
          <p:nvPr/>
        </p:nvSpPr>
        <p:spPr bwMode="auto">
          <a:xfrm>
            <a:off x="2297436" y="4558470"/>
            <a:ext cx="114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ctr">
              <a:spcBef>
                <a:spcPct val="50000"/>
              </a:spcBef>
              <a:buClrTx/>
              <a:buSzTx/>
              <a:buFontTx/>
              <a:buNone/>
              <a:defRPr sz="2000" b="0">
                <a:latin typeface="Times New Roman" panose="02020603050405020304" pitchFamily="18" charset="0"/>
                <a:ea typeface="微软雅黑" panose="020B0503020204020204" pitchFamily="34" charset="-122"/>
              </a:defRPr>
            </a:lvl1pPr>
            <a:lvl2pPr marL="742950" indent="-285750">
              <a:spcBef>
                <a:spcPct val="10000"/>
              </a:spcBef>
              <a:spcAft>
                <a:spcPts val="400"/>
              </a:spcAft>
              <a:buClr>
                <a:srgbClr val="0C7B9C"/>
              </a:buClr>
              <a:buSzPct val="100000"/>
              <a:buFont typeface="Arial" panose="020B0604020202020204" pitchFamily="34" charset="0"/>
              <a:buChar char="–"/>
              <a:defRPr sz="2800"/>
            </a:lvl2pPr>
            <a:lvl3pPr marL="1143000" indent="-228600">
              <a:spcBef>
                <a:spcPct val="10000"/>
              </a:spcBef>
              <a:spcAft>
                <a:spcPts val="400"/>
              </a:spcAft>
              <a:buClr>
                <a:srgbClr val="0C7B9C"/>
              </a:buClr>
              <a:buSzPct val="70000"/>
              <a:buFont typeface="Wingdings" panose="05000000000000000000" pitchFamily="2" charset="2"/>
              <a:buChar char="u"/>
              <a:defRPr sz="2400"/>
            </a:lvl3pPr>
            <a:lvl4pPr marL="1600200" indent="-228600">
              <a:spcBef>
                <a:spcPct val="20000"/>
              </a:spcBef>
              <a:buSzPct val="100000"/>
              <a:buChar char="–"/>
              <a:defRPr sz="2000">
                <a:latin typeface="Times New Roman" panose="02020603050405020304" pitchFamily="18" charset="0"/>
              </a:defRPr>
            </a:lvl4pPr>
            <a:lvl5pPr marL="2057400" indent="-228600">
              <a:spcBef>
                <a:spcPct val="20000"/>
              </a:spcBef>
              <a:buSzPct val="100000"/>
              <a:buChar char="•"/>
              <a:defRPr sz="2000">
                <a:latin typeface="Times New Roman" panose="02020603050405020304" pitchFamily="18" charset="0"/>
              </a:defRPr>
            </a:lvl5pPr>
            <a:lvl6pPr marL="2514600" indent="-228600" eaLnBrk="0" fontAlgn="base" hangingPunct="0">
              <a:spcBef>
                <a:spcPct val="20000"/>
              </a:spcBef>
              <a:spcAft>
                <a:spcPct val="0"/>
              </a:spcAft>
              <a:buSzPct val="100000"/>
              <a:buChar char="•"/>
              <a:defRPr sz="2000">
                <a:latin typeface="Times New Roman" panose="02020603050405020304" pitchFamily="18" charset="0"/>
              </a:defRPr>
            </a:lvl6pPr>
            <a:lvl7pPr marL="2971800" indent="-228600" eaLnBrk="0" fontAlgn="base" hangingPunct="0">
              <a:spcBef>
                <a:spcPct val="20000"/>
              </a:spcBef>
              <a:spcAft>
                <a:spcPct val="0"/>
              </a:spcAft>
              <a:buSzPct val="100000"/>
              <a:buChar char="•"/>
              <a:defRPr sz="2000">
                <a:latin typeface="Times New Roman" panose="02020603050405020304" pitchFamily="18" charset="0"/>
              </a:defRPr>
            </a:lvl7pPr>
            <a:lvl8pPr marL="3429000" indent="-228600" eaLnBrk="0" fontAlgn="base" hangingPunct="0">
              <a:spcBef>
                <a:spcPct val="20000"/>
              </a:spcBef>
              <a:spcAft>
                <a:spcPct val="0"/>
              </a:spcAft>
              <a:buSzPct val="100000"/>
              <a:buChar char="•"/>
              <a:defRPr sz="2000">
                <a:latin typeface="Times New Roman" panose="02020603050405020304" pitchFamily="18" charset="0"/>
              </a:defRPr>
            </a:lvl8pPr>
            <a:lvl9pPr marL="3886200" indent="-228600" eaLnBrk="0" fontAlgn="base" hangingPunct="0">
              <a:spcBef>
                <a:spcPct val="20000"/>
              </a:spcBef>
              <a:spcAft>
                <a:spcPct val="0"/>
              </a:spcAft>
              <a:buSzPct val="100000"/>
              <a:buChar char="•"/>
              <a:defRPr sz="2000">
                <a:latin typeface="Times New Roman" panose="02020603050405020304" pitchFamily="18" charset="0"/>
              </a:defRPr>
            </a:lvl9pPr>
          </a:lstStyle>
          <a:p>
            <a:r>
              <a:rPr lang="zh-CN" altLang="en-US" dirty="0">
                <a:sym typeface="Times New Roman" panose="02020603050405020304" pitchFamily="18" charset="0"/>
              </a:rPr>
              <a:t>纯性小</a:t>
            </a:r>
          </a:p>
        </p:txBody>
      </p:sp>
      <p:sp>
        <p:nvSpPr>
          <p:cNvPr id="45" name="文本框 44">
            <a:extLst>
              <a:ext uri="{FF2B5EF4-FFF2-40B4-BE49-F238E27FC236}">
                <a16:creationId xmlns:a16="http://schemas.microsoft.com/office/drawing/2014/main" id="{1F9BAB8E-CE0E-C3A9-09AD-5EFF1C898B44}"/>
              </a:ext>
            </a:extLst>
          </p:cNvPr>
          <p:cNvSpPr txBox="1"/>
          <p:nvPr/>
        </p:nvSpPr>
        <p:spPr>
          <a:xfrm>
            <a:off x="9524957" y="5536633"/>
            <a:ext cx="2156501" cy="707886"/>
          </a:xfrm>
          <a:prstGeom prst="rect">
            <a:avLst/>
          </a:prstGeom>
          <a:noFill/>
        </p:spPr>
        <p:txBody>
          <a:bodyPr wrap="square">
            <a:spAutoFit/>
          </a:bodyPr>
          <a:lstStyle/>
          <a:p>
            <a:r>
              <a:rPr lang="zh-CN" altLang="en-US" sz="20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是否有能衡量纯性大小的指标？</a:t>
            </a:r>
            <a:endParaRPr lang="zh-CN" altLang="en-US" sz="2000" dirty="0">
              <a:solidFill>
                <a:srgbClr val="FF0000"/>
              </a:solidFill>
            </a:endParaRPr>
          </a:p>
        </p:txBody>
      </p:sp>
    </p:spTree>
    <p:extLst>
      <p:ext uri="{BB962C8B-B14F-4D97-AF65-F5344CB8AC3E}">
        <p14:creationId xmlns:p14="http://schemas.microsoft.com/office/powerpoint/2010/main" val="120522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61F1D4-04C1-DFF5-C433-A027B03AA27C}"/>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熵</a:t>
            </a:r>
            <a:endParaRPr kumimoji="1" lang="zh-CN" altLang="en-US" dirty="0"/>
          </a:p>
        </p:txBody>
      </p:sp>
      <p:graphicFrame>
        <p:nvGraphicFramePr>
          <p:cNvPr id="3" name="对象 2">
            <a:extLst>
              <a:ext uri="{FF2B5EF4-FFF2-40B4-BE49-F238E27FC236}">
                <a16:creationId xmlns:a16="http://schemas.microsoft.com/office/drawing/2014/main" id="{84D75C4D-6BA1-9F78-9E35-DCEF996EE469}"/>
              </a:ext>
            </a:extLst>
          </p:cNvPr>
          <p:cNvGraphicFramePr>
            <a:graphicFrameLocks noChangeAspect="1"/>
          </p:cNvGraphicFramePr>
          <p:nvPr>
            <p:extLst>
              <p:ext uri="{D42A27DB-BD31-4B8C-83A1-F6EECF244321}">
                <p14:modId xmlns:p14="http://schemas.microsoft.com/office/powerpoint/2010/main" val="1919569916"/>
              </p:ext>
            </p:extLst>
          </p:nvPr>
        </p:nvGraphicFramePr>
        <p:xfrm>
          <a:off x="1247487" y="1150614"/>
          <a:ext cx="3530250" cy="864000"/>
        </p:xfrm>
        <a:graphic>
          <a:graphicData uri="http://schemas.openxmlformats.org/presentationml/2006/ole">
            <mc:AlternateContent xmlns:mc="http://schemas.openxmlformats.org/markup-compatibility/2006">
              <mc:Choice xmlns:v="urn:schemas-microsoft-com:vml" Requires="v">
                <p:oleObj name="Equation" r:id="rId2" imgW="1765300" imgH="431800" progId="">
                  <p:embed/>
                </p:oleObj>
              </mc:Choice>
              <mc:Fallback>
                <p:oleObj name="Equation" r:id="rId2" imgW="1765300" imgH="431800" progId="">
                  <p:embed/>
                  <p:pic>
                    <p:nvPicPr>
                      <p:cNvPr id="22" name="对象 21">
                        <a:extLst>
                          <a:ext uri="{FF2B5EF4-FFF2-40B4-BE49-F238E27FC236}">
                            <a16:creationId xmlns:a16="http://schemas.microsoft.com/office/drawing/2014/main" id="{DF130168-2954-464A-AAEC-0C9BA812D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487" y="1150614"/>
                        <a:ext cx="3530250" cy="864000"/>
                      </a:xfrm>
                      <a:prstGeom prst="rect">
                        <a:avLst/>
                      </a:prstGeom>
                      <a:noFill/>
                      <a:ln>
                        <a:solidFill>
                          <a:srgbClr val="FF6600"/>
                        </a:solidFill>
                      </a:ln>
                    </p:spPr>
                  </p:pic>
                </p:oleObj>
              </mc:Fallback>
            </mc:AlternateContent>
          </a:graphicData>
        </a:graphic>
      </p:graphicFrame>
      <p:sp>
        <p:nvSpPr>
          <p:cNvPr id="4" name="TextBox 14">
            <a:extLst>
              <a:ext uri="{FF2B5EF4-FFF2-40B4-BE49-F238E27FC236}">
                <a16:creationId xmlns:a16="http://schemas.microsoft.com/office/drawing/2014/main" id="{0F861716-9FFB-96A8-EB6E-89C6385D4218}"/>
              </a:ext>
            </a:extLst>
          </p:cNvPr>
          <p:cNvSpPr txBox="1"/>
          <p:nvPr/>
        </p:nvSpPr>
        <p:spPr>
          <a:xfrm>
            <a:off x="1247488" y="2017016"/>
            <a:ext cx="3567546" cy="923330"/>
          </a:xfrm>
          <a:prstGeom prst="rect">
            <a:avLst/>
          </a:prstGeom>
          <a:noFill/>
        </p:spPr>
        <p:txBody>
          <a:bodyPr wrap="square" rtlCol="0">
            <a:spAutoFit/>
          </a:bodyPr>
          <a:lstStyle/>
          <a:p>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p</a:t>
            </a:r>
            <a:r>
              <a:rPr lang="en-AU" altLang="zh-CN" sz="1800" baseline="-25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the proportion of instances in the dataset that take the </a:t>
            </a:r>
            <a:r>
              <a:rPr lang="en-AU" altLang="zh-CN" sz="1800" i="1"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AU" altLang="zh-CN" sz="1800" baseline="30000"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th</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target value</a:t>
            </a:r>
            <a:endParaRPr lang="zh-CN" altLang="en-US"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TextBox 16">
            <a:extLst>
              <a:ext uri="{FF2B5EF4-FFF2-40B4-BE49-F238E27FC236}">
                <a16:creationId xmlns:a16="http://schemas.microsoft.com/office/drawing/2014/main" id="{510D19B5-99E5-6539-755B-9D2230CC9774}"/>
              </a:ext>
            </a:extLst>
          </p:cNvPr>
          <p:cNvSpPr txBox="1"/>
          <p:nvPr/>
        </p:nvSpPr>
        <p:spPr>
          <a:xfrm>
            <a:off x="4895437" y="1415253"/>
            <a:ext cx="1246185" cy="400110"/>
          </a:xfrm>
          <a:prstGeom prst="rect">
            <a:avLst/>
          </a:prstGeom>
          <a:noFill/>
        </p:spPr>
        <p:txBody>
          <a:bodyPr wrap="square" rtlCol="0">
            <a:spAutoFit/>
          </a:bodyPr>
          <a:lstStyle/>
          <a:p>
            <a:r>
              <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不确定性</a:t>
            </a:r>
          </a:p>
        </p:txBody>
      </p:sp>
      <p:sp>
        <p:nvSpPr>
          <p:cNvPr id="6" name="TextBox 17">
            <a:extLst>
              <a:ext uri="{FF2B5EF4-FFF2-40B4-BE49-F238E27FC236}">
                <a16:creationId xmlns:a16="http://schemas.microsoft.com/office/drawing/2014/main" id="{7462B950-3528-41E9-CB45-C42953512ABB}"/>
              </a:ext>
            </a:extLst>
          </p:cNvPr>
          <p:cNvSpPr txBox="1"/>
          <p:nvPr/>
        </p:nvSpPr>
        <p:spPr>
          <a:xfrm>
            <a:off x="6259322" y="1115591"/>
            <a:ext cx="4033856" cy="1134862"/>
          </a:xfrm>
          <a:prstGeom prst="rect">
            <a:avLst/>
          </a:prstGeom>
          <a:noFill/>
        </p:spPr>
        <p:txBody>
          <a:bodyPr wrap="square" rtlCol="0">
            <a:spAutoFit/>
          </a:bodyPr>
          <a:lstStyle/>
          <a:p>
            <a:pPr marL="342900" indent="-342900">
              <a:lnSpc>
                <a:spcPct val="150000"/>
              </a:lnSpc>
              <a:buFont typeface="Arial" pitchFamily="34" charset="0"/>
              <a:buChar char="•"/>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熵值越高，数据越混乱</a:t>
            </a:r>
            <a:endPar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endParaRPr>
          </a:p>
          <a:p>
            <a:pPr marL="342900" indent="-342900">
              <a:lnSpc>
                <a:spcPct val="150000"/>
              </a:lnSpc>
              <a:buFont typeface="Arial" pitchFamily="34" charset="0"/>
              <a:buChar char="•"/>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熵值越低，数据越纯</a:t>
            </a:r>
          </a:p>
        </p:txBody>
      </p:sp>
      <p:graphicFrame>
        <p:nvGraphicFramePr>
          <p:cNvPr id="7" name="Object 4">
            <a:extLst>
              <a:ext uri="{FF2B5EF4-FFF2-40B4-BE49-F238E27FC236}">
                <a16:creationId xmlns:a16="http://schemas.microsoft.com/office/drawing/2014/main" id="{7EA5DBC3-19C3-3F24-A172-B140969612EA}"/>
              </a:ext>
            </a:extLst>
          </p:cNvPr>
          <p:cNvGraphicFramePr>
            <a:graphicFrameLocks noChangeAspect="1"/>
          </p:cNvGraphicFramePr>
          <p:nvPr>
            <p:extLst>
              <p:ext uri="{D42A27DB-BD31-4B8C-83A1-F6EECF244321}">
                <p14:modId xmlns:p14="http://schemas.microsoft.com/office/powerpoint/2010/main" val="1499623503"/>
              </p:ext>
            </p:extLst>
          </p:nvPr>
        </p:nvGraphicFramePr>
        <p:xfrm>
          <a:off x="4071643" y="3021301"/>
          <a:ext cx="5397943" cy="576000"/>
        </p:xfrm>
        <a:graphic>
          <a:graphicData uri="http://schemas.openxmlformats.org/presentationml/2006/ole">
            <mc:AlternateContent xmlns:mc="http://schemas.openxmlformats.org/markup-compatibility/2006">
              <mc:Choice xmlns:v="urn:schemas-microsoft-com:vml" Requires="v">
                <p:oleObj name="Equation" r:id="rId4" imgW="4165600" imgH="444500" progId="Equation.3">
                  <p:embed/>
                </p:oleObj>
              </mc:Choice>
              <mc:Fallback>
                <p:oleObj name="Equation" r:id="rId4" imgW="4165600" imgH="444500" progId="Equation.3">
                  <p:embed/>
                  <p:pic>
                    <p:nvPicPr>
                      <p:cNvPr id="31" name="Object 4">
                        <a:extLst>
                          <a:ext uri="{FF2B5EF4-FFF2-40B4-BE49-F238E27FC236}">
                            <a16:creationId xmlns:a16="http://schemas.microsoft.com/office/drawing/2014/main" id="{DF16F534-E966-45A6-B882-187EDA5EA2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1643" y="3021301"/>
                        <a:ext cx="5397943" cy="576000"/>
                      </a:xfrm>
                      <a:prstGeom prst="rect">
                        <a:avLst/>
                      </a:prstGeom>
                      <a:noFill/>
                      <a:ln w="9525">
                        <a:solidFill>
                          <a:srgbClr val="13548C"/>
                        </a:solidFill>
                        <a:miter lim="800000"/>
                        <a:headEnd/>
                        <a:tailEnd/>
                      </a:ln>
                      <a:effectLst/>
                    </p:spPr>
                  </p:pic>
                </p:oleObj>
              </mc:Fallback>
            </mc:AlternateContent>
          </a:graphicData>
        </a:graphic>
      </p:graphicFrame>
      <p:sp>
        <p:nvSpPr>
          <p:cNvPr id="8" name="Text Box 5">
            <a:extLst>
              <a:ext uri="{FF2B5EF4-FFF2-40B4-BE49-F238E27FC236}">
                <a16:creationId xmlns:a16="http://schemas.microsoft.com/office/drawing/2014/main" id="{1D69E8E8-6EC0-6348-DE50-3D4C449C5D83}"/>
              </a:ext>
            </a:extLst>
          </p:cNvPr>
          <p:cNvSpPr txBox="1">
            <a:spLocks noChangeArrowheads="1"/>
          </p:cNvSpPr>
          <p:nvPr/>
        </p:nvSpPr>
        <p:spPr bwMode="auto">
          <a:xfrm>
            <a:off x="3992266" y="3758730"/>
            <a:ext cx="5791201"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spcBef>
                <a:spcPct val="50000"/>
              </a:spcBef>
              <a:buClrTx/>
              <a:buSzTx/>
              <a:buFontTx/>
              <a:buNone/>
              <a:defRPr/>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P(C1) = 0/6 = 0     P(C2) = 6/6 = 1</a:t>
            </a:r>
          </a:p>
          <a:p>
            <a:pPr>
              <a:spcBef>
                <a:spcPct val="50000"/>
              </a:spcBef>
              <a:buClrTx/>
              <a:buSzTx/>
              <a:buFontTx/>
              <a:buNone/>
              <a:defRPr/>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Entropy = – 0 log 0</a:t>
            </a:r>
            <a:r>
              <a:rPr lang="en-US" altLang="zh-CN" sz="2200" b="0" baseline="30000"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 1 log 1 = 0 </a:t>
            </a:r>
          </a:p>
        </p:txBody>
      </p:sp>
      <p:graphicFrame>
        <p:nvGraphicFramePr>
          <p:cNvPr id="9" name="Object 4">
            <a:extLst>
              <a:ext uri="{FF2B5EF4-FFF2-40B4-BE49-F238E27FC236}">
                <a16:creationId xmlns:a16="http://schemas.microsoft.com/office/drawing/2014/main" id="{CCB4AFF8-0A1F-E4D0-9FC9-300D0F42FEFE}"/>
              </a:ext>
            </a:extLst>
          </p:cNvPr>
          <p:cNvGraphicFramePr>
            <a:graphicFrameLocks noChangeAspect="1"/>
          </p:cNvGraphicFramePr>
          <p:nvPr>
            <p:extLst>
              <p:ext uri="{D42A27DB-BD31-4B8C-83A1-F6EECF244321}">
                <p14:modId xmlns:p14="http://schemas.microsoft.com/office/powerpoint/2010/main" val="2242808118"/>
              </p:ext>
            </p:extLst>
          </p:nvPr>
        </p:nvGraphicFramePr>
        <p:xfrm>
          <a:off x="4071642" y="4874533"/>
          <a:ext cx="5400581" cy="576000"/>
        </p:xfrm>
        <a:graphic>
          <a:graphicData uri="http://schemas.openxmlformats.org/presentationml/2006/ole">
            <mc:AlternateContent xmlns:mc="http://schemas.openxmlformats.org/markup-compatibility/2006">
              <mc:Choice xmlns:v="urn:schemas-microsoft-com:vml" Requires="v">
                <p:oleObj name="Equation" r:id="rId6" imgW="4165600" imgH="444500" progId="Equation.3">
                  <p:embed/>
                </p:oleObj>
              </mc:Choice>
              <mc:Fallback>
                <p:oleObj name="Equation" r:id="rId6" imgW="4165600" imgH="444500" progId="Equation.3">
                  <p:embed/>
                  <p:pic>
                    <p:nvPicPr>
                      <p:cNvPr id="33" name="Object 4">
                        <a:extLst>
                          <a:ext uri="{FF2B5EF4-FFF2-40B4-BE49-F238E27FC236}">
                            <a16:creationId xmlns:a16="http://schemas.microsoft.com/office/drawing/2014/main" id="{F6356174-4A5E-4EC4-9B45-19A7B16E5C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1642" y="4874533"/>
                        <a:ext cx="5400581" cy="576000"/>
                      </a:xfrm>
                      <a:prstGeom prst="rect">
                        <a:avLst/>
                      </a:prstGeom>
                      <a:noFill/>
                      <a:ln w="9525">
                        <a:solidFill>
                          <a:srgbClr val="13548C"/>
                        </a:solidFill>
                        <a:miter lim="800000"/>
                        <a:headEnd/>
                        <a:tailEnd/>
                      </a:ln>
                      <a:effectLst/>
                    </p:spPr>
                  </p:pic>
                </p:oleObj>
              </mc:Fallback>
            </mc:AlternateContent>
          </a:graphicData>
        </a:graphic>
      </p:graphicFrame>
      <p:sp>
        <p:nvSpPr>
          <p:cNvPr id="10" name="Text Box 5">
            <a:extLst>
              <a:ext uri="{FF2B5EF4-FFF2-40B4-BE49-F238E27FC236}">
                <a16:creationId xmlns:a16="http://schemas.microsoft.com/office/drawing/2014/main" id="{8E8BBE44-1265-F361-0628-BE8DD52DB712}"/>
              </a:ext>
            </a:extLst>
          </p:cNvPr>
          <p:cNvSpPr txBox="1">
            <a:spLocks noChangeArrowheads="1"/>
          </p:cNvSpPr>
          <p:nvPr/>
        </p:nvSpPr>
        <p:spPr bwMode="auto">
          <a:xfrm>
            <a:off x="4068467" y="5611961"/>
            <a:ext cx="5836000"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spcBef>
                <a:spcPct val="50000"/>
              </a:spcBef>
              <a:buClrTx/>
              <a:buSzTx/>
              <a:buFontTx/>
              <a:buNone/>
              <a:defRPr/>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P(C1) = 3/6 = 1/2    P(C2) = 3/6 = 1/2</a:t>
            </a:r>
          </a:p>
          <a:p>
            <a:pPr>
              <a:spcBef>
                <a:spcPct val="50000"/>
              </a:spcBef>
              <a:buClrTx/>
              <a:buSzTx/>
              <a:buFontTx/>
              <a:buNone/>
              <a:defRPr/>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Entropy = – 0.5 log 0.5</a:t>
            </a:r>
            <a:r>
              <a:rPr lang="en-US" altLang="zh-CN" sz="2200" b="0" baseline="30000"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 0.5 log 0.5 = </a:t>
            </a:r>
            <a:r>
              <a:rPr lang="en-US" altLang="zh-CN" sz="22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 </a:t>
            </a:r>
          </a:p>
        </p:txBody>
      </p:sp>
      <p:graphicFrame>
        <p:nvGraphicFramePr>
          <p:cNvPr id="11" name="表格 2">
            <a:extLst>
              <a:ext uri="{FF2B5EF4-FFF2-40B4-BE49-F238E27FC236}">
                <a16:creationId xmlns:a16="http://schemas.microsoft.com/office/drawing/2014/main" id="{B4317E0B-4B56-C35B-6F64-229CD441E052}"/>
              </a:ext>
            </a:extLst>
          </p:cNvPr>
          <p:cNvGraphicFramePr>
            <a:graphicFrameLocks noGrp="1"/>
          </p:cNvGraphicFramePr>
          <p:nvPr>
            <p:extLst>
              <p:ext uri="{D42A27DB-BD31-4B8C-83A1-F6EECF244321}">
                <p14:modId xmlns:p14="http://schemas.microsoft.com/office/powerpoint/2010/main" val="183800741"/>
              </p:ext>
            </p:extLst>
          </p:nvPr>
        </p:nvGraphicFramePr>
        <p:xfrm>
          <a:off x="1551888" y="3009041"/>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0</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6</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graphicFrame>
        <p:nvGraphicFramePr>
          <p:cNvPr id="12" name="表格 2">
            <a:extLst>
              <a:ext uri="{FF2B5EF4-FFF2-40B4-BE49-F238E27FC236}">
                <a16:creationId xmlns:a16="http://schemas.microsoft.com/office/drawing/2014/main" id="{1EA093F1-FD0F-0A8A-3188-4B23E8CDF9C0}"/>
              </a:ext>
            </a:extLst>
          </p:cNvPr>
          <p:cNvGraphicFramePr>
            <a:graphicFrameLocks noGrp="1"/>
          </p:cNvGraphicFramePr>
          <p:nvPr>
            <p:extLst>
              <p:ext uri="{D42A27DB-BD31-4B8C-83A1-F6EECF244321}">
                <p14:modId xmlns:p14="http://schemas.microsoft.com/office/powerpoint/2010/main" val="1629858193"/>
              </p:ext>
            </p:extLst>
          </p:nvPr>
        </p:nvGraphicFramePr>
        <p:xfrm>
          <a:off x="1551888" y="4840778"/>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sp>
        <p:nvSpPr>
          <p:cNvPr id="13" name="TextBox 13">
            <a:extLst>
              <a:ext uri="{FF2B5EF4-FFF2-40B4-BE49-F238E27FC236}">
                <a16:creationId xmlns:a16="http://schemas.microsoft.com/office/drawing/2014/main" id="{B756ADBE-101B-81DA-6E6D-8F09E2A12EE7}"/>
              </a:ext>
            </a:extLst>
          </p:cNvPr>
          <p:cNvSpPr txBox="1"/>
          <p:nvPr/>
        </p:nvSpPr>
        <p:spPr>
          <a:xfrm>
            <a:off x="1624067" y="4035643"/>
            <a:ext cx="168240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FF6600"/>
                </a:solidFill>
              </a:rPr>
              <a:t>数据纯度高</a:t>
            </a:r>
          </a:p>
        </p:txBody>
      </p:sp>
      <p:sp>
        <p:nvSpPr>
          <p:cNvPr id="14" name="TextBox 18">
            <a:extLst>
              <a:ext uri="{FF2B5EF4-FFF2-40B4-BE49-F238E27FC236}">
                <a16:creationId xmlns:a16="http://schemas.microsoft.com/office/drawing/2014/main" id="{17AEC69D-FB1D-2C94-3C18-6B227C3586FA}"/>
              </a:ext>
            </a:extLst>
          </p:cNvPr>
          <p:cNvSpPr txBox="1"/>
          <p:nvPr/>
        </p:nvSpPr>
        <p:spPr>
          <a:xfrm>
            <a:off x="1841488" y="5881265"/>
            <a:ext cx="140200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FF6600"/>
                </a:solidFill>
              </a:rPr>
              <a:t>数据混乱</a:t>
            </a:r>
          </a:p>
        </p:txBody>
      </p:sp>
    </p:spTree>
    <p:extLst>
      <p:ext uri="{BB962C8B-B14F-4D97-AF65-F5344CB8AC3E}">
        <p14:creationId xmlns:p14="http://schemas.microsoft.com/office/powerpoint/2010/main" val="2871994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9E0FB8-8991-DA62-37B8-B61E92CFF655}"/>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熵</a:t>
            </a:r>
            <a:endParaRPr kumimoji="1" lang="zh-CN" altLang="en-US" dirty="0"/>
          </a:p>
        </p:txBody>
      </p:sp>
      <p:sp>
        <p:nvSpPr>
          <p:cNvPr id="3" name="TextBox 4">
            <a:extLst>
              <a:ext uri="{FF2B5EF4-FFF2-40B4-BE49-F238E27FC236}">
                <a16:creationId xmlns:a16="http://schemas.microsoft.com/office/drawing/2014/main" id="{1B730B17-BEC1-FF65-CD7E-41A52CE82E6D}"/>
              </a:ext>
            </a:extLst>
          </p:cNvPr>
          <p:cNvSpPr txBox="1"/>
          <p:nvPr>
            <p:custDataLst>
              <p:tags r:id="rId1"/>
            </p:custDataLst>
          </p:nvPr>
        </p:nvSpPr>
        <p:spPr>
          <a:xfrm>
            <a:off x="1241983" y="2744172"/>
            <a:ext cx="4906522" cy="2143125"/>
          </a:xfrm>
          <a:prstGeom prst="rect">
            <a:avLst/>
          </a:prstGeom>
          <a:noFill/>
        </p:spPr>
        <p:txBody>
          <a:bodyPr vert="horz" wrap="square" rtlCol="0" anchor="ctr" anchorCtr="0">
            <a:noAutofit/>
          </a:bodyPr>
          <a:lstStyle/>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购买的比例为：</a:t>
            </a:r>
            <a:r>
              <a:rPr lang="zh-CN" altLang="en-US" sz="2400" b="0" dirty="0">
                <a:solidFill>
                  <a:srgbClr val="639EF4"/>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/14 </a:t>
            </a:r>
          </a:p>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不购买的比例为：</a:t>
            </a:r>
            <a:r>
              <a:rPr lang="zh-CN" altLang="en-US"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/14</a:t>
            </a:r>
          </a:p>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顾客数据的熵值：</a:t>
            </a:r>
            <a:r>
              <a:rPr lang="zh-CN" altLang="en-US"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填空</a:t>
            </a:r>
            <a:r>
              <a:rPr lang="en-US" altLang="zh-CN" sz="2400" b="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endPar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对象 3">
            <a:extLst>
              <a:ext uri="{FF2B5EF4-FFF2-40B4-BE49-F238E27FC236}">
                <a16:creationId xmlns:a16="http://schemas.microsoft.com/office/drawing/2014/main" id="{11B8EBD1-0901-3D34-1B8D-196FE4F75E6F}"/>
              </a:ext>
            </a:extLst>
          </p:cNvPr>
          <p:cNvGraphicFramePr>
            <a:graphicFrameLocks noChangeAspect="1"/>
          </p:cNvGraphicFramePr>
          <p:nvPr>
            <p:extLst>
              <p:ext uri="{D42A27DB-BD31-4B8C-83A1-F6EECF244321}">
                <p14:modId xmlns:p14="http://schemas.microsoft.com/office/powerpoint/2010/main" val="1948459389"/>
              </p:ext>
            </p:extLst>
          </p:nvPr>
        </p:nvGraphicFramePr>
        <p:xfrm>
          <a:off x="1330890" y="965263"/>
          <a:ext cx="3530250" cy="864000"/>
        </p:xfrm>
        <a:graphic>
          <a:graphicData uri="http://schemas.openxmlformats.org/presentationml/2006/ole">
            <mc:AlternateContent xmlns:mc="http://schemas.openxmlformats.org/markup-compatibility/2006">
              <mc:Choice xmlns:v="urn:schemas-microsoft-com:vml" Requires="v">
                <p:oleObj name="Equation" r:id="rId3" imgW="1765300" imgH="431800" progId="">
                  <p:embed/>
                </p:oleObj>
              </mc:Choice>
              <mc:Fallback>
                <p:oleObj name="Equation" r:id="rId3" imgW="1765300" imgH="431800" progId="">
                  <p:embed/>
                  <p:pic>
                    <p:nvPicPr>
                      <p:cNvPr id="17" name="对象 16">
                        <a:extLst>
                          <a:ext uri="{FF2B5EF4-FFF2-40B4-BE49-F238E27FC236}">
                            <a16:creationId xmlns:a16="http://schemas.microsoft.com/office/drawing/2014/main" id="{1AED8347-B396-44AA-8BFD-1D7CF631E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890" y="965263"/>
                        <a:ext cx="3530250" cy="864000"/>
                      </a:xfrm>
                      <a:prstGeom prst="rect">
                        <a:avLst/>
                      </a:prstGeom>
                      <a:noFill/>
                      <a:ln>
                        <a:solidFill>
                          <a:srgbClr val="FF6600"/>
                        </a:solidFill>
                      </a:ln>
                    </p:spPr>
                  </p:pic>
                </p:oleObj>
              </mc:Fallback>
            </mc:AlternateContent>
          </a:graphicData>
        </a:graphic>
      </p:graphicFrame>
      <p:sp>
        <p:nvSpPr>
          <p:cNvPr id="5" name="TextBox 14">
            <a:extLst>
              <a:ext uri="{FF2B5EF4-FFF2-40B4-BE49-F238E27FC236}">
                <a16:creationId xmlns:a16="http://schemas.microsoft.com/office/drawing/2014/main" id="{4048B36F-FE44-5172-E275-18F7A770F716}"/>
              </a:ext>
            </a:extLst>
          </p:cNvPr>
          <p:cNvSpPr txBox="1"/>
          <p:nvPr/>
        </p:nvSpPr>
        <p:spPr>
          <a:xfrm>
            <a:off x="1330891" y="1831665"/>
            <a:ext cx="3567546" cy="923330"/>
          </a:xfrm>
          <a:prstGeom prst="rect">
            <a:avLst/>
          </a:prstGeom>
          <a:noFill/>
        </p:spPr>
        <p:txBody>
          <a:bodyPr wrap="square" rtlCol="0">
            <a:spAutoFit/>
          </a:bodyPr>
          <a:lstStyle/>
          <a:p>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p</a:t>
            </a:r>
            <a:r>
              <a:rPr lang="en-AU" altLang="zh-CN" sz="1800" baseline="-25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the proportion of instances in the dataset that take the </a:t>
            </a:r>
            <a:r>
              <a:rPr lang="en-AU" altLang="zh-CN" sz="1800" i="1"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AU" altLang="zh-CN" sz="1800" baseline="30000"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th</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target value</a:t>
            </a:r>
            <a:endParaRPr lang="zh-CN" altLang="en-US"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6" name="Group 3">
            <a:extLst>
              <a:ext uri="{FF2B5EF4-FFF2-40B4-BE49-F238E27FC236}">
                <a16:creationId xmlns:a16="http://schemas.microsoft.com/office/drawing/2014/main" id="{21EF02C6-7CD0-B0C3-3150-0357B391D9F8}"/>
              </a:ext>
            </a:extLst>
          </p:cNvPr>
          <p:cNvGraphicFramePr>
            <a:graphicFrameLocks/>
          </p:cNvGraphicFramePr>
          <p:nvPr>
            <p:extLst>
              <p:ext uri="{D42A27DB-BD31-4B8C-83A1-F6EECF244321}">
                <p14:modId xmlns:p14="http://schemas.microsoft.com/office/powerpoint/2010/main" val="1613521504"/>
              </p:ext>
            </p:extLst>
          </p:nvPr>
        </p:nvGraphicFramePr>
        <p:xfrm>
          <a:off x="5864070" y="1141102"/>
          <a:ext cx="3990975" cy="5286652"/>
        </p:xfrm>
        <a:graphic>
          <a:graphicData uri="http://schemas.openxmlformats.org/drawingml/2006/table">
            <a:tbl>
              <a:tblPr/>
              <a:tblGrid>
                <a:gridCol w="452438">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6437">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gridCol w="706437">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18555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62C285-CE1D-D127-0DB1-AC3A5CD9C303}"/>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基于熵 </a:t>
            </a:r>
            <a:r>
              <a:rPr lang="en-US"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信息增益算法</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ID3</a:t>
            </a:r>
            <a:endParaRPr kumimoji="1" lang="zh-CN" altLang="en-US" dirty="0"/>
          </a:p>
        </p:txBody>
      </p:sp>
      <p:sp>
        <p:nvSpPr>
          <p:cNvPr id="3" name="TextBox 4">
            <a:extLst>
              <a:ext uri="{FF2B5EF4-FFF2-40B4-BE49-F238E27FC236}">
                <a16:creationId xmlns:a16="http://schemas.microsoft.com/office/drawing/2014/main" id="{252142F0-A6FB-6C58-1FEA-CE0BCE21A3AB}"/>
              </a:ext>
            </a:extLst>
          </p:cNvPr>
          <p:cNvSpPr txBox="1"/>
          <p:nvPr>
            <p:custDataLst>
              <p:tags r:id="rId1"/>
            </p:custDataLst>
          </p:nvPr>
        </p:nvSpPr>
        <p:spPr>
          <a:xfrm>
            <a:off x="1044275" y="2629562"/>
            <a:ext cx="4906522" cy="2143125"/>
          </a:xfrm>
          <a:prstGeom prst="rect">
            <a:avLst/>
          </a:prstGeom>
          <a:noFill/>
        </p:spPr>
        <p:txBody>
          <a:bodyPr vert="horz" wrap="square" rtlCol="0" anchor="ctr" anchorCtr="0">
            <a:noAutofit/>
          </a:bodyPr>
          <a:lstStyle/>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购买的</a:t>
            </a:r>
            <a:r>
              <a:rPr lang="zh-CN" altLang="en-US" sz="2400" b="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比例为：</a:t>
            </a:r>
            <a:r>
              <a:rPr lang="en-US" altLang="zh-CN" sz="2400" b="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9/14 </a:t>
            </a:r>
            <a:endParaRPr lang="en-US" altLang="zh-CN"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不购买的比例为</a:t>
            </a:r>
            <a:r>
              <a:rPr lang="zh-CN" altLang="en-US" sz="2400" b="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5</a:t>
            </a:r>
            <a:r>
              <a:rPr lang="en-US" altLang="zh-CN" sz="2400" b="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/14</a:t>
            </a:r>
            <a:endParaRPr lang="en-US" altLang="zh-CN"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顾客数据的熵值</a:t>
            </a:r>
            <a:r>
              <a:rPr lang="zh-CN" altLang="en-US" sz="2400" b="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endParaRPr lang="zh-CN" altLang="en-US" sz="2400" b="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对象 3">
            <a:extLst>
              <a:ext uri="{FF2B5EF4-FFF2-40B4-BE49-F238E27FC236}">
                <a16:creationId xmlns:a16="http://schemas.microsoft.com/office/drawing/2014/main" id="{2525D318-072C-6DBF-FCE6-377D3E346CB9}"/>
              </a:ext>
            </a:extLst>
          </p:cNvPr>
          <p:cNvGraphicFramePr>
            <a:graphicFrameLocks noChangeAspect="1"/>
          </p:cNvGraphicFramePr>
          <p:nvPr>
            <p:extLst>
              <p:ext uri="{D42A27DB-BD31-4B8C-83A1-F6EECF244321}">
                <p14:modId xmlns:p14="http://schemas.microsoft.com/office/powerpoint/2010/main" val="28542923"/>
              </p:ext>
            </p:extLst>
          </p:nvPr>
        </p:nvGraphicFramePr>
        <p:xfrm>
          <a:off x="1133182" y="1221357"/>
          <a:ext cx="3530250" cy="864000"/>
        </p:xfrm>
        <a:graphic>
          <a:graphicData uri="http://schemas.openxmlformats.org/presentationml/2006/ole">
            <mc:AlternateContent xmlns:mc="http://schemas.openxmlformats.org/markup-compatibility/2006">
              <mc:Choice xmlns:v="urn:schemas-microsoft-com:vml" Requires="v">
                <p:oleObj name="Equation" r:id="rId4" imgW="1765300" imgH="431800" progId="">
                  <p:embed/>
                </p:oleObj>
              </mc:Choice>
              <mc:Fallback>
                <p:oleObj name="Equation" r:id="rId4" imgW="1765300" imgH="431800" progId="">
                  <p:embed/>
                  <p:pic>
                    <p:nvPicPr>
                      <p:cNvPr id="11" name="对象 10">
                        <a:extLst>
                          <a:ext uri="{FF2B5EF4-FFF2-40B4-BE49-F238E27FC236}">
                            <a16:creationId xmlns:a16="http://schemas.microsoft.com/office/drawing/2014/main" id="{AABCA789-F07E-48F4-991A-23D60B0F03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3182" y="1221357"/>
                        <a:ext cx="3530250" cy="864000"/>
                      </a:xfrm>
                      <a:prstGeom prst="rect">
                        <a:avLst/>
                      </a:prstGeom>
                      <a:noFill/>
                      <a:ln>
                        <a:solidFill>
                          <a:srgbClr val="FF6600"/>
                        </a:solidFill>
                      </a:ln>
                    </p:spPr>
                  </p:pic>
                </p:oleObj>
              </mc:Fallback>
            </mc:AlternateContent>
          </a:graphicData>
        </a:graphic>
      </p:graphicFrame>
      <p:sp>
        <p:nvSpPr>
          <p:cNvPr id="5" name="TextBox 14">
            <a:extLst>
              <a:ext uri="{FF2B5EF4-FFF2-40B4-BE49-F238E27FC236}">
                <a16:creationId xmlns:a16="http://schemas.microsoft.com/office/drawing/2014/main" id="{99061271-3DF4-123B-085C-BCF0804D5F1E}"/>
              </a:ext>
            </a:extLst>
          </p:cNvPr>
          <p:cNvSpPr txBox="1"/>
          <p:nvPr/>
        </p:nvSpPr>
        <p:spPr>
          <a:xfrm>
            <a:off x="1133183" y="2087759"/>
            <a:ext cx="3567546" cy="923330"/>
          </a:xfrm>
          <a:prstGeom prst="rect">
            <a:avLst/>
          </a:prstGeom>
          <a:noFill/>
        </p:spPr>
        <p:txBody>
          <a:bodyPr wrap="square" rtlCol="0">
            <a:spAutoFit/>
          </a:bodyPr>
          <a:lstStyle/>
          <a:p>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p</a:t>
            </a:r>
            <a:r>
              <a:rPr lang="en-AU" altLang="zh-CN" sz="1800" baseline="-250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the proportion of instances in the dataset that take the </a:t>
            </a:r>
            <a:r>
              <a:rPr lang="en-AU" altLang="zh-CN" sz="1800" i="1"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i</a:t>
            </a:r>
            <a:r>
              <a:rPr lang="en-AU" altLang="zh-CN" sz="1800" i="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a:t>
            </a:r>
            <a:r>
              <a:rPr lang="en-AU" altLang="zh-CN" sz="1800" baseline="30000" dirty="0" err="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th</a:t>
            </a:r>
            <a:r>
              <a:rPr lang="en-AU" altLang="zh-CN"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 target value</a:t>
            </a:r>
            <a:endParaRPr lang="zh-CN" altLang="en-US" sz="1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6" name="Group 3">
            <a:extLst>
              <a:ext uri="{FF2B5EF4-FFF2-40B4-BE49-F238E27FC236}">
                <a16:creationId xmlns:a16="http://schemas.microsoft.com/office/drawing/2014/main" id="{074D8B9D-E663-78FA-7B40-8708AC102CC0}"/>
              </a:ext>
            </a:extLst>
          </p:cNvPr>
          <p:cNvGraphicFramePr>
            <a:graphicFrameLocks/>
          </p:cNvGraphicFramePr>
          <p:nvPr>
            <p:extLst>
              <p:ext uri="{D42A27DB-BD31-4B8C-83A1-F6EECF244321}">
                <p14:modId xmlns:p14="http://schemas.microsoft.com/office/powerpoint/2010/main" val="4066286863"/>
              </p:ext>
            </p:extLst>
          </p:nvPr>
        </p:nvGraphicFramePr>
        <p:xfrm>
          <a:off x="6241205" y="992274"/>
          <a:ext cx="3990975" cy="5286652"/>
        </p:xfrm>
        <a:graphic>
          <a:graphicData uri="http://schemas.openxmlformats.org/drawingml/2006/table">
            <a:tbl>
              <a:tblPr/>
              <a:tblGrid>
                <a:gridCol w="452438">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6437">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gridCol w="706437">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pic>
        <p:nvPicPr>
          <p:cNvPr id="7" name="图片 6">
            <a:extLst>
              <a:ext uri="{FF2B5EF4-FFF2-40B4-BE49-F238E27FC236}">
                <a16:creationId xmlns:a16="http://schemas.microsoft.com/office/drawing/2014/main" id="{02BBC726-2A93-7DF4-8554-8E48F72A58F2}"/>
              </a:ext>
            </a:extLst>
          </p:cNvPr>
          <p:cNvPicPr>
            <a:picLocks noChangeAspect="1"/>
          </p:cNvPicPr>
          <p:nvPr/>
        </p:nvPicPr>
        <p:blipFill>
          <a:blip r:embed="rId6"/>
          <a:stretch>
            <a:fillRect/>
          </a:stretch>
        </p:blipFill>
        <p:spPr>
          <a:xfrm>
            <a:off x="1107181" y="4648189"/>
            <a:ext cx="4464591" cy="612000"/>
          </a:xfrm>
          <a:prstGeom prst="rect">
            <a:avLst/>
          </a:prstGeom>
        </p:spPr>
      </p:pic>
      <p:graphicFrame>
        <p:nvGraphicFramePr>
          <p:cNvPr id="8" name="对象 7">
            <a:extLst>
              <a:ext uri="{FF2B5EF4-FFF2-40B4-BE49-F238E27FC236}">
                <a16:creationId xmlns:a16="http://schemas.microsoft.com/office/drawing/2014/main" id="{1C306C90-0046-2886-F748-DAB7AD32C23F}"/>
              </a:ext>
            </a:extLst>
          </p:cNvPr>
          <p:cNvGraphicFramePr>
            <a:graphicFrameLocks noChangeAspect="1"/>
          </p:cNvGraphicFramePr>
          <p:nvPr>
            <p:extLst>
              <p:ext uri="{D42A27DB-BD31-4B8C-83A1-F6EECF244321}">
                <p14:modId xmlns:p14="http://schemas.microsoft.com/office/powerpoint/2010/main" val="2317274875"/>
              </p:ext>
            </p:extLst>
          </p:nvPr>
        </p:nvGraphicFramePr>
        <p:xfrm>
          <a:off x="870144" y="5398130"/>
          <a:ext cx="4779818" cy="685800"/>
        </p:xfrm>
        <a:graphic>
          <a:graphicData uri="http://schemas.openxmlformats.org/presentationml/2006/ole">
            <mc:AlternateContent xmlns:mc="http://schemas.openxmlformats.org/markup-compatibility/2006">
              <mc:Choice xmlns:v="urn:schemas-microsoft-com:vml" Requires="v">
                <p:oleObj name="Equation" r:id="rId7" imgW="2921000" imgH="419100" progId="">
                  <p:embed/>
                </p:oleObj>
              </mc:Choice>
              <mc:Fallback>
                <p:oleObj name="Equation" r:id="rId7" imgW="2921000" imgH="419100" progId="">
                  <p:embed/>
                  <p:pic>
                    <p:nvPicPr>
                      <p:cNvPr id="21" name="对象 20">
                        <a:extLst>
                          <a:ext uri="{FF2B5EF4-FFF2-40B4-BE49-F238E27FC236}">
                            <a16:creationId xmlns:a16="http://schemas.microsoft.com/office/drawing/2014/main" id="{144550A2-4B90-4ED4-8DFA-03233F0244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0144" y="5398130"/>
                        <a:ext cx="4779818" cy="685800"/>
                      </a:xfrm>
                      <a:prstGeom prst="rect">
                        <a:avLst/>
                      </a:prstGeom>
                      <a:solidFill>
                        <a:schemeClr val="accent6">
                          <a:lumMod val="20000"/>
                          <a:lumOff val="80000"/>
                        </a:schemeClr>
                      </a:solidFill>
                    </p:spPr>
                  </p:pic>
                </p:oleObj>
              </mc:Fallback>
            </mc:AlternateContent>
          </a:graphicData>
        </a:graphic>
      </p:graphicFrame>
      <p:sp>
        <p:nvSpPr>
          <p:cNvPr id="9" name="TextBox 15">
            <a:extLst>
              <a:ext uri="{FF2B5EF4-FFF2-40B4-BE49-F238E27FC236}">
                <a16:creationId xmlns:a16="http://schemas.microsoft.com/office/drawing/2014/main" id="{88C52A94-9144-6CE0-8022-6A8938905D46}"/>
              </a:ext>
            </a:extLst>
          </p:cNvPr>
          <p:cNvSpPr txBox="1"/>
          <p:nvPr/>
        </p:nvSpPr>
        <p:spPr>
          <a:xfrm>
            <a:off x="1044275" y="6347241"/>
            <a:ext cx="6044603" cy="400110"/>
          </a:xfrm>
          <a:prstGeom prst="rect">
            <a:avLst/>
          </a:prstGeom>
          <a:noFill/>
        </p:spPr>
        <p:txBody>
          <a:bodyPr wrap="none" rtlCol="0">
            <a:spAutoFit/>
          </a:bodyPr>
          <a:lstStyle/>
          <a:p>
            <a:r>
              <a:rPr lang="en-AU" altLang="zh-CN" sz="2000" dirty="0" err="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S</a:t>
            </a:r>
            <a:r>
              <a:rPr lang="en-AU" altLang="zh-CN" sz="2000" baseline="-25000" dirty="0" err="1">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v</a:t>
            </a:r>
            <a:r>
              <a:rPr lang="en-AU" altLang="zh-CN"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 the subset of S where attribute A takes the value v.</a:t>
            </a:r>
            <a:endParaRPr lang="zh-CN" altLang="en-US" sz="20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366141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F5F81C-1DF4-2126-BB36-92D5233D16C8}"/>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基于熵 </a:t>
            </a:r>
            <a:r>
              <a:rPr lang="en-US"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信息增益算法</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ID3</a:t>
            </a:r>
            <a:endParaRPr kumimoji="1" lang="zh-CN" altLang="en-US" dirty="0"/>
          </a:p>
        </p:txBody>
      </p:sp>
      <p:sp>
        <p:nvSpPr>
          <p:cNvPr id="3" name="Rectangle 3">
            <a:extLst>
              <a:ext uri="{FF2B5EF4-FFF2-40B4-BE49-F238E27FC236}">
                <a16:creationId xmlns:a16="http://schemas.microsoft.com/office/drawing/2014/main" id="{4E60B487-0066-6782-AD8C-B9B7059F8D1D}"/>
              </a:ext>
            </a:extLst>
          </p:cNvPr>
          <p:cNvSpPr txBox="1">
            <a:spLocks noChangeArrowheads="1"/>
          </p:cNvSpPr>
          <p:nvPr/>
        </p:nvSpPr>
        <p:spPr>
          <a:xfrm>
            <a:off x="1215829" y="793072"/>
            <a:ext cx="4789488" cy="580865"/>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itchFamily="2" charset="2"/>
              <a:buNone/>
            </a:pPr>
            <a:r>
              <a:rPr lang="en-US" altLang="zh-CN" sz="240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、假设以年龄为树的根节点</a:t>
            </a:r>
          </a:p>
        </p:txBody>
      </p:sp>
      <p:sp>
        <p:nvSpPr>
          <p:cNvPr id="4" name="Oval 52">
            <a:extLst>
              <a:ext uri="{FF2B5EF4-FFF2-40B4-BE49-F238E27FC236}">
                <a16:creationId xmlns:a16="http://schemas.microsoft.com/office/drawing/2014/main" id="{4339201E-4CB7-8CBF-886C-FDEE23A558C4}"/>
              </a:ext>
            </a:extLst>
          </p:cNvPr>
          <p:cNvSpPr>
            <a:spLocks noChangeArrowheads="1"/>
          </p:cNvSpPr>
          <p:nvPr/>
        </p:nvSpPr>
        <p:spPr bwMode="auto">
          <a:xfrm>
            <a:off x="3917754" y="2196204"/>
            <a:ext cx="2087563" cy="576262"/>
          </a:xfrm>
          <a:prstGeom prst="ellipse">
            <a:avLst/>
          </a:prstGeom>
          <a:solidFill>
            <a:schemeClr val="accent6">
              <a:lumMod val="20000"/>
              <a:lumOff val="80000"/>
            </a:schemeClr>
          </a:solidFill>
          <a:ln w="9525">
            <a:solidFill>
              <a:srgbClr val="FF6600"/>
            </a:solidFill>
            <a:round/>
            <a:headEnd/>
            <a:tailEnd/>
          </a:ln>
          <a:effectLst/>
        </p:spPr>
        <p:txBody>
          <a:bodyPr wrap="none" anchor="ctr"/>
          <a:lstStyle/>
          <a:p>
            <a:pPr marL="469900" indent="-469900" algn="ctr" eaLnBrk="1" hangingPunct="1">
              <a:spcBef>
                <a:spcPct val="20000"/>
              </a:spcBef>
              <a:buClr>
                <a:schemeClr val="accent2"/>
              </a:buClr>
              <a:buFont typeface="Wingdings" pitchFamily="2" charset="2"/>
              <a:buNone/>
            </a:pP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年龄</a:t>
            </a:r>
          </a:p>
        </p:txBody>
      </p:sp>
      <p:sp>
        <p:nvSpPr>
          <p:cNvPr id="5" name="AutoShape 53">
            <a:extLst>
              <a:ext uri="{FF2B5EF4-FFF2-40B4-BE49-F238E27FC236}">
                <a16:creationId xmlns:a16="http://schemas.microsoft.com/office/drawing/2014/main" id="{117CDE6F-BF39-D86D-1D8F-18400FB3F002}"/>
              </a:ext>
            </a:extLst>
          </p:cNvPr>
          <p:cNvSpPr>
            <a:spLocks noChangeArrowheads="1"/>
          </p:cNvSpPr>
          <p:nvPr/>
        </p:nvSpPr>
        <p:spPr bwMode="auto">
          <a:xfrm rot="8446944">
            <a:off x="2513611" y="3239985"/>
            <a:ext cx="2052637" cy="358775"/>
          </a:xfrm>
          <a:prstGeom prst="rightArrow">
            <a:avLst>
              <a:gd name="adj1" fmla="val 35398"/>
              <a:gd name="adj2" fmla="val 128013"/>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Text Box 54">
            <a:extLst>
              <a:ext uri="{FF2B5EF4-FFF2-40B4-BE49-F238E27FC236}">
                <a16:creationId xmlns:a16="http://schemas.microsoft.com/office/drawing/2014/main" id="{E9E7716A-371B-7E8E-1D11-26F18213869E}"/>
              </a:ext>
            </a:extLst>
          </p:cNvPr>
          <p:cNvSpPr txBox="1">
            <a:spLocks noChangeArrowheads="1"/>
          </p:cNvSpPr>
          <p:nvPr/>
        </p:nvSpPr>
        <p:spPr bwMode="auto">
          <a:xfrm>
            <a:off x="2958547" y="295264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老年</a:t>
            </a:r>
          </a:p>
        </p:txBody>
      </p:sp>
      <p:sp>
        <p:nvSpPr>
          <p:cNvPr id="7" name="AutoShape 97">
            <a:extLst>
              <a:ext uri="{FF2B5EF4-FFF2-40B4-BE49-F238E27FC236}">
                <a16:creationId xmlns:a16="http://schemas.microsoft.com/office/drawing/2014/main" id="{9905C24B-5256-1A44-2563-5F3900BFAD50}"/>
              </a:ext>
            </a:extLst>
          </p:cNvPr>
          <p:cNvSpPr>
            <a:spLocks noChangeArrowheads="1"/>
          </p:cNvSpPr>
          <p:nvPr/>
        </p:nvSpPr>
        <p:spPr bwMode="auto">
          <a:xfrm rot="5400000">
            <a:off x="4367811" y="3295547"/>
            <a:ext cx="1187450" cy="358775"/>
          </a:xfrm>
          <a:prstGeom prst="rightArrow">
            <a:avLst>
              <a:gd name="adj1" fmla="val 35398"/>
              <a:gd name="adj2" fmla="val 74055"/>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Text Box 98">
            <a:extLst>
              <a:ext uri="{FF2B5EF4-FFF2-40B4-BE49-F238E27FC236}">
                <a16:creationId xmlns:a16="http://schemas.microsoft.com/office/drawing/2014/main" id="{AD7B1BED-B20A-2F32-9345-3A011017DC73}"/>
              </a:ext>
            </a:extLst>
          </p:cNvPr>
          <p:cNvSpPr txBox="1">
            <a:spLocks noChangeArrowheads="1"/>
          </p:cNvSpPr>
          <p:nvPr/>
        </p:nvSpPr>
        <p:spPr bwMode="auto">
          <a:xfrm>
            <a:off x="4167785" y="3273691"/>
            <a:ext cx="793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中年</a:t>
            </a:r>
          </a:p>
        </p:txBody>
      </p:sp>
      <p:sp>
        <p:nvSpPr>
          <p:cNvPr id="9" name="AutoShape 147">
            <a:extLst>
              <a:ext uri="{FF2B5EF4-FFF2-40B4-BE49-F238E27FC236}">
                <a16:creationId xmlns:a16="http://schemas.microsoft.com/office/drawing/2014/main" id="{87A19320-6FA0-85D9-4AE4-EFA47CA0DD3A}"/>
              </a:ext>
            </a:extLst>
          </p:cNvPr>
          <p:cNvSpPr>
            <a:spLocks noChangeArrowheads="1"/>
          </p:cNvSpPr>
          <p:nvPr/>
        </p:nvSpPr>
        <p:spPr bwMode="auto">
          <a:xfrm rot="2333833">
            <a:off x="5321898" y="3239985"/>
            <a:ext cx="1962150" cy="358775"/>
          </a:xfrm>
          <a:prstGeom prst="rightArrow">
            <a:avLst>
              <a:gd name="adj1" fmla="val 35398"/>
              <a:gd name="adj2" fmla="val 122369"/>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Text Box 148">
            <a:extLst>
              <a:ext uri="{FF2B5EF4-FFF2-40B4-BE49-F238E27FC236}">
                <a16:creationId xmlns:a16="http://schemas.microsoft.com/office/drawing/2014/main" id="{A67BE57E-EBE2-39E0-6617-C9818586101A}"/>
              </a:ext>
            </a:extLst>
          </p:cNvPr>
          <p:cNvSpPr txBox="1">
            <a:spLocks noChangeArrowheads="1"/>
          </p:cNvSpPr>
          <p:nvPr/>
        </p:nvSpPr>
        <p:spPr bwMode="auto">
          <a:xfrm>
            <a:off x="6171709" y="2952648"/>
            <a:ext cx="793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青年</a:t>
            </a:r>
          </a:p>
        </p:txBody>
      </p:sp>
      <p:graphicFrame>
        <p:nvGraphicFramePr>
          <p:cNvPr id="11" name="Group 3">
            <a:extLst>
              <a:ext uri="{FF2B5EF4-FFF2-40B4-BE49-F238E27FC236}">
                <a16:creationId xmlns:a16="http://schemas.microsoft.com/office/drawing/2014/main" id="{5367459F-4242-AC89-0E9A-AD2AEC739703}"/>
              </a:ext>
            </a:extLst>
          </p:cNvPr>
          <p:cNvGraphicFramePr>
            <a:graphicFrameLocks/>
          </p:cNvGraphicFramePr>
          <p:nvPr>
            <p:extLst>
              <p:ext uri="{D42A27DB-BD31-4B8C-83A1-F6EECF244321}">
                <p14:modId xmlns:p14="http://schemas.microsoft.com/office/powerpoint/2010/main" val="1888775559"/>
              </p:ext>
            </p:extLst>
          </p:nvPr>
        </p:nvGraphicFramePr>
        <p:xfrm>
          <a:off x="7710382" y="706027"/>
          <a:ext cx="2393256" cy="3491213"/>
        </p:xfrm>
        <a:graphic>
          <a:graphicData uri="http://schemas.openxmlformats.org/drawingml/2006/table">
            <a:tbl>
              <a:tblPr/>
              <a:tblGrid>
                <a:gridCol w="271312">
                  <a:extLst>
                    <a:ext uri="{9D8B030D-6E8A-4147-A177-3AD203B41FA5}">
                      <a16:colId xmlns:a16="http://schemas.microsoft.com/office/drawing/2014/main" val="20000"/>
                    </a:ext>
                  </a:extLst>
                </a:gridCol>
                <a:gridCol w="422675">
                  <a:extLst>
                    <a:ext uri="{9D8B030D-6E8A-4147-A177-3AD203B41FA5}">
                      <a16:colId xmlns:a16="http://schemas.microsoft.com/office/drawing/2014/main" val="20001"/>
                    </a:ext>
                  </a:extLst>
                </a:gridCol>
                <a:gridCol w="423627">
                  <a:extLst>
                    <a:ext uri="{9D8B030D-6E8A-4147-A177-3AD203B41FA5}">
                      <a16:colId xmlns:a16="http://schemas.microsoft.com/office/drawing/2014/main" val="20002"/>
                    </a:ext>
                  </a:extLst>
                </a:gridCol>
                <a:gridCol w="429340">
                  <a:extLst>
                    <a:ext uri="{9D8B030D-6E8A-4147-A177-3AD203B41FA5}">
                      <a16:colId xmlns:a16="http://schemas.microsoft.com/office/drawing/2014/main" val="20003"/>
                    </a:ext>
                  </a:extLst>
                </a:gridCol>
                <a:gridCol w="423627">
                  <a:extLst>
                    <a:ext uri="{9D8B030D-6E8A-4147-A177-3AD203B41FA5}">
                      <a16:colId xmlns:a16="http://schemas.microsoft.com/office/drawing/2014/main" val="20004"/>
                    </a:ext>
                  </a:extLst>
                </a:gridCol>
                <a:gridCol w="422675">
                  <a:extLst>
                    <a:ext uri="{9D8B030D-6E8A-4147-A177-3AD203B41FA5}">
                      <a16:colId xmlns:a16="http://schemas.microsoft.com/office/drawing/2014/main" val="20005"/>
                    </a:ext>
                  </a:extLst>
                </a:gridCol>
              </a:tblGrid>
              <a:tr h="27161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1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2" name="Group 3">
            <a:extLst>
              <a:ext uri="{FF2B5EF4-FFF2-40B4-BE49-F238E27FC236}">
                <a16:creationId xmlns:a16="http://schemas.microsoft.com/office/drawing/2014/main" id="{22085E55-5384-DC54-9320-E422BF313EC1}"/>
              </a:ext>
            </a:extLst>
          </p:cNvPr>
          <p:cNvGraphicFramePr>
            <a:graphicFrameLocks/>
          </p:cNvGraphicFramePr>
          <p:nvPr>
            <p:extLst>
              <p:ext uri="{D42A27DB-BD31-4B8C-83A1-F6EECF244321}">
                <p14:modId xmlns:p14="http://schemas.microsoft.com/office/powerpoint/2010/main" val="1569440470"/>
              </p:ext>
            </p:extLst>
          </p:nvPr>
        </p:nvGraphicFramePr>
        <p:xfrm>
          <a:off x="638377" y="4347711"/>
          <a:ext cx="2915999" cy="2152501"/>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3" name="Group 3">
            <a:extLst>
              <a:ext uri="{FF2B5EF4-FFF2-40B4-BE49-F238E27FC236}">
                <a16:creationId xmlns:a16="http://schemas.microsoft.com/office/drawing/2014/main" id="{AF41DF15-3F85-D585-7CE1-C0CEB12FAD69}"/>
              </a:ext>
            </a:extLst>
          </p:cNvPr>
          <p:cNvGraphicFramePr>
            <a:graphicFrameLocks/>
          </p:cNvGraphicFramePr>
          <p:nvPr>
            <p:extLst>
              <p:ext uri="{D42A27DB-BD31-4B8C-83A1-F6EECF244321}">
                <p14:modId xmlns:p14="http://schemas.microsoft.com/office/powerpoint/2010/main" val="2924404639"/>
              </p:ext>
            </p:extLst>
          </p:nvPr>
        </p:nvGraphicFramePr>
        <p:xfrm>
          <a:off x="3642007" y="4347711"/>
          <a:ext cx="2915999" cy="2152501"/>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4" name="Group 3">
            <a:extLst>
              <a:ext uri="{FF2B5EF4-FFF2-40B4-BE49-F238E27FC236}">
                <a16:creationId xmlns:a16="http://schemas.microsoft.com/office/drawing/2014/main" id="{ED57B5FD-284D-BE64-E2E3-3B95F8BB1085}"/>
              </a:ext>
            </a:extLst>
          </p:cNvPr>
          <p:cNvGraphicFramePr>
            <a:graphicFrameLocks/>
          </p:cNvGraphicFramePr>
          <p:nvPr>
            <p:extLst>
              <p:ext uri="{D42A27DB-BD31-4B8C-83A1-F6EECF244321}">
                <p14:modId xmlns:p14="http://schemas.microsoft.com/office/powerpoint/2010/main" val="381622890"/>
              </p:ext>
            </p:extLst>
          </p:nvPr>
        </p:nvGraphicFramePr>
        <p:xfrm>
          <a:off x="6682709" y="4347711"/>
          <a:ext cx="2915999" cy="1804262"/>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39215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79C1797-D930-E0D9-FCF6-4B15CF8BE172}"/>
              </a:ext>
            </a:extLst>
          </p:cNvPr>
          <p:cNvSpPr/>
          <p:nvPr/>
        </p:nvSpPr>
        <p:spPr>
          <a:xfrm>
            <a:off x="6812407" y="3533981"/>
            <a:ext cx="857763" cy="6082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5D55CD9C-1793-DB9A-7258-88627EE8568F}"/>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基于熵 </a:t>
            </a:r>
            <a:r>
              <a:rPr lang="en-US"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信息增益算法</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ID3</a:t>
            </a:r>
            <a:endParaRPr kumimoji="1" lang="zh-CN" altLang="en-US" dirty="0"/>
          </a:p>
        </p:txBody>
      </p:sp>
      <p:sp>
        <p:nvSpPr>
          <p:cNvPr id="3" name="Rectangle 3">
            <a:extLst>
              <a:ext uri="{FF2B5EF4-FFF2-40B4-BE49-F238E27FC236}">
                <a16:creationId xmlns:a16="http://schemas.microsoft.com/office/drawing/2014/main" id="{86E7F0F4-A9C9-9D6D-93FD-9ADC955D99CD}"/>
              </a:ext>
            </a:extLst>
          </p:cNvPr>
          <p:cNvSpPr txBox="1">
            <a:spLocks noChangeArrowheads="1"/>
          </p:cNvSpPr>
          <p:nvPr/>
        </p:nvSpPr>
        <p:spPr>
          <a:xfrm>
            <a:off x="1609855" y="1688043"/>
            <a:ext cx="5053330" cy="1834348"/>
          </a:xfrm>
          <a:prstGeom prst="rect">
            <a:avLst/>
          </a:prstGeom>
        </p:spPr>
        <p:txBody>
          <a:bodyPr wrap="square">
            <a:spAutoFit/>
          </a:bodyPr>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kern="12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kern="1200">
                <a:solidFill>
                  <a:schemeClr val="tx1"/>
                </a:solidFill>
                <a:latin typeface="+mn-lt"/>
                <a:ea typeface="+mn-ea"/>
                <a:cs typeface="+mn-cs"/>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pitchFamily="2" charset="2"/>
              <a:buNone/>
            </a:pP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原始数据分类所需的期望信息：</a:t>
            </a:r>
          </a:p>
          <a:p>
            <a:pPr eaLnBrk="1" hangingPunct="1">
              <a:buFont typeface="Wingdings" pitchFamily="2" charset="2"/>
              <a:buNone/>
            </a:pPr>
            <a:endParaRPr lang="zh-CN" altLang="en-US" sz="2400" b="0">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buFont typeface="Wingdings" pitchFamily="2" charset="2"/>
              <a:buNone/>
            </a:pPr>
            <a:endParaRPr lang="zh-CN" altLang="en-US" sz="2400" b="0">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buFont typeface="Wingdings" pitchFamily="2" charset="2"/>
              <a:buNone/>
            </a:pP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按照年龄分类所需的期望信息：</a:t>
            </a:r>
          </a:p>
        </p:txBody>
      </p:sp>
      <p:graphicFrame>
        <p:nvGraphicFramePr>
          <p:cNvPr id="4" name="Object 11">
            <a:extLst>
              <a:ext uri="{FF2B5EF4-FFF2-40B4-BE49-F238E27FC236}">
                <a16:creationId xmlns:a16="http://schemas.microsoft.com/office/drawing/2014/main" id="{44074CAD-0260-52DA-0469-C520F49816DA}"/>
              </a:ext>
            </a:extLst>
          </p:cNvPr>
          <p:cNvGraphicFramePr>
            <a:graphicFrameLocks noChangeAspect="1"/>
          </p:cNvGraphicFramePr>
          <p:nvPr>
            <p:extLst>
              <p:ext uri="{D42A27DB-BD31-4B8C-83A1-F6EECF244321}">
                <p14:modId xmlns:p14="http://schemas.microsoft.com/office/powerpoint/2010/main" val="2744240170"/>
              </p:ext>
            </p:extLst>
          </p:nvPr>
        </p:nvGraphicFramePr>
        <p:xfrm>
          <a:off x="1600543" y="2149189"/>
          <a:ext cx="5966460" cy="708660"/>
        </p:xfrm>
        <a:graphic>
          <a:graphicData uri="http://schemas.openxmlformats.org/presentationml/2006/ole">
            <mc:AlternateContent xmlns:mc="http://schemas.openxmlformats.org/markup-compatibility/2006">
              <mc:Choice xmlns:v="urn:schemas-microsoft-com:vml" Requires="v">
                <p:oleObj name="公式" r:id="rId3" imgW="3314700" imgH="393700" progId="Equation.3">
                  <p:embed/>
                </p:oleObj>
              </mc:Choice>
              <mc:Fallback>
                <p:oleObj name="公式" r:id="rId3" imgW="3314700" imgH="393700" progId="Equation.3">
                  <p:embed/>
                  <p:pic>
                    <p:nvPicPr>
                      <p:cNvPr id="17"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543" y="2149189"/>
                        <a:ext cx="5966460"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6">
            <a:extLst>
              <a:ext uri="{FF2B5EF4-FFF2-40B4-BE49-F238E27FC236}">
                <a16:creationId xmlns:a16="http://schemas.microsoft.com/office/drawing/2014/main" id="{5631E3E6-7FA6-48B2-5AEB-B0A2CB44EEBA}"/>
              </a:ext>
            </a:extLst>
          </p:cNvPr>
          <p:cNvGraphicFramePr>
            <a:graphicFrameLocks noChangeAspect="1"/>
          </p:cNvGraphicFramePr>
          <p:nvPr>
            <p:extLst>
              <p:ext uri="{D42A27DB-BD31-4B8C-83A1-F6EECF244321}">
                <p14:modId xmlns:p14="http://schemas.microsoft.com/office/powerpoint/2010/main" val="633080731"/>
              </p:ext>
            </p:extLst>
          </p:nvPr>
        </p:nvGraphicFramePr>
        <p:xfrm>
          <a:off x="1600543" y="3533981"/>
          <a:ext cx="5211864" cy="708264"/>
        </p:xfrm>
        <a:graphic>
          <a:graphicData uri="http://schemas.openxmlformats.org/presentationml/2006/ole">
            <mc:AlternateContent xmlns:mc="http://schemas.openxmlformats.org/markup-compatibility/2006">
              <mc:Choice xmlns:v="urn:schemas-microsoft-com:vml" Requires="v">
                <p:oleObj name="Equation" r:id="rId5" imgW="2895480" imgH="393480" progId="Equation.DSMT4">
                  <p:embed/>
                </p:oleObj>
              </mc:Choice>
              <mc:Fallback>
                <p:oleObj name="Equation" r:id="rId5" imgW="2895480" imgH="393480" progId="Equation.DSMT4">
                  <p:embed/>
                  <p:pic>
                    <p:nvPicPr>
                      <p:cNvPr id="18" name="Object 6"/>
                      <p:cNvPicPr>
                        <a:picLocks noChangeAspect="1" noChangeArrowheads="1"/>
                      </p:cNvPicPr>
                      <p:nvPr/>
                    </p:nvPicPr>
                    <p:blipFill>
                      <a:blip r:embed="rId6"/>
                      <a:srcRect/>
                      <a:stretch>
                        <a:fillRect/>
                      </a:stretch>
                    </p:blipFill>
                    <p:spPr bwMode="auto">
                      <a:xfrm>
                        <a:off x="1600543" y="3533981"/>
                        <a:ext cx="5211864" cy="708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a:extLst>
              <a:ext uri="{FF2B5EF4-FFF2-40B4-BE49-F238E27FC236}">
                <a16:creationId xmlns:a16="http://schemas.microsoft.com/office/drawing/2014/main" id="{6F33FCBA-0679-6F8E-0E54-DEBCB79F8610}"/>
              </a:ext>
            </a:extLst>
          </p:cNvPr>
          <p:cNvGraphicFramePr>
            <a:graphicFrameLocks noChangeAspect="1"/>
          </p:cNvGraphicFramePr>
          <p:nvPr>
            <p:extLst>
              <p:ext uri="{D42A27DB-BD31-4B8C-83A1-F6EECF244321}">
                <p14:modId xmlns:p14="http://schemas.microsoft.com/office/powerpoint/2010/main" val="2344396223"/>
              </p:ext>
            </p:extLst>
          </p:nvPr>
        </p:nvGraphicFramePr>
        <p:xfrm>
          <a:off x="1954818" y="902288"/>
          <a:ext cx="5053330" cy="725043"/>
        </p:xfrm>
        <a:graphic>
          <a:graphicData uri="http://schemas.openxmlformats.org/presentationml/2006/ole">
            <mc:AlternateContent xmlns:mc="http://schemas.openxmlformats.org/markup-compatibility/2006">
              <mc:Choice xmlns:v="urn:schemas-microsoft-com:vml" Requires="v">
                <p:oleObj name="Equation" r:id="rId7" imgW="2921000" imgH="419100" progId="">
                  <p:embed/>
                </p:oleObj>
              </mc:Choice>
              <mc:Fallback>
                <p:oleObj name="Equation" r:id="rId7" imgW="2921000" imgH="419100" progId="">
                  <p:embed/>
                  <p:pic>
                    <p:nvPicPr>
                      <p:cNvPr id="22" name="对象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4818" y="902288"/>
                        <a:ext cx="5053330" cy="7250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Group 3">
            <a:extLst>
              <a:ext uri="{FF2B5EF4-FFF2-40B4-BE49-F238E27FC236}">
                <a16:creationId xmlns:a16="http://schemas.microsoft.com/office/drawing/2014/main" id="{F45EFA02-7F6D-501E-0568-F669DC010A27}"/>
              </a:ext>
            </a:extLst>
          </p:cNvPr>
          <p:cNvGraphicFramePr>
            <a:graphicFrameLocks/>
          </p:cNvGraphicFramePr>
          <p:nvPr>
            <p:extLst>
              <p:ext uri="{D42A27DB-BD31-4B8C-83A1-F6EECF244321}">
                <p14:modId xmlns:p14="http://schemas.microsoft.com/office/powerpoint/2010/main" val="3265206659"/>
              </p:ext>
            </p:extLst>
          </p:nvPr>
        </p:nvGraphicFramePr>
        <p:xfrm>
          <a:off x="9297456" y="924672"/>
          <a:ext cx="2393256" cy="3491213"/>
        </p:xfrm>
        <a:graphic>
          <a:graphicData uri="http://schemas.openxmlformats.org/drawingml/2006/table">
            <a:tbl>
              <a:tblPr/>
              <a:tblGrid>
                <a:gridCol w="271312">
                  <a:extLst>
                    <a:ext uri="{9D8B030D-6E8A-4147-A177-3AD203B41FA5}">
                      <a16:colId xmlns:a16="http://schemas.microsoft.com/office/drawing/2014/main" val="20000"/>
                    </a:ext>
                  </a:extLst>
                </a:gridCol>
                <a:gridCol w="422675">
                  <a:extLst>
                    <a:ext uri="{9D8B030D-6E8A-4147-A177-3AD203B41FA5}">
                      <a16:colId xmlns:a16="http://schemas.microsoft.com/office/drawing/2014/main" val="20001"/>
                    </a:ext>
                  </a:extLst>
                </a:gridCol>
                <a:gridCol w="423627">
                  <a:extLst>
                    <a:ext uri="{9D8B030D-6E8A-4147-A177-3AD203B41FA5}">
                      <a16:colId xmlns:a16="http://schemas.microsoft.com/office/drawing/2014/main" val="20002"/>
                    </a:ext>
                  </a:extLst>
                </a:gridCol>
                <a:gridCol w="429340">
                  <a:extLst>
                    <a:ext uri="{9D8B030D-6E8A-4147-A177-3AD203B41FA5}">
                      <a16:colId xmlns:a16="http://schemas.microsoft.com/office/drawing/2014/main" val="20003"/>
                    </a:ext>
                  </a:extLst>
                </a:gridCol>
                <a:gridCol w="423627">
                  <a:extLst>
                    <a:ext uri="{9D8B030D-6E8A-4147-A177-3AD203B41FA5}">
                      <a16:colId xmlns:a16="http://schemas.microsoft.com/office/drawing/2014/main" val="20004"/>
                    </a:ext>
                  </a:extLst>
                </a:gridCol>
                <a:gridCol w="422675">
                  <a:extLst>
                    <a:ext uri="{9D8B030D-6E8A-4147-A177-3AD203B41FA5}">
                      <a16:colId xmlns:a16="http://schemas.microsoft.com/office/drawing/2014/main" val="20005"/>
                    </a:ext>
                  </a:extLst>
                </a:gridCol>
              </a:tblGrid>
              <a:tr h="27161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1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2299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60386" marR="60386" marT="30192" marB="30192"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1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60386" marR="60386" marT="30192" marB="30192"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8" name="Group 3">
            <a:extLst>
              <a:ext uri="{FF2B5EF4-FFF2-40B4-BE49-F238E27FC236}">
                <a16:creationId xmlns:a16="http://schemas.microsoft.com/office/drawing/2014/main" id="{FBCA3E40-1358-07CF-7DD2-659E4EB25E87}"/>
              </a:ext>
            </a:extLst>
          </p:cNvPr>
          <p:cNvGraphicFramePr>
            <a:graphicFrameLocks/>
          </p:cNvGraphicFramePr>
          <p:nvPr>
            <p:extLst>
              <p:ext uri="{D42A27DB-BD31-4B8C-83A1-F6EECF244321}">
                <p14:modId xmlns:p14="http://schemas.microsoft.com/office/powerpoint/2010/main" val="334982813"/>
              </p:ext>
            </p:extLst>
          </p:nvPr>
        </p:nvGraphicFramePr>
        <p:xfrm>
          <a:off x="643532" y="4508351"/>
          <a:ext cx="2915999" cy="2152501"/>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9" name="Group 3">
            <a:extLst>
              <a:ext uri="{FF2B5EF4-FFF2-40B4-BE49-F238E27FC236}">
                <a16:creationId xmlns:a16="http://schemas.microsoft.com/office/drawing/2014/main" id="{56412963-FC16-0D90-B758-4CB3498F35C2}"/>
              </a:ext>
            </a:extLst>
          </p:cNvPr>
          <p:cNvGraphicFramePr>
            <a:graphicFrameLocks/>
          </p:cNvGraphicFramePr>
          <p:nvPr>
            <p:extLst>
              <p:ext uri="{D42A27DB-BD31-4B8C-83A1-F6EECF244321}">
                <p14:modId xmlns:p14="http://schemas.microsoft.com/office/powerpoint/2010/main" val="3846615094"/>
              </p:ext>
            </p:extLst>
          </p:nvPr>
        </p:nvGraphicFramePr>
        <p:xfrm>
          <a:off x="3647162" y="4508351"/>
          <a:ext cx="2915999" cy="2152501"/>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694" marB="4569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0" name="Group 3">
            <a:extLst>
              <a:ext uri="{FF2B5EF4-FFF2-40B4-BE49-F238E27FC236}">
                <a16:creationId xmlns:a16="http://schemas.microsoft.com/office/drawing/2014/main" id="{19FEF7FE-FC29-818C-BDA8-5489CCB3D238}"/>
              </a:ext>
            </a:extLst>
          </p:cNvPr>
          <p:cNvGraphicFramePr>
            <a:graphicFrameLocks/>
          </p:cNvGraphicFramePr>
          <p:nvPr>
            <p:extLst>
              <p:ext uri="{D42A27DB-BD31-4B8C-83A1-F6EECF244321}">
                <p14:modId xmlns:p14="http://schemas.microsoft.com/office/powerpoint/2010/main" val="1889722312"/>
              </p:ext>
            </p:extLst>
          </p:nvPr>
        </p:nvGraphicFramePr>
        <p:xfrm>
          <a:off x="6650793" y="4508351"/>
          <a:ext cx="2915999" cy="1804262"/>
        </p:xfrm>
        <a:graphic>
          <a:graphicData uri="http://schemas.openxmlformats.org/drawingml/2006/table">
            <a:tbl>
              <a:tblPr/>
              <a:tblGrid>
                <a:gridCol w="401478">
                  <a:extLst>
                    <a:ext uri="{9D8B030D-6E8A-4147-A177-3AD203B41FA5}">
                      <a16:colId xmlns:a16="http://schemas.microsoft.com/office/drawing/2014/main" val="20000"/>
                    </a:ext>
                  </a:extLst>
                </a:gridCol>
                <a:gridCol w="626869">
                  <a:extLst>
                    <a:ext uri="{9D8B030D-6E8A-4147-A177-3AD203B41FA5}">
                      <a16:colId xmlns:a16="http://schemas.microsoft.com/office/drawing/2014/main" val="20002"/>
                    </a:ext>
                  </a:extLst>
                </a:gridCol>
                <a:gridCol w="635322">
                  <a:extLst>
                    <a:ext uri="{9D8B030D-6E8A-4147-A177-3AD203B41FA5}">
                      <a16:colId xmlns:a16="http://schemas.microsoft.com/office/drawing/2014/main" val="20003"/>
                    </a:ext>
                  </a:extLst>
                </a:gridCol>
                <a:gridCol w="626869">
                  <a:extLst>
                    <a:ext uri="{9D8B030D-6E8A-4147-A177-3AD203B41FA5}">
                      <a16:colId xmlns:a16="http://schemas.microsoft.com/office/drawing/2014/main" val="20004"/>
                    </a:ext>
                  </a:extLst>
                </a:gridCol>
                <a:gridCol w="625461">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endParaRPr kumimoji="0" lang="en-US" altLang="zh-CN"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2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2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T="45733" marB="45733"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pic>
        <p:nvPicPr>
          <p:cNvPr id="12" name="图片 11">
            <a:extLst>
              <a:ext uri="{FF2B5EF4-FFF2-40B4-BE49-F238E27FC236}">
                <a16:creationId xmlns:a16="http://schemas.microsoft.com/office/drawing/2014/main" id="{EC47BC7F-A71B-E8F6-EF68-B465AA18E24C}"/>
              </a:ext>
            </a:extLst>
          </p:cNvPr>
          <p:cNvPicPr>
            <a:picLocks noChangeAspect="1"/>
          </p:cNvPicPr>
          <p:nvPr/>
        </p:nvPicPr>
        <p:blipFill rotWithShape="1">
          <a:blip r:embed="rId9"/>
          <a:srcRect l="88206" b="132"/>
          <a:stretch/>
        </p:blipFill>
        <p:spPr>
          <a:xfrm>
            <a:off x="6879051" y="3540159"/>
            <a:ext cx="687952" cy="708264"/>
          </a:xfrm>
          <a:prstGeom prst="rect">
            <a:avLst/>
          </a:prstGeom>
        </p:spPr>
      </p:pic>
      <p:sp>
        <p:nvSpPr>
          <p:cNvPr id="16" name="椭圆 15">
            <a:extLst>
              <a:ext uri="{FF2B5EF4-FFF2-40B4-BE49-F238E27FC236}">
                <a16:creationId xmlns:a16="http://schemas.microsoft.com/office/drawing/2014/main" id="{43A113C4-6793-AD6C-B071-09FB93AEE5FE}"/>
              </a:ext>
            </a:extLst>
          </p:cNvPr>
          <p:cNvSpPr/>
          <p:nvPr/>
        </p:nvSpPr>
        <p:spPr>
          <a:xfrm>
            <a:off x="3353230" y="902288"/>
            <a:ext cx="1412865" cy="725043"/>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cxnSp>
        <p:nvCxnSpPr>
          <p:cNvPr id="18" name="曲线连接符 17">
            <a:extLst>
              <a:ext uri="{FF2B5EF4-FFF2-40B4-BE49-F238E27FC236}">
                <a16:creationId xmlns:a16="http://schemas.microsoft.com/office/drawing/2014/main" id="{CBEE74D0-3F70-C3B9-CA3F-EA35CF0BC9F5}"/>
              </a:ext>
            </a:extLst>
          </p:cNvPr>
          <p:cNvCxnSpPr>
            <a:cxnSpLocks/>
            <a:endCxn id="4" idx="1"/>
          </p:cNvCxnSpPr>
          <p:nvPr/>
        </p:nvCxnSpPr>
        <p:spPr>
          <a:xfrm rot="10800000" flipV="1">
            <a:off x="1600543" y="1295161"/>
            <a:ext cx="1703260" cy="1208357"/>
          </a:xfrm>
          <a:prstGeom prst="curvedConnector3">
            <a:avLst>
              <a:gd name="adj1" fmla="val 11342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椭圆 19">
            <a:extLst>
              <a:ext uri="{FF2B5EF4-FFF2-40B4-BE49-F238E27FC236}">
                <a16:creationId xmlns:a16="http://schemas.microsoft.com/office/drawing/2014/main" id="{07A3F570-F413-9CA3-B12F-EFC3DB6BBC52}"/>
              </a:ext>
            </a:extLst>
          </p:cNvPr>
          <p:cNvSpPr/>
          <p:nvPr/>
        </p:nvSpPr>
        <p:spPr>
          <a:xfrm>
            <a:off x="4865755" y="868277"/>
            <a:ext cx="2191820" cy="808176"/>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cxnSp>
        <p:nvCxnSpPr>
          <p:cNvPr id="21" name="曲线连接符 20">
            <a:extLst>
              <a:ext uri="{FF2B5EF4-FFF2-40B4-BE49-F238E27FC236}">
                <a16:creationId xmlns:a16="http://schemas.microsoft.com/office/drawing/2014/main" id="{875C43A5-5CFD-21EC-8A1B-A828636052F2}"/>
              </a:ext>
            </a:extLst>
          </p:cNvPr>
          <p:cNvCxnSpPr>
            <a:cxnSpLocks/>
            <a:stCxn id="20" idx="3"/>
            <a:endCxn id="5" idx="1"/>
          </p:cNvCxnSpPr>
          <p:nvPr/>
        </p:nvCxnSpPr>
        <p:spPr>
          <a:xfrm rot="5400000">
            <a:off x="2228635" y="930007"/>
            <a:ext cx="2330015" cy="3586197"/>
          </a:xfrm>
          <a:prstGeom prst="curvedConnector4">
            <a:avLst>
              <a:gd name="adj1" fmla="val 3799"/>
              <a:gd name="adj2" fmla="val 121190"/>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矩形 26">
            <a:extLst>
              <a:ext uri="{FF2B5EF4-FFF2-40B4-BE49-F238E27FC236}">
                <a16:creationId xmlns:a16="http://schemas.microsoft.com/office/drawing/2014/main" id="{6C393ABE-B586-20B3-E261-1AB2449318F6}"/>
              </a:ext>
            </a:extLst>
          </p:cNvPr>
          <p:cNvSpPr/>
          <p:nvPr/>
        </p:nvSpPr>
        <p:spPr>
          <a:xfrm>
            <a:off x="6744498" y="2149189"/>
            <a:ext cx="1124151" cy="2093056"/>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F0000"/>
              </a:solidFill>
            </a:endParaRPr>
          </a:p>
        </p:txBody>
      </p:sp>
      <p:sp>
        <p:nvSpPr>
          <p:cNvPr id="28" name="文本框 27">
            <a:extLst>
              <a:ext uri="{FF2B5EF4-FFF2-40B4-BE49-F238E27FC236}">
                <a16:creationId xmlns:a16="http://schemas.microsoft.com/office/drawing/2014/main" id="{EBE8A319-FC75-9C43-2BFF-50376B5219C5}"/>
              </a:ext>
            </a:extLst>
          </p:cNvPr>
          <p:cNvSpPr txBox="1"/>
          <p:nvPr/>
        </p:nvSpPr>
        <p:spPr>
          <a:xfrm>
            <a:off x="7057574" y="2910899"/>
            <a:ext cx="2239882" cy="646331"/>
          </a:xfrm>
          <a:prstGeom prst="rect">
            <a:avLst/>
          </a:prstGeom>
          <a:noFill/>
          <a:ln>
            <a:noFill/>
          </a:ln>
        </p:spPr>
        <p:txBody>
          <a:bodyPr wrap="square" rtlCol="0">
            <a:spAutoFit/>
          </a:bodyPr>
          <a:lstStyle/>
          <a:p>
            <a:r>
              <a:rPr kumimoji="1" lang="en-US" altLang="zh-CN" b="1" dirty="0">
                <a:solidFill>
                  <a:srgbClr val="FF0000"/>
                </a:solidFill>
              </a:rPr>
              <a:t>—</a:t>
            </a:r>
            <a:r>
              <a:rPr kumimoji="1" lang="zh-CN" altLang="en-US" b="1" dirty="0">
                <a:solidFill>
                  <a:srgbClr val="FF0000"/>
                </a:solidFill>
              </a:rPr>
              <a:t>           </a:t>
            </a:r>
            <a:r>
              <a:rPr kumimoji="1" lang="en-US" altLang="zh-CN" b="1" dirty="0">
                <a:solidFill>
                  <a:srgbClr val="FF0000"/>
                </a:solidFill>
              </a:rPr>
              <a:t>=0.246</a:t>
            </a:r>
          </a:p>
          <a:p>
            <a:r>
              <a:rPr kumimoji="1" lang="en-US" altLang="zh-CN" b="1" dirty="0">
                <a:solidFill>
                  <a:srgbClr val="FF0000"/>
                </a:solidFill>
              </a:rPr>
              <a:t>	Grain(age)</a:t>
            </a:r>
            <a:endParaRPr kumimoji="1" lang="zh-CN" altLang="en-US" b="1" dirty="0">
              <a:solidFill>
                <a:srgbClr val="FF0000"/>
              </a:solidFill>
            </a:endParaRPr>
          </a:p>
        </p:txBody>
      </p:sp>
    </p:spTree>
    <p:extLst>
      <p:ext uri="{BB962C8B-B14F-4D97-AF65-F5344CB8AC3E}">
        <p14:creationId xmlns:p14="http://schemas.microsoft.com/office/powerpoint/2010/main" val="359669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903124-38F7-BE70-4AB1-C12D47220E6B}"/>
              </a:ext>
            </a:extLst>
          </p:cNvPr>
          <p:cNvSpPr>
            <a:spLocks noGrp="1"/>
          </p:cNvSpPr>
          <p:nvPr>
            <p:ph type="title"/>
          </p:nvPr>
        </p:nvSpPr>
        <p:spPr/>
        <p:txBody>
          <a:bodyPr>
            <a:normAutofit fontScale="90000"/>
          </a:bodyPr>
          <a:lstStyle/>
          <a:p>
            <a:r>
              <a:rPr lang="en-AU"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Entropy </a:t>
            </a:r>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基于熵 </a:t>
            </a:r>
            <a:r>
              <a:rPr lang="en-US" altLang="zh-CN"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信息增益算法</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ID3</a:t>
            </a:r>
            <a:endParaRPr kumimoji="1" lang="zh-CN" altLang="en-US" dirty="0"/>
          </a:p>
        </p:txBody>
      </p:sp>
      <p:sp>
        <p:nvSpPr>
          <p:cNvPr id="3" name="Rectangle 3">
            <a:extLst>
              <a:ext uri="{FF2B5EF4-FFF2-40B4-BE49-F238E27FC236}">
                <a16:creationId xmlns:a16="http://schemas.microsoft.com/office/drawing/2014/main" id="{4BE3CE18-DB64-510F-EDE2-C29600E9D33B}"/>
              </a:ext>
            </a:extLst>
          </p:cNvPr>
          <p:cNvSpPr txBox="1">
            <a:spLocks noChangeArrowheads="1"/>
          </p:cNvSpPr>
          <p:nvPr/>
        </p:nvSpPr>
        <p:spPr>
          <a:xfrm>
            <a:off x="1141687" y="810808"/>
            <a:ext cx="4037013" cy="580865"/>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sym typeface="Times New Roman" panose="02020603050405020304" pitchFamily="18" charset="0"/>
              </a:rPr>
              <a:t>相似的</a:t>
            </a:r>
          </a:p>
        </p:txBody>
      </p:sp>
      <p:graphicFrame>
        <p:nvGraphicFramePr>
          <p:cNvPr id="4" name="Object 8">
            <a:extLst>
              <a:ext uri="{FF2B5EF4-FFF2-40B4-BE49-F238E27FC236}">
                <a16:creationId xmlns:a16="http://schemas.microsoft.com/office/drawing/2014/main" id="{72717A80-D39D-5192-9602-FE0EE40CF1DC}"/>
              </a:ext>
            </a:extLst>
          </p:cNvPr>
          <p:cNvGraphicFramePr>
            <a:graphicFrameLocks noChangeAspect="1"/>
          </p:cNvGraphicFramePr>
          <p:nvPr>
            <p:extLst>
              <p:ext uri="{D42A27DB-BD31-4B8C-83A1-F6EECF244321}">
                <p14:modId xmlns:p14="http://schemas.microsoft.com/office/powerpoint/2010/main" val="3234456165"/>
              </p:ext>
            </p:extLst>
          </p:nvPr>
        </p:nvGraphicFramePr>
        <p:xfrm>
          <a:off x="1921772" y="1515054"/>
          <a:ext cx="2335786" cy="406224"/>
        </p:xfrm>
        <a:graphic>
          <a:graphicData uri="http://schemas.openxmlformats.org/presentationml/2006/ole">
            <mc:AlternateContent xmlns:mc="http://schemas.openxmlformats.org/markup-compatibility/2006">
              <mc:Choice xmlns:v="urn:schemas-microsoft-com:vml" Requires="v">
                <p:oleObj name="公式" r:id="rId2" imgW="1167893" imgH="203112" progId="Equation.3">
                  <p:embed/>
                </p:oleObj>
              </mc:Choice>
              <mc:Fallback>
                <p:oleObj name="公式" r:id="rId2" imgW="1167893" imgH="203112" progId="Equation.3">
                  <p:embed/>
                  <p:pic>
                    <p:nvPicPr>
                      <p:cNvPr id="7373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1772" y="1515054"/>
                        <a:ext cx="2335786" cy="406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a:extLst>
              <a:ext uri="{FF2B5EF4-FFF2-40B4-BE49-F238E27FC236}">
                <a16:creationId xmlns:a16="http://schemas.microsoft.com/office/drawing/2014/main" id="{07D49201-7A1A-7378-47C2-408C634A1E1B}"/>
              </a:ext>
            </a:extLst>
          </p:cNvPr>
          <p:cNvGraphicFramePr>
            <a:graphicFrameLocks noGrp="1" noChangeAspect="1"/>
          </p:cNvGraphicFramePr>
          <p:nvPr>
            <p:extLst>
              <p:ext uri="{D42A27DB-BD31-4B8C-83A1-F6EECF244321}">
                <p14:modId xmlns:p14="http://schemas.microsoft.com/office/powerpoint/2010/main" val="4186342636"/>
              </p:ext>
            </p:extLst>
          </p:nvPr>
        </p:nvGraphicFramePr>
        <p:xfrm>
          <a:off x="1915020" y="1956003"/>
          <a:ext cx="3657600" cy="1320480"/>
        </p:xfrm>
        <a:graphic>
          <a:graphicData uri="http://schemas.openxmlformats.org/presentationml/2006/ole">
            <mc:AlternateContent xmlns:mc="http://schemas.openxmlformats.org/markup-compatibility/2006">
              <mc:Choice xmlns:v="urn:schemas-microsoft-com:vml" Requires="v">
                <p:oleObj name="Equation" r:id="rId4" imgW="1828800" imgH="660240" progId="Equation.DSMT4">
                  <p:embed/>
                </p:oleObj>
              </mc:Choice>
              <mc:Fallback>
                <p:oleObj name="Equation" r:id="rId4" imgW="1828800" imgH="660240" progId="Equation.DSMT4">
                  <p:embed/>
                  <p:pic>
                    <p:nvPicPr>
                      <p:cNvPr id="3" name="对象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5020" y="1956003"/>
                        <a:ext cx="3657600" cy="1320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Group 3">
            <a:extLst>
              <a:ext uri="{FF2B5EF4-FFF2-40B4-BE49-F238E27FC236}">
                <a16:creationId xmlns:a16="http://schemas.microsoft.com/office/drawing/2014/main" id="{116D216B-45C2-6952-6B88-69C0ABDBA5A3}"/>
              </a:ext>
            </a:extLst>
          </p:cNvPr>
          <p:cNvGraphicFramePr>
            <a:graphicFrameLocks/>
          </p:cNvGraphicFramePr>
          <p:nvPr>
            <p:extLst>
              <p:ext uri="{D42A27DB-BD31-4B8C-83A1-F6EECF244321}">
                <p14:modId xmlns:p14="http://schemas.microsoft.com/office/powerpoint/2010/main" val="825686695"/>
              </p:ext>
            </p:extLst>
          </p:nvPr>
        </p:nvGraphicFramePr>
        <p:xfrm>
          <a:off x="5802287" y="1227599"/>
          <a:ext cx="3990975" cy="5286652"/>
        </p:xfrm>
        <a:graphic>
          <a:graphicData uri="http://schemas.openxmlformats.org/drawingml/2006/table">
            <a:tbl>
              <a:tblPr/>
              <a:tblGrid>
                <a:gridCol w="452438">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6437">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gridCol w="706437">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tblGrid>
              <a:tr h="411306">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48239">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6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pic>
        <p:nvPicPr>
          <p:cNvPr id="7" name="Picture 2">
            <a:extLst>
              <a:ext uri="{FF2B5EF4-FFF2-40B4-BE49-F238E27FC236}">
                <a16:creationId xmlns:a16="http://schemas.microsoft.com/office/drawing/2014/main" id="{3F0C211D-76CA-BF60-D577-F73B310E9AB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933599" y="3393306"/>
            <a:ext cx="4639021" cy="334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485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4741B-BF95-5141-10F0-18D4BF6D513D}"/>
              </a:ext>
            </a:extLst>
          </p:cNvPr>
          <p:cNvSpPr>
            <a:spLocks noGrp="1"/>
          </p:cNvSpPr>
          <p:nvPr>
            <p:ph type="title"/>
          </p:nvPr>
        </p:nvSpPr>
        <p:spPr/>
        <p:txBody>
          <a:bodyPr>
            <a:normAutofit fontScale="90000"/>
          </a:bodyPr>
          <a:lstStyle/>
          <a:p>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其它结点纯性的测量</a:t>
            </a:r>
            <a:endParaRPr kumimoji="1" lang="zh-CN" altLang="en-US" dirty="0"/>
          </a:p>
        </p:txBody>
      </p:sp>
      <p:sp>
        <p:nvSpPr>
          <p:cNvPr id="3" name="剪去单角的矩形 10">
            <a:extLst>
              <a:ext uri="{FF2B5EF4-FFF2-40B4-BE49-F238E27FC236}">
                <a16:creationId xmlns:a16="http://schemas.microsoft.com/office/drawing/2014/main" id="{C4A17BB7-2B00-F686-6796-63CACD7A5FCA}"/>
              </a:ext>
            </a:extLst>
          </p:cNvPr>
          <p:cNvSpPr/>
          <p:nvPr/>
        </p:nvSpPr>
        <p:spPr>
          <a:xfrm rot="10800000">
            <a:off x="4731151" y="4202093"/>
            <a:ext cx="2949644" cy="1257595"/>
          </a:xfrm>
          <a:custGeom>
            <a:avLst/>
            <a:gdLst>
              <a:gd name="connsiteX0" fmla="*/ 0 w 2880196"/>
              <a:gd name="connsiteY0" fmla="*/ 0 h 1257595"/>
              <a:gd name="connsiteX1" fmla="*/ 2258202 w 2880196"/>
              <a:gd name="connsiteY1" fmla="*/ 0 h 1257595"/>
              <a:gd name="connsiteX2" fmla="*/ 2880196 w 2880196"/>
              <a:gd name="connsiteY2" fmla="*/ 621994 h 1257595"/>
              <a:gd name="connsiteX3" fmla="*/ 2880196 w 2880196"/>
              <a:gd name="connsiteY3" fmla="*/ 1257595 h 1257595"/>
              <a:gd name="connsiteX4" fmla="*/ 0 w 2880196"/>
              <a:gd name="connsiteY4" fmla="*/ 1257595 h 1257595"/>
              <a:gd name="connsiteX5" fmla="*/ 0 w 2880196"/>
              <a:gd name="connsiteY5" fmla="*/ 0 h 1257595"/>
              <a:gd name="connsiteX0" fmla="*/ 0 w 2880196"/>
              <a:gd name="connsiteY0" fmla="*/ 0 h 1257595"/>
              <a:gd name="connsiteX1" fmla="*/ 2235053 w 2880196"/>
              <a:gd name="connsiteY1" fmla="*/ 34724 h 1257595"/>
              <a:gd name="connsiteX2" fmla="*/ 2880196 w 2880196"/>
              <a:gd name="connsiteY2" fmla="*/ 621994 h 1257595"/>
              <a:gd name="connsiteX3" fmla="*/ 2880196 w 2880196"/>
              <a:gd name="connsiteY3" fmla="*/ 1257595 h 1257595"/>
              <a:gd name="connsiteX4" fmla="*/ 0 w 2880196"/>
              <a:gd name="connsiteY4" fmla="*/ 1257595 h 1257595"/>
              <a:gd name="connsiteX5" fmla="*/ 0 w 2880196"/>
              <a:gd name="connsiteY5" fmla="*/ 0 h 1257595"/>
              <a:gd name="connsiteX0" fmla="*/ 0 w 2949644"/>
              <a:gd name="connsiteY0" fmla="*/ 0 h 1257595"/>
              <a:gd name="connsiteX1" fmla="*/ 2235053 w 2949644"/>
              <a:gd name="connsiteY1" fmla="*/ 34724 h 1257595"/>
              <a:gd name="connsiteX2" fmla="*/ 2949644 w 2949644"/>
              <a:gd name="connsiteY2" fmla="*/ 564120 h 1257595"/>
              <a:gd name="connsiteX3" fmla="*/ 2880196 w 2949644"/>
              <a:gd name="connsiteY3" fmla="*/ 1257595 h 1257595"/>
              <a:gd name="connsiteX4" fmla="*/ 0 w 2949644"/>
              <a:gd name="connsiteY4" fmla="*/ 1257595 h 1257595"/>
              <a:gd name="connsiteX5" fmla="*/ 0 w 2949644"/>
              <a:gd name="connsiteY5" fmla="*/ 0 h 125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9644" h="1257595">
                <a:moveTo>
                  <a:pt x="0" y="0"/>
                </a:moveTo>
                <a:lnTo>
                  <a:pt x="2235053" y="34724"/>
                </a:lnTo>
                <a:lnTo>
                  <a:pt x="2949644" y="564120"/>
                </a:lnTo>
                <a:lnTo>
                  <a:pt x="2880196" y="1257595"/>
                </a:lnTo>
                <a:lnTo>
                  <a:pt x="0" y="1257595"/>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剪去单角的矩形 4">
            <a:extLst>
              <a:ext uri="{FF2B5EF4-FFF2-40B4-BE49-F238E27FC236}">
                <a16:creationId xmlns:a16="http://schemas.microsoft.com/office/drawing/2014/main" id="{7FF76B61-D9E6-8534-82D4-393AF0CD3A44}"/>
              </a:ext>
            </a:extLst>
          </p:cNvPr>
          <p:cNvSpPr/>
          <p:nvPr/>
        </p:nvSpPr>
        <p:spPr>
          <a:xfrm>
            <a:off x="1373896" y="1974961"/>
            <a:ext cx="3004230" cy="1257595"/>
          </a:xfrm>
          <a:custGeom>
            <a:avLst/>
            <a:gdLst>
              <a:gd name="connsiteX0" fmla="*/ 0 w 2969506"/>
              <a:gd name="connsiteY0" fmla="*/ 0 h 1257595"/>
              <a:gd name="connsiteX1" fmla="*/ 2340709 w 2969506"/>
              <a:gd name="connsiteY1" fmla="*/ 0 h 1257595"/>
              <a:gd name="connsiteX2" fmla="*/ 2969506 w 2969506"/>
              <a:gd name="connsiteY2" fmla="*/ 628798 h 1257595"/>
              <a:gd name="connsiteX3" fmla="*/ 2969506 w 2969506"/>
              <a:gd name="connsiteY3" fmla="*/ 1257595 h 1257595"/>
              <a:gd name="connsiteX4" fmla="*/ 0 w 2969506"/>
              <a:gd name="connsiteY4" fmla="*/ 1257595 h 1257595"/>
              <a:gd name="connsiteX5" fmla="*/ 0 w 2969506"/>
              <a:gd name="connsiteY5" fmla="*/ 0 h 1257595"/>
              <a:gd name="connsiteX0" fmla="*/ 0 w 2981081"/>
              <a:gd name="connsiteY0" fmla="*/ 0 h 1257595"/>
              <a:gd name="connsiteX1" fmla="*/ 2340709 w 2981081"/>
              <a:gd name="connsiteY1" fmla="*/ 0 h 1257595"/>
              <a:gd name="connsiteX2" fmla="*/ 2981081 w 2981081"/>
              <a:gd name="connsiteY2" fmla="*/ 489902 h 1257595"/>
              <a:gd name="connsiteX3" fmla="*/ 2969506 w 2981081"/>
              <a:gd name="connsiteY3" fmla="*/ 1257595 h 1257595"/>
              <a:gd name="connsiteX4" fmla="*/ 0 w 2981081"/>
              <a:gd name="connsiteY4" fmla="*/ 1257595 h 1257595"/>
              <a:gd name="connsiteX5" fmla="*/ 0 w 2981081"/>
              <a:gd name="connsiteY5" fmla="*/ 0 h 1257595"/>
              <a:gd name="connsiteX0" fmla="*/ 0 w 3004230"/>
              <a:gd name="connsiteY0" fmla="*/ 0 h 1257595"/>
              <a:gd name="connsiteX1" fmla="*/ 2340709 w 3004230"/>
              <a:gd name="connsiteY1" fmla="*/ 0 h 1257595"/>
              <a:gd name="connsiteX2" fmla="*/ 3004230 w 3004230"/>
              <a:gd name="connsiteY2" fmla="*/ 455178 h 1257595"/>
              <a:gd name="connsiteX3" fmla="*/ 2969506 w 3004230"/>
              <a:gd name="connsiteY3" fmla="*/ 1257595 h 1257595"/>
              <a:gd name="connsiteX4" fmla="*/ 0 w 3004230"/>
              <a:gd name="connsiteY4" fmla="*/ 1257595 h 1257595"/>
              <a:gd name="connsiteX5" fmla="*/ 0 w 3004230"/>
              <a:gd name="connsiteY5" fmla="*/ 0 h 125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4230" h="1257595">
                <a:moveTo>
                  <a:pt x="0" y="0"/>
                </a:moveTo>
                <a:lnTo>
                  <a:pt x="2340709" y="0"/>
                </a:lnTo>
                <a:lnTo>
                  <a:pt x="3004230" y="455178"/>
                </a:lnTo>
                <a:lnTo>
                  <a:pt x="2969506" y="1257595"/>
                </a:lnTo>
                <a:lnTo>
                  <a:pt x="0" y="1257595"/>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 name="组合 4">
            <a:extLst>
              <a:ext uri="{FF2B5EF4-FFF2-40B4-BE49-F238E27FC236}">
                <a16:creationId xmlns:a16="http://schemas.microsoft.com/office/drawing/2014/main" id="{EEAC1FF8-A760-D34B-8565-A5C14EB665E1}"/>
              </a:ext>
            </a:extLst>
          </p:cNvPr>
          <p:cNvGrpSpPr/>
          <p:nvPr/>
        </p:nvGrpSpPr>
        <p:grpSpPr>
          <a:xfrm>
            <a:off x="3707261" y="1980494"/>
            <a:ext cx="1853755" cy="3471888"/>
            <a:chOff x="3593597" y="127986"/>
            <a:chExt cx="2450266" cy="7124298"/>
          </a:xfrm>
        </p:grpSpPr>
        <p:pic>
          <p:nvPicPr>
            <p:cNvPr id="6" name="Picture 2">
              <a:extLst>
                <a:ext uri="{FF2B5EF4-FFF2-40B4-BE49-F238E27FC236}">
                  <a16:creationId xmlns:a16="http://schemas.microsoft.com/office/drawing/2014/main" id="{9086B6AD-BCEB-3F06-B691-A674F6819F29}"/>
                </a:ext>
              </a:extLst>
            </p:cNvPr>
            <p:cNvPicPr>
              <a:picLocks noChangeAspect="1" noChangeArrowheads="1"/>
            </p:cNvPicPr>
            <p:nvPr/>
          </p:nvPicPr>
          <p:blipFill>
            <a:blip r:embed="rId2">
              <a:clrChange>
                <a:clrFrom>
                  <a:srgbClr val="FFFFFF"/>
                </a:clrFrom>
                <a:clrTo>
                  <a:srgbClr val="FFFFFF">
                    <a:alpha val="0"/>
                  </a:srgbClr>
                </a:clrTo>
              </a:clrChange>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593597" y="127986"/>
              <a:ext cx="22860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a:extLst>
                <a:ext uri="{FF2B5EF4-FFF2-40B4-BE49-F238E27FC236}">
                  <a16:creationId xmlns:a16="http://schemas.microsoft.com/office/drawing/2014/main" id="{AB217EF6-1027-E56A-8AF8-591A3CDFF43C}"/>
                </a:ext>
              </a:extLst>
            </p:cNvPr>
            <p:cNvPicPr>
              <a:picLocks noChangeAspect="1" noChangeArrowheads="1"/>
            </p:cNvPicPr>
            <p:nvPr/>
          </p:nvPicPr>
          <p:blipFill>
            <a:blip r:embed="rId4">
              <a:clrChange>
                <a:clrFrom>
                  <a:srgbClr val="FFFFFF"/>
                </a:clrFrom>
                <a:clrTo>
                  <a:srgbClr val="FFFFFF">
                    <a:alpha val="0"/>
                  </a:srgbClr>
                </a:clrTo>
              </a:clrChange>
              <a:duotone>
                <a:prstClr val="black"/>
                <a:schemeClr val="accent1">
                  <a:tint val="45000"/>
                  <a:satMod val="400000"/>
                </a:schemeClr>
              </a:duotone>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757863" y="3747084"/>
              <a:ext cx="22860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 name="TextBox 20">
            <a:extLst>
              <a:ext uri="{FF2B5EF4-FFF2-40B4-BE49-F238E27FC236}">
                <a16:creationId xmlns:a16="http://schemas.microsoft.com/office/drawing/2014/main" id="{A29FF5C7-3F2B-AEE7-3D65-438B401F26A2}"/>
              </a:ext>
            </a:extLst>
          </p:cNvPr>
          <p:cNvSpPr txBox="1"/>
          <p:nvPr/>
        </p:nvSpPr>
        <p:spPr>
          <a:xfrm>
            <a:off x="2331181" y="2372925"/>
            <a:ext cx="108966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Gini</a:t>
            </a:r>
          </a:p>
        </p:txBody>
      </p:sp>
      <p:sp>
        <p:nvSpPr>
          <p:cNvPr id="9" name="TextBox 21">
            <a:extLst>
              <a:ext uri="{FF2B5EF4-FFF2-40B4-BE49-F238E27FC236}">
                <a16:creationId xmlns:a16="http://schemas.microsoft.com/office/drawing/2014/main" id="{B315A036-E60A-8360-BA07-EC7CA5A58AFF}"/>
              </a:ext>
            </a:extLst>
          </p:cNvPr>
          <p:cNvSpPr txBox="1"/>
          <p:nvPr/>
        </p:nvSpPr>
        <p:spPr>
          <a:xfrm>
            <a:off x="5029200" y="4598286"/>
            <a:ext cx="2651596" cy="461665"/>
          </a:xfrm>
          <a:prstGeom prst="rect">
            <a:avLst/>
          </a:prstGeom>
          <a:noFill/>
        </p:spPr>
        <p:txBody>
          <a:bodyPr wrap="square" rtlCol="0">
            <a:spAutoFit/>
          </a:bodyPr>
          <a:lstStyle>
            <a:defPPr>
              <a:defRPr lang="en-US"/>
            </a:defPPr>
            <a:lvl1pPr marL="0" defTabSz="914400" eaLnBrk="1" latinLnBrk="0" hangingPunct="1">
              <a:defRPr sz="2400" b="0">
                <a:latin typeface="Times New Roman" panose="02020603050405020304" pitchFamily="18" charset="0"/>
                <a:ea typeface="微软雅黑" panose="020B0503020204020204" pitchFamily="34" charset="-122"/>
              </a:defRPr>
            </a:lvl1pPr>
            <a:lvl2pPr defTabSz="914400" eaLnBrk="1" latinLnBrk="0" hangingPunct="1">
              <a:defRPr sz="1800">
                <a:latin typeface="+mn-lt"/>
              </a:defRPr>
            </a:lvl2pPr>
            <a:lvl3pPr defTabSz="914400" eaLnBrk="1" latinLnBrk="0" hangingPunct="1">
              <a:defRPr sz="1800">
                <a:latin typeface="+mn-lt"/>
              </a:defRPr>
            </a:lvl3pPr>
            <a:lvl4pPr defTabSz="914400" eaLnBrk="1" latinLnBrk="0" hangingPunct="1">
              <a:defRPr sz="1800">
                <a:latin typeface="+mn-lt"/>
              </a:defRPr>
            </a:lvl4pPr>
            <a:lvl5pPr defTabSz="914400" eaLnBrk="1" latinLnBrk="0" hangingPunct="1">
              <a:defRPr sz="1800">
                <a:latin typeface="+mn-lt"/>
              </a:defRPr>
            </a:lvl5pPr>
            <a:lvl6pPr>
              <a:defRPr sz="1800">
                <a:latin typeface="+mn-lt"/>
              </a:defRPr>
            </a:lvl6pPr>
            <a:lvl7pPr>
              <a:defRPr sz="1800">
                <a:latin typeface="+mn-lt"/>
              </a:defRPr>
            </a:lvl7pPr>
            <a:lvl8pPr>
              <a:defRPr sz="1800">
                <a:latin typeface="+mn-lt"/>
              </a:defRPr>
            </a:lvl8pPr>
            <a:lvl9pPr>
              <a:defRPr sz="1800">
                <a:latin typeface="+mn-lt"/>
              </a:defRPr>
            </a:lvl9pPr>
          </a:lstStyle>
          <a:p>
            <a:pPr algn="ctr"/>
            <a:r>
              <a:rPr lang="en-US" altLang="zh-CN"/>
              <a:t>Classification Error</a:t>
            </a:r>
          </a:p>
        </p:txBody>
      </p:sp>
    </p:spTree>
    <p:extLst>
      <p:ext uri="{BB962C8B-B14F-4D97-AF65-F5344CB8AC3E}">
        <p14:creationId xmlns:p14="http://schemas.microsoft.com/office/powerpoint/2010/main" val="2477844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0E951D-3A11-AA8E-C8D5-75D07C321E65}"/>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纯性的测量：</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GINI</a:t>
            </a:r>
            <a:endParaRPr kumimoji="1" lang="zh-CN" altLang="en-US" dirty="0"/>
          </a:p>
        </p:txBody>
      </p:sp>
      <p:sp>
        <p:nvSpPr>
          <p:cNvPr id="3" name="Rectangle 3">
            <a:extLst>
              <a:ext uri="{FF2B5EF4-FFF2-40B4-BE49-F238E27FC236}">
                <a16:creationId xmlns:a16="http://schemas.microsoft.com/office/drawing/2014/main" id="{73FA86A1-A380-D2E8-48B1-106A0D9A8905}"/>
              </a:ext>
            </a:extLst>
          </p:cNvPr>
          <p:cNvSpPr txBox="1">
            <a:spLocks noChangeArrowheads="1"/>
          </p:cNvSpPr>
          <p:nvPr/>
        </p:nvSpPr>
        <p:spPr>
          <a:xfrm>
            <a:off x="1030475" y="784559"/>
            <a:ext cx="9762215" cy="2739211"/>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给定结点</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Gini</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值计算 ：</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gn="ctr" fontAlgn="base">
              <a:lnSpc>
                <a:spcPct val="150000"/>
              </a:lnSpc>
              <a:spcBef>
                <a:spcPts val="1200"/>
              </a:spcBef>
              <a:spcAft>
                <a:spcPct val="0"/>
              </a:spcAft>
              <a:buClr>
                <a:srgbClr val="FF6700"/>
              </a:buClr>
              <a:buFont typeface="Arial" panose="020B0604020202020204" pitchFamily="34" charset="0"/>
              <a:buNone/>
            </a:pPr>
            <a:br>
              <a:rPr lang="en-US" altLang="zh-CN" dirty="0">
                <a:sym typeface="Times New Roman" panose="02020603050405020304" pitchFamily="18" charset="0"/>
              </a:rPr>
            </a:br>
            <a:r>
              <a:rPr lang="en-US" altLang="zh-CN" sz="2000" dirty="0">
                <a:sym typeface="Times New Roman" panose="02020603050405020304" pitchFamily="18" charset="0"/>
              </a:rPr>
              <a:t>(p( j | t) </a:t>
            </a:r>
            <a:r>
              <a:rPr lang="zh-CN" altLang="en-US" sz="2000" dirty="0">
                <a:sym typeface="Times New Roman" panose="02020603050405020304" pitchFamily="18" charset="0"/>
              </a:rPr>
              <a:t>是在结点</a:t>
            </a:r>
            <a:r>
              <a:rPr lang="en-US" altLang="zh-CN" sz="2000" dirty="0">
                <a:sym typeface="Times New Roman" panose="02020603050405020304" pitchFamily="18" charset="0"/>
              </a:rPr>
              <a:t>t</a:t>
            </a:r>
            <a:r>
              <a:rPr lang="zh-CN" altLang="en-US" sz="2000" dirty="0">
                <a:sym typeface="Times New Roman" panose="02020603050405020304" pitchFamily="18" charset="0"/>
              </a:rPr>
              <a:t>中，类</a:t>
            </a:r>
            <a:r>
              <a:rPr lang="en-US" altLang="zh-CN" sz="2000" dirty="0">
                <a:sym typeface="Times New Roman" panose="02020603050405020304" pitchFamily="18" charset="0"/>
              </a:rPr>
              <a:t>j</a:t>
            </a:r>
            <a:r>
              <a:rPr lang="zh-CN" altLang="en-US" sz="2000" dirty="0">
                <a:sym typeface="Times New Roman" panose="02020603050405020304" pitchFamily="18" charset="0"/>
              </a:rPr>
              <a:t>发生的概率</a:t>
            </a:r>
            <a:r>
              <a:rPr lang="en-US" altLang="zh-CN" sz="2000" dirty="0">
                <a:sym typeface="Times New Roman" panose="02020603050405020304" pitchFamily="18" charset="0"/>
              </a:rPr>
              <a:t>)</a:t>
            </a:r>
          </a:p>
          <a:p>
            <a:pPr marL="817200" lvl="1" indent="-360000" algn="just" fontAlgn="base">
              <a:lnSpc>
                <a:spcPct val="10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当类分布均衡时，</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Gini</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值达到最大值 </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(1 - 1/</a:t>
            </a:r>
            <a:r>
              <a:rPr lang="en-US" altLang="zh-CN" sz="2200" dirty="0" err="1">
                <a:latin typeface="Times New Roman" panose="02020603050405020304" pitchFamily="18" charset="0"/>
                <a:ea typeface="微软雅黑" panose="020B0503020204020204" pitchFamily="34" charset="-122"/>
                <a:cs typeface="+mn-ea"/>
                <a:sym typeface="Times New Roman" panose="02020603050405020304" pitchFamily="18" charset="0"/>
              </a:rPr>
              <a:t>nc</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200" dirty="0" err="1">
                <a:latin typeface="Times New Roman" panose="02020603050405020304" pitchFamily="18" charset="0"/>
                <a:ea typeface="微软雅黑" panose="020B0503020204020204" pitchFamily="34" charset="-122"/>
                <a:cs typeface="+mn-ea"/>
                <a:sym typeface="Times New Roman" panose="02020603050405020304" pitchFamily="18" charset="0"/>
              </a:rPr>
              <a:t>nc</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为类别数量</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0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相反当只有一个类时，</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Gini</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值达到最小值</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0</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，纯性越大</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4" name="Object 4">
            <a:extLst>
              <a:ext uri="{FF2B5EF4-FFF2-40B4-BE49-F238E27FC236}">
                <a16:creationId xmlns:a16="http://schemas.microsoft.com/office/drawing/2014/main" id="{4398E7F9-7688-2CDB-4191-DB451DD098F1}"/>
              </a:ext>
            </a:extLst>
          </p:cNvPr>
          <p:cNvGraphicFramePr>
            <a:graphicFrameLocks noChangeAspect="1"/>
          </p:cNvGraphicFramePr>
          <p:nvPr>
            <p:extLst>
              <p:ext uri="{D42A27DB-BD31-4B8C-83A1-F6EECF244321}">
                <p14:modId xmlns:p14="http://schemas.microsoft.com/office/powerpoint/2010/main" val="3742809955"/>
              </p:ext>
            </p:extLst>
          </p:nvPr>
        </p:nvGraphicFramePr>
        <p:xfrm>
          <a:off x="3750546" y="1485684"/>
          <a:ext cx="3225800" cy="711200"/>
        </p:xfrm>
        <a:graphic>
          <a:graphicData uri="http://schemas.openxmlformats.org/presentationml/2006/ole">
            <mc:AlternateContent xmlns:mc="http://schemas.openxmlformats.org/markup-compatibility/2006">
              <mc:Choice xmlns:v="urn:schemas-microsoft-com:vml" Requires="v">
                <p:oleObj name="Equation" r:id="rId2" imgW="1612900" imgH="355600" progId="Equation.DSMT4">
                  <p:embed/>
                </p:oleObj>
              </mc:Choice>
              <mc:Fallback>
                <p:oleObj name="Equation" r:id="rId2" imgW="1612900" imgH="355600" progId="Equation.DSMT4">
                  <p:embed/>
                  <p:pic>
                    <p:nvPicPr>
                      <p:cNvPr id="43012" name="Object 4">
                        <a:extLst>
                          <a:ext uri="{FF2B5EF4-FFF2-40B4-BE49-F238E27FC236}">
                            <a16:creationId xmlns:a16="http://schemas.microsoft.com/office/drawing/2014/main" id="{7D3A7AC0-0CBB-407F-8177-B40AB7B2E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546" y="1485684"/>
                        <a:ext cx="3225800" cy="711200"/>
                      </a:xfrm>
                      <a:prstGeom prst="rect">
                        <a:avLst/>
                      </a:prstGeom>
                      <a:solidFill>
                        <a:schemeClr val="accent6">
                          <a:lumMod val="20000"/>
                          <a:lumOff val="80000"/>
                        </a:schemeClr>
                      </a:solidFill>
                      <a:ln w="9525">
                        <a:noFill/>
                        <a:miter lim="800000"/>
                        <a:headEnd/>
                        <a:tailEnd/>
                      </a:ln>
                    </p:spPr>
                  </p:pic>
                </p:oleObj>
              </mc:Fallback>
            </mc:AlternateContent>
          </a:graphicData>
        </a:graphic>
      </p:graphicFrame>
      <p:sp>
        <p:nvSpPr>
          <p:cNvPr id="5" name="Text Box 4">
            <a:extLst>
              <a:ext uri="{FF2B5EF4-FFF2-40B4-BE49-F238E27FC236}">
                <a16:creationId xmlns:a16="http://schemas.microsoft.com/office/drawing/2014/main" id="{D6C45B00-84BB-EC66-AED7-7157016AB93E}"/>
              </a:ext>
            </a:extLst>
          </p:cNvPr>
          <p:cNvSpPr txBox="1">
            <a:spLocks noChangeArrowheads="1"/>
          </p:cNvSpPr>
          <p:nvPr/>
        </p:nvSpPr>
        <p:spPr bwMode="auto">
          <a:xfrm>
            <a:off x="3982050" y="4305573"/>
            <a:ext cx="551608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spcBef>
                <a:spcPct val="50000"/>
              </a:spcBef>
              <a:buClrTx/>
              <a:buSzTx/>
              <a:buFontTx/>
              <a:buNone/>
              <a:defRPr/>
            </a:pP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P(C1) = 0/6 = 0     P(C2) = 6/6 = 1</a:t>
            </a:r>
          </a:p>
          <a:p>
            <a:pPr>
              <a:spcBef>
                <a:spcPct val="50000"/>
              </a:spcBef>
              <a:buClrTx/>
              <a:buSzTx/>
              <a:buFontTx/>
              <a:buNone/>
              <a:defRPr/>
            </a:pPr>
            <a:r>
              <a:rPr lang="en-US" altLang="zh-CN" sz="2000" b="0" dirty="0" err="1">
                <a:latin typeface="Times New Roman" panose="02020603050405020304" pitchFamily="18" charset="0"/>
                <a:ea typeface="微软雅黑" panose="020B0503020204020204" pitchFamily="34" charset="-122"/>
                <a:sym typeface="Times New Roman" panose="02020603050405020304" pitchFamily="18" charset="0"/>
              </a:rPr>
              <a:t>Gini</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 1 – P(C1)</a:t>
            </a:r>
            <a:r>
              <a:rPr lang="en-US" altLang="zh-CN" sz="2000" b="0" baseline="30000" dirty="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P(C2)</a:t>
            </a:r>
            <a:r>
              <a:rPr lang="en-US" altLang="zh-CN" sz="2000" b="0" baseline="300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 1 – 0 – 1 = 0 </a:t>
            </a:r>
          </a:p>
        </p:txBody>
      </p:sp>
      <p:graphicFrame>
        <p:nvGraphicFramePr>
          <p:cNvPr id="6" name="Object 5">
            <a:extLst>
              <a:ext uri="{FF2B5EF4-FFF2-40B4-BE49-F238E27FC236}">
                <a16:creationId xmlns:a16="http://schemas.microsoft.com/office/drawing/2014/main" id="{41205ED4-C754-83C6-CB69-4CA8564933D6}"/>
              </a:ext>
            </a:extLst>
          </p:cNvPr>
          <p:cNvGraphicFramePr>
            <a:graphicFrameLocks noChangeAspect="1"/>
          </p:cNvGraphicFramePr>
          <p:nvPr>
            <p:extLst>
              <p:ext uri="{D42A27DB-BD31-4B8C-83A1-F6EECF244321}">
                <p14:modId xmlns:p14="http://schemas.microsoft.com/office/powerpoint/2010/main" val="4273962129"/>
              </p:ext>
            </p:extLst>
          </p:nvPr>
        </p:nvGraphicFramePr>
        <p:xfrm>
          <a:off x="3982050" y="3597717"/>
          <a:ext cx="3225800" cy="711200"/>
        </p:xfrm>
        <a:graphic>
          <a:graphicData uri="http://schemas.openxmlformats.org/presentationml/2006/ole">
            <mc:AlternateContent xmlns:mc="http://schemas.openxmlformats.org/markup-compatibility/2006">
              <mc:Choice xmlns:v="urn:schemas-microsoft-com:vml" Requires="v">
                <p:oleObj name="Equation" r:id="rId4" imgW="1612900" imgH="355600" progId="Equation.3">
                  <p:embed/>
                </p:oleObj>
              </mc:Choice>
              <mc:Fallback>
                <p:oleObj name="Equation" r:id="rId4" imgW="1612900" imgH="355600" progId="Equation.3">
                  <p:embed/>
                  <p:pic>
                    <p:nvPicPr>
                      <p:cNvPr id="1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050" y="3597717"/>
                        <a:ext cx="3225800" cy="711200"/>
                      </a:xfrm>
                      <a:prstGeom prst="rect">
                        <a:avLst/>
                      </a:prstGeom>
                      <a:solidFill>
                        <a:schemeClr val="accent6">
                          <a:lumMod val="20000"/>
                          <a:lumOff val="80000"/>
                        </a:schemeClr>
                      </a:solidFill>
                      <a:ln w="9525">
                        <a:noFill/>
                        <a:miter lim="800000"/>
                        <a:headEnd/>
                        <a:tailEnd/>
                      </a:ln>
                      <a:effectLst/>
                    </p:spPr>
                  </p:pic>
                </p:oleObj>
              </mc:Fallback>
            </mc:AlternateContent>
          </a:graphicData>
        </a:graphic>
      </p:graphicFrame>
      <p:sp>
        <p:nvSpPr>
          <p:cNvPr id="7" name="Text Box 4">
            <a:extLst>
              <a:ext uri="{FF2B5EF4-FFF2-40B4-BE49-F238E27FC236}">
                <a16:creationId xmlns:a16="http://schemas.microsoft.com/office/drawing/2014/main" id="{B83A69A7-CB09-8030-61A7-D0DC5538B7EC}"/>
              </a:ext>
            </a:extLst>
          </p:cNvPr>
          <p:cNvSpPr txBox="1">
            <a:spLocks noChangeArrowheads="1"/>
          </p:cNvSpPr>
          <p:nvPr/>
        </p:nvSpPr>
        <p:spPr bwMode="auto">
          <a:xfrm>
            <a:off x="3982050" y="5948805"/>
            <a:ext cx="586422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spcBef>
                <a:spcPct val="50000"/>
              </a:spcBef>
              <a:buClrTx/>
              <a:buSzTx/>
              <a:buFontTx/>
              <a:buNone/>
              <a:defRPr/>
            </a:pP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P(C1) = 3/6 = 1/2     P(C2) = 3/6 = 1/2</a:t>
            </a:r>
          </a:p>
          <a:p>
            <a:pPr>
              <a:spcBef>
                <a:spcPct val="50000"/>
              </a:spcBef>
              <a:buClrTx/>
              <a:buSzTx/>
              <a:buFontTx/>
              <a:buNone/>
              <a:defRPr/>
            </a:pPr>
            <a:r>
              <a:rPr lang="en-US" altLang="zh-CN" sz="2000" b="0" dirty="0" err="1">
                <a:latin typeface="Times New Roman" panose="02020603050405020304" pitchFamily="18" charset="0"/>
                <a:ea typeface="微软雅黑" panose="020B0503020204020204" pitchFamily="34" charset="-122"/>
                <a:sym typeface="Times New Roman" panose="02020603050405020304" pitchFamily="18" charset="0"/>
              </a:rPr>
              <a:t>Gini</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 1 – P(C1)</a:t>
            </a:r>
            <a:r>
              <a:rPr lang="en-US" altLang="zh-CN" sz="2000" b="0" baseline="30000" dirty="0">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P(C2)</a:t>
            </a:r>
            <a:r>
              <a:rPr lang="en-US" altLang="zh-CN" sz="2000" b="0" baseline="300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rPr>
              <a:t> = 1 – 1/4 – 1/4 = 1/2</a:t>
            </a:r>
          </a:p>
        </p:txBody>
      </p:sp>
      <p:graphicFrame>
        <p:nvGraphicFramePr>
          <p:cNvPr id="8" name="Object 5">
            <a:extLst>
              <a:ext uri="{FF2B5EF4-FFF2-40B4-BE49-F238E27FC236}">
                <a16:creationId xmlns:a16="http://schemas.microsoft.com/office/drawing/2014/main" id="{9D6A4DE7-FD4A-891B-D69F-F5986DE09798}"/>
              </a:ext>
            </a:extLst>
          </p:cNvPr>
          <p:cNvGraphicFramePr>
            <a:graphicFrameLocks noChangeAspect="1"/>
          </p:cNvGraphicFramePr>
          <p:nvPr>
            <p:extLst>
              <p:ext uri="{D42A27DB-BD31-4B8C-83A1-F6EECF244321}">
                <p14:modId xmlns:p14="http://schemas.microsoft.com/office/powerpoint/2010/main" val="1446259932"/>
              </p:ext>
            </p:extLst>
          </p:nvPr>
        </p:nvGraphicFramePr>
        <p:xfrm>
          <a:off x="3982050" y="5240948"/>
          <a:ext cx="3225800" cy="711200"/>
        </p:xfrm>
        <a:graphic>
          <a:graphicData uri="http://schemas.openxmlformats.org/presentationml/2006/ole">
            <mc:AlternateContent xmlns:mc="http://schemas.openxmlformats.org/markup-compatibility/2006">
              <mc:Choice xmlns:v="urn:schemas-microsoft-com:vml" Requires="v">
                <p:oleObj name="Equation" r:id="rId5" imgW="1612900" imgH="355600" progId="Equation.3">
                  <p:embed/>
                </p:oleObj>
              </mc:Choice>
              <mc:Fallback>
                <p:oleObj name="Equation" r:id="rId5" imgW="1612900" imgH="355600" progId="Equation.3">
                  <p:embed/>
                  <p:pic>
                    <p:nvPicPr>
                      <p:cNvPr id="1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050" y="5240948"/>
                        <a:ext cx="3225800" cy="711200"/>
                      </a:xfrm>
                      <a:prstGeom prst="rect">
                        <a:avLst/>
                      </a:prstGeom>
                      <a:solidFill>
                        <a:schemeClr val="accent6">
                          <a:lumMod val="20000"/>
                          <a:lumOff val="80000"/>
                        </a:schemeClr>
                      </a:solidFill>
                      <a:ln w="9525">
                        <a:noFill/>
                        <a:miter lim="800000"/>
                        <a:headEnd/>
                        <a:tailEnd/>
                      </a:ln>
                      <a:effectLst/>
                    </p:spPr>
                  </p:pic>
                </p:oleObj>
              </mc:Fallback>
            </mc:AlternateContent>
          </a:graphicData>
        </a:graphic>
      </p:graphicFrame>
      <p:graphicFrame>
        <p:nvGraphicFramePr>
          <p:cNvPr id="9" name="表格 2">
            <a:extLst>
              <a:ext uri="{FF2B5EF4-FFF2-40B4-BE49-F238E27FC236}">
                <a16:creationId xmlns:a16="http://schemas.microsoft.com/office/drawing/2014/main" id="{F51AB70D-871E-6740-A3F8-425511EFFF8C}"/>
              </a:ext>
            </a:extLst>
          </p:cNvPr>
          <p:cNvGraphicFramePr>
            <a:graphicFrameLocks noGrp="1"/>
          </p:cNvGraphicFramePr>
          <p:nvPr>
            <p:extLst>
              <p:ext uri="{D42A27DB-BD31-4B8C-83A1-F6EECF244321}">
                <p14:modId xmlns:p14="http://schemas.microsoft.com/office/powerpoint/2010/main" val="2946054911"/>
              </p:ext>
            </p:extLst>
          </p:nvPr>
        </p:nvGraphicFramePr>
        <p:xfrm>
          <a:off x="1462297" y="3597717"/>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0</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6</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graphicFrame>
        <p:nvGraphicFramePr>
          <p:cNvPr id="10" name="表格 2">
            <a:extLst>
              <a:ext uri="{FF2B5EF4-FFF2-40B4-BE49-F238E27FC236}">
                <a16:creationId xmlns:a16="http://schemas.microsoft.com/office/drawing/2014/main" id="{0DEF6879-1B0F-1D9B-B33B-E96E675F889E}"/>
              </a:ext>
            </a:extLst>
          </p:cNvPr>
          <p:cNvGraphicFramePr>
            <a:graphicFrameLocks noGrp="1"/>
          </p:cNvGraphicFramePr>
          <p:nvPr>
            <p:extLst>
              <p:ext uri="{D42A27DB-BD31-4B8C-83A1-F6EECF244321}">
                <p14:modId xmlns:p14="http://schemas.microsoft.com/office/powerpoint/2010/main" val="3984652665"/>
              </p:ext>
            </p:extLst>
          </p:nvPr>
        </p:nvGraphicFramePr>
        <p:xfrm>
          <a:off x="1462297" y="5240948"/>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spTree>
    <p:extLst>
      <p:ext uri="{BB962C8B-B14F-4D97-AF65-F5344CB8AC3E}">
        <p14:creationId xmlns:p14="http://schemas.microsoft.com/office/powerpoint/2010/main" val="907803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15851C-6BC6-03C6-9B85-D6A8C733A953}"/>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基于 </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Classification Error</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的划分</a:t>
            </a:r>
            <a:endParaRPr kumimoji="1" lang="zh-CN" altLang="en-US" dirty="0"/>
          </a:p>
        </p:txBody>
      </p:sp>
      <p:sp>
        <p:nvSpPr>
          <p:cNvPr id="3" name="Rectangle 3">
            <a:extLst>
              <a:ext uri="{FF2B5EF4-FFF2-40B4-BE49-F238E27FC236}">
                <a16:creationId xmlns:a16="http://schemas.microsoft.com/office/drawing/2014/main" id="{71947ADA-A8A5-2703-79A0-BBB7295EB9E9}"/>
              </a:ext>
            </a:extLst>
          </p:cNvPr>
          <p:cNvSpPr txBox="1">
            <a:spLocks noChangeArrowheads="1"/>
          </p:cNvSpPr>
          <p:nvPr/>
        </p:nvSpPr>
        <p:spPr>
          <a:xfrm>
            <a:off x="882195" y="1089632"/>
            <a:ext cx="8640000" cy="2448363"/>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给定结点</a:t>
            </a:r>
            <a:r>
              <a:rPr lang="en-US" altLang="zh-CN" sz="2400" b="0" dirty="0">
                <a:latin typeface="Times New Roman" panose="02020603050405020304" pitchFamily="18" charset="0"/>
                <a:ea typeface="微软雅黑" panose="020B0503020204020204" pitchFamily="34" charset="-122"/>
                <a:cs typeface="+mn-ea"/>
                <a:sym typeface="Times New Roman" panose="02020603050405020304" pitchFamily="18" charset="0"/>
              </a:rPr>
              <a:t>t</a:t>
            </a: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r>
              <a:rPr lang="en-US" altLang="zh-CN" sz="2400" b="0" dirty="0">
                <a:latin typeface="Times New Roman" panose="02020603050405020304" pitchFamily="18" charset="0"/>
                <a:ea typeface="微软雅黑" panose="020B0503020204020204" pitchFamily="34" charset="-122"/>
                <a:cs typeface="+mn-ea"/>
                <a:sym typeface="Times New Roman" panose="02020603050405020304" pitchFamily="18" charset="0"/>
              </a:rPr>
              <a:t>Classification Error</a:t>
            </a:r>
            <a:r>
              <a:rPr lang="zh-CN" altLang="en-US" sz="2400" b="0" dirty="0">
                <a:latin typeface="Times New Roman" panose="02020603050405020304" pitchFamily="18" charset="0"/>
                <a:ea typeface="微软雅黑" panose="020B0503020204020204" pitchFamily="34" charset="-122"/>
                <a:cs typeface="+mn-ea"/>
                <a:sym typeface="Times New Roman" panose="02020603050405020304" pitchFamily="18" charset="0"/>
              </a:rPr>
              <a:t>值计算 ：</a:t>
            </a:r>
            <a:endParaRPr lang="en-US" altLang="zh-CN" sz="24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gn="ctr" fontAlgn="base">
              <a:lnSpc>
                <a:spcPct val="200000"/>
              </a:lnSpc>
              <a:spcBef>
                <a:spcPts val="600"/>
              </a:spcBef>
              <a:spcAft>
                <a:spcPct val="0"/>
              </a:spcAft>
              <a:buClr>
                <a:srgbClr val="FF6700"/>
              </a:buClr>
              <a:buFont typeface="Arial" panose="020B0604020202020204" pitchFamily="34" charset="0"/>
              <a:buNone/>
            </a:pPr>
            <a:r>
              <a:rPr lang="en-US" altLang="zh-CN" sz="2000" b="0" dirty="0">
                <a:sym typeface="Times New Roman" panose="02020603050405020304" pitchFamily="18" charset="0"/>
              </a:rPr>
              <a:t> </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当类分布均衡时，</a:t>
            </a:r>
            <a:r>
              <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rPr>
              <a:t>Error</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值达到最大值 </a:t>
            </a:r>
            <a:r>
              <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rPr>
              <a:t>(1 - 1/</a:t>
            </a:r>
            <a:r>
              <a:rPr lang="en-US" altLang="zh-CN" sz="2200" b="0" dirty="0" err="1">
                <a:latin typeface="Times New Roman" panose="02020603050405020304" pitchFamily="18" charset="0"/>
                <a:ea typeface="微软雅黑" panose="020B0503020204020204" pitchFamily="34" charset="-122"/>
                <a:cs typeface="+mn-ea"/>
                <a:sym typeface="Times New Roman" panose="02020603050405020304" pitchFamily="18" charset="0"/>
              </a:rPr>
              <a:t>nc</a:t>
            </a:r>
            <a:r>
              <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rPr>
              <a:t>) </a:t>
            </a: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相反当只有一个类时，</a:t>
            </a:r>
            <a:r>
              <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rPr>
              <a:t>Error</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值达到最小值</a:t>
            </a:r>
            <a:r>
              <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rPr>
              <a:t>0</a:t>
            </a:r>
            <a:r>
              <a:rPr lang="zh-CN" altLang="en-US" sz="2200" b="0" dirty="0">
                <a:latin typeface="Times New Roman" panose="02020603050405020304" pitchFamily="18" charset="0"/>
                <a:ea typeface="微软雅黑" panose="020B0503020204020204" pitchFamily="34" charset="-122"/>
                <a:cs typeface="+mn-ea"/>
                <a:sym typeface="Times New Roman" panose="02020603050405020304" pitchFamily="18" charset="0"/>
              </a:rPr>
              <a:t>，纯性越大</a:t>
            </a:r>
            <a:endParaRPr lang="en-US" altLang="zh-CN" sz="22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4" name="Object 4">
            <a:extLst>
              <a:ext uri="{FF2B5EF4-FFF2-40B4-BE49-F238E27FC236}">
                <a16:creationId xmlns:a16="http://schemas.microsoft.com/office/drawing/2014/main" id="{BBB23A21-D426-0C33-D193-41022CBD356C}"/>
              </a:ext>
            </a:extLst>
          </p:cNvPr>
          <p:cNvGraphicFramePr>
            <a:graphicFrameLocks noChangeAspect="1"/>
          </p:cNvGraphicFramePr>
          <p:nvPr>
            <p:extLst>
              <p:ext uri="{D42A27DB-BD31-4B8C-83A1-F6EECF244321}">
                <p14:modId xmlns:p14="http://schemas.microsoft.com/office/powerpoint/2010/main" val="506299715"/>
              </p:ext>
            </p:extLst>
          </p:nvPr>
        </p:nvGraphicFramePr>
        <p:xfrm>
          <a:off x="2897145" y="1810117"/>
          <a:ext cx="4610100" cy="609600"/>
        </p:xfrm>
        <a:graphic>
          <a:graphicData uri="http://schemas.openxmlformats.org/presentationml/2006/ole">
            <mc:AlternateContent xmlns:mc="http://schemas.openxmlformats.org/markup-compatibility/2006">
              <mc:Choice xmlns:v="urn:schemas-microsoft-com:vml" Requires="v">
                <p:oleObj name="Equation" r:id="rId2" imgW="3073400" imgH="406400" progId="Equation.3">
                  <p:embed/>
                </p:oleObj>
              </mc:Choice>
              <mc:Fallback>
                <p:oleObj name="Equation" r:id="rId2" imgW="3073400" imgH="406400" progId="Equation.3">
                  <p:embed/>
                  <p:pic>
                    <p:nvPicPr>
                      <p:cNvPr id="52228" name="Object 4">
                        <a:extLst>
                          <a:ext uri="{FF2B5EF4-FFF2-40B4-BE49-F238E27FC236}">
                            <a16:creationId xmlns:a16="http://schemas.microsoft.com/office/drawing/2014/main" id="{7B165177-994C-4196-8F6D-6EBF2302F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7145" y="1810117"/>
                        <a:ext cx="4610100" cy="609600"/>
                      </a:xfrm>
                      <a:prstGeom prst="rect">
                        <a:avLst/>
                      </a:prstGeom>
                      <a:solidFill>
                        <a:schemeClr val="accent6">
                          <a:lumMod val="20000"/>
                          <a:lumOff val="80000"/>
                        </a:schemeClr>
                      </a:solidFill>
                      <a:ln w="9525">
                        <a:noFill/>
                        <a:miter lim="800000"/>
                        <a:headEnd/>
                        <a:tailEnd/>
                      </a:ln>
                    </p:spPr>
                  </p:pic>
                </p:oleObj>
              </mc:Fallback>
            </mc:AlternateContent>
          </a:graphicData>
        </a:graphic>
      </p:graphicFrame>
      <p:sp>
        <p:nvSpPr>
          <p:cNvPr id="5" name="Text Box 6">
            <a:extLst>
              <a:ext uri="{FF2B5EF4-FFF2-40B4-BE49-F238E27FC236}">
                <a16:creationId xmlns:a16="http://schemas.microsoft.com/office/drawing/2014/main" id="{A894BCEB-FBA8-DDB2-E41B-E3021BCCDD9C}"/>
              </a:ext>
            </a:extLst>
          </p:cNvPr>
          <p:cNvSpPr txBox="1">
            <a:spLocks noChangeArrowheads="1"/>
          </p:cNvSpPr>
          <p:nvPr/>
        </p:nvSpPr>
        <p:spPr bwMode="auto">
          <a:xfrm>
            <a:off x="3525795" y="3754916"/>
            <a:ext cx="5943600"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zh-CN" sz="2200" b="0">
                <a:latin typeface="Times New Roman" panose="02020603050405020304" pitchFamily="18" charset="0"/>
                <a:ea typeface="微软雅黑" panose="020B0503020204020204" pitchFamily="34" charset="-122"/>
                <a:sym typeface="Times New Roman" panose="02020603050405020304" pitchFamily="18" charset="0"/>
              </a:rPr>
              <a:t>P(C1) = 0/6 = 0     P(C2) = 6/6 = 1</a:t>
            </a:r>
          </a:p>
          <a:p>
            <a:pPr>
              <a:spcBef>
                <a:spcPct val="50000"/>
              </a:spcBef>
              <a:spcAft>
                <a:spcPct val="0"/>
              </a:spcAft>
              <a:buClrTx/>
              <a:buSzTx/>
              <a:buFontTx/>
              <a:buNone/>
            </a:pPr>
            <a:r>
              <a:rPr lang="en-US" altLang="zh-CN" sz="2200" b="0">
                <a:latin typeface="Times New Roman" panose="02020603050405020304" pitchFamily="18" charset="0"/>
                <a:ea typeface="微软雅黑" panose="020B0503020204020204" pitchFamily="34" charset="-122"/>
                <a:sym typeface="Times New Roman" panose="02020603050405020304" pitchFamily="18" charset="0"/>
              </a:rPr>
              <a:t>Error = 1 – max (0, 1) = 1 – 1 = 0 </a:t>
            </a:r>
          </a:p>
        </p:txBody>
      </p:sp>
      <p:sp>
        <p:nvSpPr>
          <p:cNvPr id="6" name="Text Box 7">
            <a:extLst>
              <a:ext uri="{FF2B5EF4-FFF2-40B4-BE49-F238E27FC236}">
                <a16:creationId xmlns:a16="http://schemas.microsoft.com/office/drawing/2014/main" id="{974EB528-7A76-68B7-0BA8-97B1C33B7420}"/>
              </a:ext>
            </a:extLst>
          </p:cNvPr>
          <p:cNvSpPr txBox="1">
            <a:spLocks noChangeArrowheads="1"/>
          </p:cNvSpPr>
          <p:nvPr/>
        </p:nvSpPr>
        <p:spPr bwMode="auto">
          <a:xfrm>
            <a:off x="3601995" y="5054572"/>
            <a:ext cx="5105400"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P(C1) = 3/6          P(C2) = 3/6</a:t>
            </a:r>
          </a:p>
          <a:p>
            <a:pPr>
              <a:spcBef>
                <a:spcPct val="50000"/>
              </a:spcBef>
              <a:spcAft>
                <a:spcPct val="0"/>
              </a:spcAft>
              <a:buClrTx/>
              <a:buSzTx/>
              <a:buFontTx/>
              <a:buNone/>
            </a:pPr>
            <a:r>
              <a:rPr lang="en-US" altLang="zh-CN" sz="2200" b="0" dirty="0">
                <a:latin typeface="Times New Roman" panose="02020603050405020304" pitchFamily="18" charset="0"/>
                <a:ea typeface="微软雅黑" panose="020B0503020204020204" pitchFamily="34" charset="-122"/>
                <a:sym typeface="Times New Roman" panose="02020603050405020304" pitchFamily="18" charset="0"/>
              </a:rPr>
              <a:t>Error = 1 – max (3/6, 3/6) = 1 – 1/2 = 1/2</a:t>
            </a:r>
          </a:p>
        </p:txBody>
      </p:sp>
      <p:graphicFrame>
        <p:nvGraphicFramePr>
          <p:cNvPr id="7" name="表格 2">
            <a:extLst>
              <a:ext uri="{FF2B5EF4-FFF2-40B4-BE49-F238E27FC236}">
                <a16:creationId xmlns:a16="http://schemas.microsoft.com/office/drawing/2014/main" id="{B1982BCE-FA59-DB5E-59C3-3B944D3E5476}"/>
              </a:ext>
            </a:extLst>
          </p:cNvPr>
          <p:cNvGraphicFramePr>
            <a:graphicFrameLocks noGrp="1"/>
          </p:cNvGraphicFramePr>
          <p:nvPr>
            <p:extLst>
              <p:ext uri="{D42A27DB-BD31-4B8C-83A1-F6EECF244321}">
                <p14:modId xmlns:p14="http://schemas.microsoft.com/office/powerpoint/2010/main" val="3449854998"/>
              </p:ext>
            </p:extLst>
          </p:nvPr>
        </p:nvGraphicFramePr>
        <p:xfrm>
          <a:off x="1314016" y="3754916"/>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0</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6</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graphicFrame>
        <p:nvGraphicFramePr>
          <p:cNvPr id="8" name="表格 2">
            <a:extLst>
              <a:ext uri="{FF2B5EF4-FFF2-40B4-BE49-F238E27FC236}">
                <a16:creationId xmlns:a16="http://schemas.microsoft.com/office/drawing/2014/main" id="{48D3B1FC-7E63-AD67-322E-47D6C8940F5E}"/>
              </a:ext>
            </a:extLst>
          </p:cNvPr>
          <p:cNvGraphicFramePr>
            <a:graphicFrameLocks noGrp="1"/>
          </p:cNvGraphicFramePr>
          <p:nvPr>
            <p:extLst>
              <p:ext uri="{D42A27DB-BD31-4B8C-83A1-F6EECF244321}">
                <p14:modId xmlns:p14="http://schemas.microsoft.com/office/powerpoint/2010/main" val="3117521543"/>
              </p:ext>
            </p:extLst>
          </p:nvPr>
        </p:nvGraphicFramePr>
        <p:xfrm>
          <a:off x="1314016" y="5066732"/>
          <a:ext cx="1981200" cy="914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7202993"/>
                    </a:ext>
                  </a:extLst>
                </a:gridCol>
                <a:gridCol w="990600">
                  <a:extLst>
                    <a:ext uri="{9D8B030D-6E8A-4147-A177-3AD203B41FA5}">
                      <a16:colId xmlns:a16="http://schemas.microsoft.com/office/drawing/2014/main" val="479229913"/>
                    </a:ext>
                  </a:extLst>
                </a:gridCol>
              </a:tblGrid>
              <a:tr h="457200">
                <a:tc>
                  <a:txBody>
                    <a:bodyPr/>
                    <a:lstStyle/>
                    <a:p>
                      <a:pPr algn="ctr"/>
                      <a:r>
                        <a:rPr lang="en-US" altLang="zh-CN" sz="2400" b="0">
                          <a:solidFill>
                            <a:sysClr val="windowText" lastClr="000000"/>
                          </a:solidFill>
                        </a:rPr>
                        <a:t>c1</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73789095"/>
                  </a:ext>
                </a:extLst>
              </a:tr>
              <a:tr h="457200">
                <a:tc>
                  <a:txBody>
                    <a:bodyPr/>
                    <a:lstStyle/>
                    <a:p>
                      <a:pPr algn="ctr"/>
                      <a:r>
                        <a:rPr lang="en-US" altLang="zh-CN" sz="2400" b="0">
                          <a:solidFill>
                            <a:sysClr val="windowText" lastClr="000000"/>
                          </a:solidFill>
                        </a:rPr>
                        <a:t>c2</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0">
                          <a:solidFill>
                            <a:sysClr val="windowText" lastClr="000000"/>
                          </a:solidFill>
                        </a:rPr>
                        <a:t>3</a:t>
                      </a:r>
                      <a:endParaRPr lang="zh-CN" altLang="en-US" sz="2400" b="0">
                        <a:solidFill>
                          <a:sysClr val="windowText" lastClr="000000"/>
                        </a:solidFill>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59959552"/>
                  </a:ext>
                </a:extLst>
              </a:tr>
            </a:tbl>
          </a:graphicData>
        </a:graphic>
      </p:graphicFrame>
    </p:spTree>
    <p:extLst>
      <p:ext uri="{BB962C8B-B14F-4D97-AF65-F5344CB8AC3E}">
        <p14:creationId xmlns:p14="http://schemas.microsoft.com/office/powerpoint/2010/main" val="3577147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8238C0-3CA9-5D68-194E-92B7B3755045}"/>
              </a:ext>
            </a:extLst>
          </p:cNvPr>
          <p:cNvSpPr>
            <a:spLocks noGrp="1"/>
          </p:cNvSpPr>
          <p:nvPr>
            <p:ph type="title"/>
          </p:nvPr>
        </p:nvSpPr>
        <p:spPr/>
        <p:txBody>
          <a:bodyPr>
            <a:normAutofit fontScale="90000"/>
          </a:bodyPr>
          <a:lstStyle/>
          <a:p>
            <a:r>
              <a:rPr lang="zh-CN" altLang="en-US" sz="4400" b="1" spc="50" dirty="0">
                <a:latin typeface="Times New Roman" panose="02020603050405020304" pitchFamily="18" charset="0"/>
                <a:ea typeface="微软雅黑" panose="020B0503020204020204" pitchFamily="34" charset="-122"/>
                <a:cs typeface="+mn-ea"/>
                <a:sym typeface="Times New Roman" panose="02020603050405020304" pitchFamily="18" charset="0"/>
              </a:rPr>
              <a:t>纯性度量之间的比较</a:t>
            </a:r>
            <a:endParaRPr kumimoji="1" lang="zh-CN" altLang="en-US" dirty="0"/>
          </a:p>
        </p:txBody>
      </p:sp>
      <p:pic>
        <p:nvPicPr>
          <p:cNvPr id="3" name="Picture 3">
            <a:extLst>
              <a:ext uri="{FF2B5EF4-FFF2-40B4-BE49-F238E27FC236}">
                <a16:creationId xmlns:a16="http://schemas.microsoft.com/office/drawing/2014/main" id="{50B65D35-10E9-A4DE-A3D6-BC1A2E450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675" y="1428697"/>
            <a:ext cx="6948000" cy="521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4">
            <a:extLst>
              <a:ext uri="{FF2B5EF4-FFF2-40B4-BE49-F238E27FC236}">
                <a16:creationId xmlns:a16="http://schemas.microsoft.com/office/drawing/2014/main" id="{B40108A5-5C0D-3664-1A6A-C37920B70460}"/>
              </a:ext>
            </a:extLst>
          </p:cNvPr>
          <p:cNvSpPr txBox="1">
            <a:spLocks noChangeArrowheads="1"/>
          </p:cNvSpPr>
          <p:nvPr/>
        </p:nvSpPr>
        <p:spPr bwMode="auto">
          <a:xfrm>
            <a:off x="1487675" y="842497"/>
            <a:ext cx="4724400" cy="580865"/>
          </a:xfrm>
          <a:prstGeom prst="rect">
            <a:avLst/>
          </a:prstGeom>
          <a:noFill/>
        </p:spPr>
        <p:txBody>
          <a:bodyPr wrap="square">
            <a:spAutoFit/>
          </a:bodyPr>
          <a:lstStyle>
            <a:defPPr>
              <a:defRPr lang="en-US"/>
            </a:defPPr>
            <a:lvl1pPr marL="360000" indent="-360000" algn="just" defTabSz="914400" eaLnBrk="1" latinLnBrk="0" hangingPunct="1">
              <a:lnSpc>
                <a:spcPct val="150000"/>
              </a:lnSpc>
              <a:spcBef>
                <a:spcPts val="600"/>
              </a:spcBef>
              <a:buClr>
                <a:srgbClr val="FF6600"/>
              </a:buClr>
              <a:buSzPct val="80000"/>
              <a:buFont typeface="Wingdings" panose="05000000000000000000" pitchFamily="2" charset="2"/>
              <a:buChar char="l"/>
              <a:defRPr sz="2400" b="0">
                <a:latin typeface="Times New Roman" panose="02020603050405020304" pitchFamily="18" charset="0"/>
                <a:ea typeface="微软雅黑" panose="020B0503020204020204" pitchFamily="34" charset="-122"/>
                <a:cs typeface="+mn-ea"/>
              </a:defRPr>
            </a:lvl1pPr>
            <a:lvl2pPr marL="817200" lvl="1" indent="-360000" algn="just" defTabSz="914400" eaLnBrk="1" latinLnBrk="0" hangingPunct="1">
              <a:lnSpc>
                <a:spcPct val="150000"/>
              </a:lnSpc>
              <a:spcBef>
                <a:spcPts val="600"/>
              </a:spcBef>
              <a:buClr>
                <a:srgbClr val="FF6600"/>
              </a:buClr>
              <a:buSzPct val="80000"/>
              <a:buFont typeface="Wingdings" panose="05000000000000000000" pitchFamily="2" charset="2"/>
              <a:buChar char="l"/>
              <a:defRPr sz="2200" b="0">
                <a:latin typeface="Times New Roman" panose="02020603050405020304" pitchFamily="18" charset="0"/>
                <a:ea typeface="微软雅黑" panose="020B0503020204020204" pitchFamily="34" charset="-122"/>
                <a:cs typeface="+mn-ea"/>
              </a:defRPr>
            </a:lvl2pPr>
            <a:lvl3pPr marL="1143000" indent="-228600" defTabSz="914400" eaLnBrk="1" latinLnBrk="0" hangingPunct="1">
              <a:lnSpc>
                <a:spcPct val="90000"/>
              </a:lnSpc>
              <a:spcBef>
                <a:spcPts val="500"/>
              </a:spcBef>
              <a:buFont typeface="Arial" panose="020B0604020202020204" pitchFamily="34" charset="0"/>
              <a:buChar char="•"/>
              <a:defRPr sz="2000">
                <a:latin typeface="+mn-lt"/>
              </a:defRPr>
            </a:lvl3pPr>
            <a:lvl4pPr marL="1600200" indent="-228600" defTabSz="914400" eaLnBrk="1" latinLnBrk="0" hangingPunct="1">
              <a:lnSpc>
                <a:spcPct val="90000"/>
              </a:lnSpc>
              <a:spcBef>
                <a:spcPts val="500"/>
              </a:spcBef>
              <a:buFont typeface="Arial" panose="020B0604020202020204" pitchFamily="34" charset="0"/>
              <a:buChar char="•"/>
              <a:defRPr sz="1800">
                <a:latin typeface="+mn-lt"/>
              </a:defRPr>
            </a:lvl4pPr>
            <a:lvl5pPr marL="2057400" indent="-228600" defTabSz="914400" eaLnBrk="1" latinLnBrk="0" hangingPunct="1">
              <a:lnSpc>
                <a:spcPct val="90000"/>
              </a:lnSpc>
              <a:spcBef>
                <a:spcPts val="500"/>
              </a:spcBef>
              <a:buFont typeface="Arial" panose="020B0604020202020204" pitchFamily="34" charset="0"/>
              <a:buChar char="•"/>
              <a:defRPr sz="18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zh-CN" altLang="en-US">
                <a:sym typeface="Times New Roman" panose="02020603050405020304" pitchFamily="18" charset="0"/>
              </a:rPr>
              <a:t>二元分类问题</a:t>
            </a:r>
            <a:r>
              <a:rPr lang="en-US" altLang="zh-CN">
                <a:sym typeface="Times New Roman" panose="02020603050405020304" pitchFamily="18" charset="0"/>
              </a:rPr>
              <a:t>:</a:t>
            </a:r>
          </a:p>
        </p:txBody>
      </p:sp>
    </p:spTree>
    <p:extLst>
      <p:ext uri="{BB962C8B-B14F-4D97-AF65-F5344CB8AC3E}">
        <p14:creationId xmlns:p14="http://schemas.microsoft.com/office/powerpoint/2010/main" val="3991364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168B4-9318-C9B1-7429-E1F389CC1171}"/>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思考，哪棵树子节点纯性最高？</a:t>
            </a:r>
            <a:endParaRPr kumimoji="1" lang="zh-CN" altLang="en-US" dirty="0"/>
          </a:p>
        </p:txBody>
      </p:sp>
      <p:sp>
        <p:nvSpPr>
          <p:cNvPr id="5" name="矩形 4">
            <a:extLst>
              <a:ext uri="{FF2B5EF4-FFF2-40B4-BE49-F238E27FC236}">
                <a16:creationId xmlns:a16="http://schemas.microsoft.com/office/drawing/2014/main" id="{F1220581-715C-DCCE-6DE4-3CDA1E5D455F}"/>
              </a:ext>
            </a:extLst>
          </p:cNvPr>
          <p:cNvSpPr/>
          <p:nvPr/>
        </p:nvSpPr>
        <p:spPr>
          <a:xfrm>
            <a:off x="7087603" y="4841627"/>
            <a:ext cx="1905000" cy="461665"/>
          </a:xfrm>
          <a:prstGeom prst="rect">
            <a:avLst/>
          </a:prstGeom>
        </p:spPr>
        <p:txBody>
          <a:bodyPr wrap="square">
            <a:spAutoFit/>
          </a:bodyPr>
          <a:lstStyle/>
          <a:p>
            <a:r>
              <a:rPr lang="en-AU" altLang="zh-CN" sz="24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Entropy Bias</a:t>
            </a:r>
            <a:endParaRPr lang="zh-CN" altLang="en-US" sz="24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矩形 5">
            <a:extLst>
              <a:ext uri="{FF2B5EF4-FFF2-40B4-BE49-F238E27FC236}">
                <a16:creationId xmlns:a16="http://schemas.microsoft.com/office/drawing/2014/main" id="{225AC826-DC3C-E777-E0D2-34D04335A896}"/>
              </a:ext>
            </a:extLst>
          </p:cNvPr>
          <p:cNvSpPr/>
          <p:nvPr/>
        </p:nvSpPr>
        <p:spPr>
          <a:xfrm>
            <a:off x="919265" y="5493541"/>
            <a:ext cx="8640000" cy="1134862"/>
          </a:xfrm>
          <a:prstGeom prst="rect">
            <a:avLst/>
          </a:prstGeom>
        </p:spPr>
        <p:txBody>
          <a:bodyPr wrap="square">
            <a:spAutoFit/>
          </a:bodyPr>
          <a:lstStyle/>
          <a:p>
            <a:pPr marL="0" lvl="1">
              <a:lnSpc>
                <a:spcPct val="150000"/>
              </a:lnSpc>
              <a:defRPr/>
            </a:pP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基于熵和</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Gini</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指标，会趋向于具有大量不同值的划分如：利用雇员</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id</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产生更纯的划分，</a:t>
            </a:r>
            <a:r>
              <a:rPr lang="zh-CN" altLang="en-US"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但它却毫无用处。</a:t>
            </a:r>
            <a:endParaRPr lang="en-US" altLang="zh-CN" sz="2400" b="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Text Box 8">
            <a:extLst>
              <a:ext uri="{FF2B5EF4-FFF2-40B4-BE49-F238E27FC236}">
                <a16:creationId xmlns:a16="http://schemas.microsoft.com/office/drawing/2014/main" id="{A2E5786E-5E66-6C7C-86CB-8ACF01C81550}"/>
              </a:ext>
            </a:extLst>
          </p:cNvPr>
          <p:cNvSpPr txBox="1">
            <a:spLocks noChangeArrowheads="1"/>
          </p:cNvSpPr>
          <p:nvPr/>
        </p:nvSpPr>
        <p:spPr bwMode="auto">
          <a:xfrm>
            <a:off x="2686565" y="836140"/>
            <a:ext cx="5105400"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nSpc>
                <a:spcPct val="150000"/>
              </a:lnSpc>
              <a:spcBef>
                <a:spcPct val="50000"/>
              </a:spcBef>
              <a:spcAft>
                <a:spcPct val="0"/>
              </a:spcAft>
              <a:buClrTx/>
              <a:buSzTx/>
              <a:buFontTx/>
              <a:buNone/>
            </a:pP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在划分前：</a:t>
            </a: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10 </a:t>
            </a: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个记录 </a:t>
            </a: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class 0,</a:t>
            </a:r>
            <a:b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b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	        10 </a:t>
            </a: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个记录 </a:t>
            </a:r>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class 1</a:t>
            </a:r>
          </a:p>
        </p:txBody>
      </p:sp>
      <p:grpSp>
        <p:nvGrpSpPr>
          <p:cNvPr id="8" name="组合 7">
            <a:extLst>
              <a:ext uri="{FF2B5EF4-FFF2-40B4-BE49-F238E27FC236}">
                <a16:creationId xmlns:a16="http://schemas.microsoft.com/office/drawing/2014/main" id="{11076D29-D92E-171D-F6C5-6D07EBC2A492}"/>
              </a:ext>
            </a:extLst>
          </p:cNvPr>
          <p:cNvGrpSpPr/>
          <p:nvPr/>
        </p:nvGrpSpPr>
        <p:grpSpPr>
          <a:xfrm>
            <a:off x="1048265" y="2283940"/>
            <a:ext cx="2016365" cy="2463576"/>
            <a:chOff x="946692" y="2869393"/>
            <a:chExt cx="2016365" cy="2463576"/>
          </a:xfrm>
        </p:grpSpPr>
        <p:grpSp>
          <p:nvGrpSpPr>
            <p:cNvPr id="9" name="Group 4">
              <a:extLst>
                <a:ext uri="{FF2B5EF4-FFF2-40B4-BE49-F238E27FC236}">
                  <a16:creationId xmlns:a16="http://schemas.microsoft.com/office/drawing/2014/main" id="{E120C534-1C41-3080-6987-DC37A9D59562}"/>
                </a:ext>
              </a:extLst>
            </p:cNvPr>
            <p:cNvGrpSpPr>
              <a:grpSpLocks/>
            </p:cNvGrpSpPr>
            <p:nvPr/>
          </p:nvGrpSpPr>
          <p:grpSpPr bwMode="auto">
            <a:xfrm>
              <a:off x="1065408" y="2869393"/>
              <a:ext cx="1720975" cy="1779116"/>
              <a:chOff x="2343" y="1678"/>
              <a:chExt cx="592" cy="612"/>
            </a:xfrm>
          </p:grpSpPr>
          <p:sp>
            <p:nvSpPr>
              <p:cNvPr id="12" name="Line 6">
                <a:extLst>
                  <a:ext uri="{FF2B5EF4-FFF2-40B4-BE49-F238E27FC236}">
                    <a16:creationId xmlns:a16="http://schemas.microsoft.com/office/drawing/2014/main" id="{61CCFC5C-B3CC-1F64-B5DA-AE360C077D25}"/>
                  </a:ext>
                </a:extLst>
              </p:cNvPr>
              <p:cNvSpPr>
                <a:spLocks noChangeShapeType="1"/>
              </p:cNvSpPr>
              <p:nvPr/>
            </p:nvSpPr>
            <p:spPr bwMode="auto">
              <a:xfrm flipH="1">
                <a:off x="2427" y="1968"/>
                <a:ext cx="211"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Line 8">
                <a:extLst>
                  <a:ext uri="{FF2B5EF4-FFF2-40B4-BE49-F238E27FC236}">
                    <a16:creationId xmlns:a16="http://schemas.microsoft.com/office/drawing/2014/main" id="{B5B5BB0B-65C5-D6FD-8C3A-E4C61174697B}"/>
                  </a:ext>
                </a:extLst>
              </p:cNvPr>
              <p:cNvSpPr>
                <a:spLocks noChangeShapeType="1"/>
              </p:cNvSpPr>
              <p:nvPr/>
            </p:nvSpPr>
            <p:spPr bwMode="auto">
              <a:xfrm>
                <a:off x="2640" y="1968"/>
                <a:ext cx="211"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Text Box 9">
                <a:extLst>
                  <a:ext uri="{FF2B5EF4-FFF2-40B4-BE49-F238E27FC236}">
                    <a16:creationId xmlns:a16="http://schemas.microsoft.com/office/drawing/2014/main" id="{786882F3-D965-B829-596A-2EE8822E02BC}"/>
                  </a:ext>
                </a:extLst>
              </p:cNvPr>
              <p:cNvSpPr txBox="1">
                <a:spLocks noChangeArrowheads="1"/>
              </p:cNvSpPr>
              <p:nvPr/>
            </p:nvSpPr>
            <p:spPr bwMode="auto">
              <a:xfrm>
                <a:off x="2343" y="2026"/>
                <a:ext cx="18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11">
                <a:extLst>
                  <a:ext uri="{FF2B5EF4-FFF2-40B4-BE49-F238E27FC236}">
                    <a16:creationId xmlns:a16="http://schemas.microsoft.com/office/drawing/2014/main" id="{2B1FEE56-9AD7-65F1-138D-DE250677B55B}"/>
                  </a:ext>
                </a:extLst>
              </p:cNvPr>
              <p:cNvSpPr txBox="1">
                <a:spLocks noChangeArrowheads="1"/>
              </p:cNvSpPr>
              <p:nvPr/>
            </p:nvSpPr>
            <p:spPr bwMode="auto">
              <a:xfrm>
                <a:off x="2768" y="2026"/>
                <a:ext cx="167"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Oval 5">
                <a:extLst>
                  <a:ext uri="{FF2B5EF4-FFF2-40B4-BE49-F238E27FC236}">
                    <a16:creationId xmlns:a16="http://schemas.microsoft.com/office/drawing/2014/main" id="{54C5F078-7EF8-55C6-7247-13F378268343}"/>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Sex?</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0" name="Rectangle 48">
              <a:extLst>
                <a:ext uri="{FF2B5EF4-FFF2-40B4-BE49-F238E27FC236}">
                  <a16:creationId xmlns:a16="http://schemas.microsoft.com/office/drawing/2014/main" id="{C504FBA8-BBDB-860B-E02C-4C281A60740B}"/>
                </a:ext>
              </a:extLst>
            </p:cNvPr>
            <p:cNvSpPr>
              <a:spLocks noChangeArrowheads="1"/>
            </p:cNvSpPr>
            <p:nvPr/>
          </p:nvSpPr>
          <p:spPr bwMode="auto">
            <a:xfrm>
              <a:off x="946692"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C0:6</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C1:4</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Rectangle 48">
              <a:extLst>
                <a:ext uri="{FF2B5EF4-FFF2-40B4-BE49-F238E27FC236}">
                  <a16:creationId xmlns:a16="http://schemas.microsoft.com/office/drawing/2014/main" id="{640A697A-12EB-B484-5C6D-95659669E4E4}"/>
                </a:ext>
              </a:extLst>
            </p:cNvPr>
            <p:cNvSpPr>
              <a:spLocks noChangeArrowheads="1"/>
            </p:cNvSpPr>
            <p:nvPr/>
          </p:nvSpPr>
          <p:spPr bwMode="auto">
            <a:xfrm>
              <a:off x="2243057"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C0:4</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C1:6</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7" name="组合 16">
            <a:extLst>
              <a:ext uri="{FF2B5EF4-FFF2-40B4-BE49-F238E27FC236}">
                <a16:creationId xmlns:a16="http://schemas.microsoft.com/office/drawing/2014/main" id="{BC57956C-F823-77B6-DF27-25C045BAF6F5}"/>
              </a:ext>
            </a:extLst>
          </p:cNvPr>
          <p:cNvGrpSpPr/>
          <p:nvPr/>
        </p:nvGrpSpPr>
        <p:grpSpPr>
          <a:xfrm>
            <a:off x="3105665" y="2283941"/>
            <a:ext cx="2805307" cy="2463575"/>
            <a:chOff x="565399" y="2869394"/>
            <a:chExt cx="2805307" cy="2463575"/>
          </a:xfrm>
        </p:grpSpPr>
        <p:grpSp>
          <p:nvGrpSpPr>
            <p:cNvPr id="18" name="Group 4">
              <a:extLst>
                <a:ext uri="{FF2B5EF4-FFF2-40B4-BE49-F238E27FC236}">
                  <a16:creationId xmlns:a16="http://schemas.microsoft.com/office/drawing/2014/main" id="{91D7D22C-1D1B-C4D5-668C-C262CE942255}"/>
                </a:ext>
              </a:extLst>
            </p:cNvPr>
            <p:cNvGrpSpPr>
              <a:grpSpLocks/>
            </p:cNvGrpSpPr>
            <p:nvPr/>
          </p:nvGrpSpPr>
          <p:grpSpPr bwMode="auto">
            <a:xfrm>
              <a:off x="565399" y="2869394"/>
              <a:ext cx="2805307" cy="1816908"/>
              <a:chOff x="2171" y="1678"/>
              <a:chExt cx="965" cy="625"/>
            </a:xfrm>
          </p:grpSpPr>
          <p:sp>
            <p:nvSpPr>
              <p:cNvPr id="22" name="Line 6">
                <a:extLst>
                  <a:ext uri="{FF2B5EF4-FFF2-40B4-BE49-F238E27FC236}">
                    <a16:creationId xmlns:a16="http://schemas.microsoft.com/office/drawing/2014/main" id="{FEF899C1-02D9-B071-502F-DCFB35D50BF8}"/>
                  </a:ext>
                </a:extLst>
              </p:cNvPr>
              <p:cNvSpPr>
                <a:spLocks noChangeShapeType="1"/>
              </p:cNvSpPr>
              <p:nvPr/>
            </p:nvSpPr>
            <p:spPr bwMode="auto">
              <a:xfrm flipH="1">
                <a:off x="2321" y="1968"/>
                <a:ext cx="322"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Line 8">
                <a:extLst>
                  <a:ext uri="{FF2B5EF4-FFF2-40B4-BE49-F238E27FC236}">
                    <a16:creationId xmlns:a16="http://schemas.microsoft.com/office/drawing/2014/main" id="{E689AD09-F37E-D6B2-2EB2-2F4B75349050}"/>
                  </a:ext>
                </a:extLst>
              </p:cNvPr>
              <p:cNvSpPr>
                <a:spLocks noChangeShapeType="1"/>
              </p:cNvSpPr>
              <p:nvPr/>
            </p:nvSpPr>
            <p:spPr bwMode="auto">
              <a:xfrm>
                <a:off x="2640" y="1968"/>
                <a:ext cx="322"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Text Box 9">
                <a:extLst>
                  <a:ext uri="{FF2B5EF4-FFF2-40B4-BE49-F238E27FC236}">
                    <a16:creationId xmlns:a16="http://schemas.microsoft.com/office/drawing/2014/main" id="{2ADC02CC-A4D5-2244-F636-53014CE74D6E}"/>
                  </a:ext>
                </a:extLst>
              </p:cNvPr>
              <p:cNvSpPr txBox="1">
                <a:spLocks noChangeArrowheads="1"/>
              </p:cNvSpPr>
              <p:nvPr/>
            </p:nvSpPr>
            <p:spPr bwMode="auto">
              <a:xfrm>
                <a:off x="2171" y="2024"/>
                <a:ext cx="313"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Family</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Text Box 11">
                <a:extLst>
                  <a:ext uri="{FF2B5EF4-FFF2-40B4-BE49-F238E27FC236}">
                    <a16:creationId xmlns:a16="http://schemas.microsoft.com/office/drawing/2014/main" id="{9EB9CA8C-BE96-09F2-C499-44E70BCE5ADD}"/>
                  </a:ext>
                </a:extLst>
              </p:cNvPr>
              <p:cNvSpPr txBox="1">
                <a:spLocks noChangeArrowheads="1"/>
              </p:cNvSpPr>
              <p:nvPr/>
            </p:nvSpPr>
            <p:spPr bwMode="auto">
              <a:xfrm>
                <a:off x="2813" y="2024"/>
                <a:ext cx="323"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Luxury</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Oval 5">
                <a:extLst>
                  <a:ext uri="{FF2B5EF4-FFF2-40B4-BE49-F238E27FC236}">
                    <a16:creationId xmlns:a16="http://schemas.microsoft.com/office/drawing/2014/main" id="{D3619291-06A3-00F5-AD27-D3A05CEEF4F4}"/>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Car Type?</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Line 8">
                <a:extLst>
                  <a:ext uri="{FF2B5EF4-FFF2-40B4-BE49-F238E27FC236}">
                    <a16:creationId xmlns:a16="http://schemas.microsoft.com/office/drawing/2014/main" id="{2FDF155C-7DD3-1E6C-6EBB-6994E7EA26D9}"/>
                  </a:ext>
                </a:extLst>
              </p:cNvPr>
              <p:cNvSpPr>
                <a:spLocks noChangeShapeType="1"/>
              </p:cNvSpPr>
              <p:nvPr/>
            </p:nvSpPr>
            <p:spPr bwMode="auto">
              <a:xfrm>
                <a:off x="2638" y="1981"/>
                <a:ext cx="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Text Box 11">
                <a:extLst>
                  <a:ext uri="{FF2B5EF4-FFF2-40B4-BE49-F238E27FC236}">
                    <a16:creationId xmlns:a16="http://schemas.microsoft.com/office/drawing/2014/main" id="{6C8907CB-1B48-073C-450B-9A4166FC6D5B}"/>
                  </a:ext>
                </a:extLst>
              </p:cNvPr>
              <p:cNvSpPr txBox="1">
                <a:spLocks noChangeArrowheads="1"/>
              </p:cNvSpPr>
              <p:nvPr/>
            </p:nvSpPr>
            <p:spPr bwMode="auto">
              <a:xfrm>
                <a:off x="2432" y="2100"/>
                <a:ext cx="28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Sports</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9" name="Rectangle 48">
              <a:extLst>
                <a:ext uri="{FF2B5EF4-FFF2-40B4-BE49-F238E27FC236}">
                  <a16:creationId xmlns:a16="http://schemas.microsoft.com/office/drawing/2014/main" id="{087B0AE2-FDC2-341F-3DE1-F34FECDF1822}"/>
                </a:ext>
              </a:extLst>
            </p:cNvPr>
            <p:cNvSpPr>
              <a:spLocks noChangeArrowheads="1"/>
            </p:cNvSpPr>
            <p:nvPr/>
          </p:nvSpPr>
          <p:spPr bwMode="auto">
            <a:xfrm>
              <a:off x="641541"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C1:3</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Rectangle 48">
              <a:extLst>
                <a:ext uri="{FF2B5EF4-FFF2-40B4-BE49-F238E27FC236}">
                  <a16:creationId xmlns:a16="http://schemas.microsoft.com/office/drawing/2014/main" id="{52A10EA9-7020-412F-8198-C77E351BE452}"/>
                </a:ext>
              </a:extLst>
            </p:cNvPr>
            <p:cNvSpPr>
              <a:spLocks noChangeArrowheads="1"/>
            </p:cNvSpPr>
            <p:nvPr/>
          </p:nvSpPr>
          <p:spPr bwMode="auto">
            <a:xfrm>
              <a:off x="2541217"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C1:7</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Rectangle 48">
              <a:extLst>
                <a:ext uri="{FF2B5EF4-FFF2-40B4-BE49-F238E27FC236}">
                  <a16:creationId xmlns:a16="http://schemas.microsoft.com/office/drawing/2014/main" id="{FDD1CE7C-042E-5A7B-C779-1D6676BDFE18}"/>
                </a:ext>
              </a:extLst>
            </p:cNvPr>
            <p:cNvSpPr>
              <a:spLocks noChangeArrowheads="1"/>
            </p:cNvSpPr>
            <p:nvPr/>
          </p:nvSpPr>
          <p:spPr bwMode="auto">
            <a:xfrm>
              <a:off x="1579444"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C0:8</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9" name="组合 28">
            <a:extLst>
              <a:ext uri="{FF2B5EF4-FFF2-40B4-BE49-F238E27FC236}">
                <a16:creationId xmlns:a16="http://schemas.microsoft.com/office/drawing/2014/main" id="{01BFC1A0-3A34-8420-C454-C57B3685D500}"/>
              </a:ext>
            </a:extLst>
          </p:cNvPr>
          <p:cNvGrpSpPr/>
          <p:nvPr/>
        </p:nvGrpSpPr>
        <p:grpSpPr>
          <a:xfrm>
            <a:off x="6001719" y="2283942"/>
            <a:ext cx="3433093" cy="2463574"/>
            <a:chOff x="205402" y="2869395"/>
            <a:chExt cx="3433093" cy="2463574"/>
          </a:xfrm>
        </p:grpSpPr>
        <p:grpSp>
          <p:nvGrpSpPr>
            <p:cNvPr id="30" name="Group 4">
              <a:extLst>
                <a:ext uri="{FF2B5EF4-FFF2-40B4-BE49-F238E27FC236}">
                  <a16:creationId xmlns:a16="http://schemas.microsoft.com/office/drawing/2014/main" id="{CAC30BAA-7BD3-8E11-9E7C-D1AE7811D553}"/>
                </a:ext>
              </a:extLst>
            </p:cNvPr>
            <p:cNvGrpSpPr>
              <a:grpSpLocks/>
            </p:cNvGrpSpPr>
            <p:nvPr/>
          </p:nvGrpSpPr>
          <p:grpSpPr bwMode="auto">
            <a:xfrm>
              <a:off x="469469" y="2869395"/>
              <a:ext cx="2971010" cy="2241338"/>
              <a:chOff x="2138" y="1678"/>
              <a:chExt cx="1022" cy="771"/>
            </a:xfrm>
          </p:grpSpPr>
          <p:sp>
            <p:nvSpPr>
              <p:cNvPr id="35" name="Line 6">
                <a:extLst>
                  <a:ext uri="{FF2B5EF4-FFF2-40B4-BE49-F238E27FC236}">
                    <a16:creationId xmlns:a16="http://schemas.microsoft.com/office/drawing/2014/main" id="{BD912A71-CE4B-A956-03DE-9C78284FDEC2}"/>
                  </a:ext>
                </a:extLst>
              </p:cNvPr>
              <p:cNvSpPr>
                <a:spLocks noChangeShapeType="1"/>
              </p:cNvSpPr>
              <p:nvPr/>
            </p:nvSpPr>
            <p:spPr bwMode="auto">
              <a:xfrm flipH="1">
                <a:off x="2138" y="1963"/>
                <a:ext cx="52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Line 8">
                <a:extLst>
                  <a:ext uri="{FF2B5EF4-FFF2-40B4-BE49-F238E27FC236}">
                    <a16:creationId xmlns:a16="http://schemas.microsoft.com/office/drawing/2014/main" id="{751B19A7-0F47-85E1-7D34-B434AF2489A0}"/>
                  </a:ext>
                </a:extLst>
              </p:cNvPr>
              <p:cNvSpPr>
                <a:spLocks noChangeShapeType="1"/>
              </p:cNvSpPr>
              <p:nvPr/>
            </p:nvSpPr>
            <p:spPr bwMode="auto">
              <a:xfrm>
                <a:off x="2640" y="1963"/>
                <a:ext cx="520" cy="322"/>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Text Box 9">
                <a:extLst>
                  <a:ext uri="{FF2B5EF4-FFF2-40B4-BE49-F238E27FC236}">
                    <a16:creationId xmlns:a16="http://schemas.microsoft.com/office/drawing/2014/main" id="{9857897A-4A96-2CFC-27A7-D832B8FE9799}"/>
                  </a:ext>
                </a:extLst>
              </p:cNvPr>
              <p:cNvSpPr txBox="1">
                <a:spLocks noChangeArrowheads="1"/>
              </p:cNvSpPr>
              <p:nvPr/>
            </p:nvSpPr>
            <p:spPr bwMode="auto">
              <a:xfrm>
                <a:off x="2252" y="2024"/>
                <a:ext cx="15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Line 8">
                <a:extLst>
                  <a:ext uri="{FF2B5EF4-FFF2-40B4-BE49-F238E27FC236}">
                    <a16:creationId xmlns:a16="http://schemas.microsoft.com/office/drawing/2014/main" id="{6B6DC4E4-CEED-778F-8E78-C5C0988584BD}"/>
                  </a:ext>
                </a:extLst>
              </p:cNvPr>
              <p:cNvSpPr>
                <a:spLocks noChangeShapeType="1"/>
              </p:cNvSpPr>
              <p:nvPr/>
            </p:nvSpPr>
            <p:spPr bwMode="auto">
              <a:xfrm flipH="1">
                <a:off x="2450" y="1963"/>
                <a:ext cx="202" cy="348"/>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9" name="Line 8">
                <a:extLst>
                  <a:ext uri="{FF2B5EF4-FFF2-40B4-BE49-F238E27FC236}">
                    <a16:creationId xmlns:a16="http://schemas.microsoft.com/office/drawing/2014/main" id="{B257D65D-6341-67D1-6266-1556139065C8}"/>
                  </a:ext>
                </a:extLst>
              </p:cNvPr>
              <p:cNvSpPr>
                <a:spLocks noChangeShapeType="1"/>
              </p:cNvSpPr>
              <p:nvPr/>
            </p:nvSpPr>
            <p:spPr bwMode="auto">
              <a:xfrm>
                <a:off x="2631" y="1963"/>
                <a:ext cx="152" cy="327"/>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Oval 5">
                <a:extLst>
                  <a:ext uri="{FF2B5EF4-FFF2-40B4-BE49-F238E27FC236}">
                    <a16:creationId xmlns:a16="http://schemas.microsoft.com/office/drawing/2014/main" id="{5F225AEB-562A-6A36-DB11-8BBB81EBE4DE}"/>
                  </a:ext>
                </a:extLst>
              </p:cNvPr>
              <p:cNvSpPr>
                <a:spLocks noChangeArrowheads="1"/>
              </p:cNvSpPr>
              <p:nvPr/>
            </p:nvSpPr>
            <p:spPr bwMode="auto">
              <a:xfrm>
                <a:off x="2387" y="1678"/>
                <a:ext cx="530" cy="29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Custom ID?</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Text Box 11">
                <a:extLst>
                  <a:ext uri="{FF2B5EF4-FFF2-40B4-BE49-F238E27FC236}">
                    <a16:creationId xmlns:a16="http://schemas.microsoft.com/office/drawing/2014/main" id="{68E1FE45-AF09-7B47-F55C-9655EE17ABAD}"/>
                  </a:ext>
                </a:extLst>
              </p:cNvPr>
              <p:cNvSpPr txBox="1">
                <a:spLocks noChangeArrowheads="1"/>
              </p:cNvSpPr>
              <p:nvPr/>
            </p:nvSpPr>
            <p:spPr bwMode="auto">
              <a:xfrm>
                <a:off x="2859" y="2311"/>
                <a:ext cx="152"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Text Box 9">
                <a:extLst>
                  <a:ext uri="{FF2B5EF4-FFF2-40B4-BE49-F238E27FC236}">
                    <a16:creationId xmlns:a16="http://schemas.microsoft.com/office/drawing/2014/main" id="{A6898236-32B9-5563-54F9-FFD12B56C59F}"/>
                  </a:ext>
                </a:extLst>
              </p:cNvPr>
              <p:cNvSpPr txBox="1">
                <a:spLocks noChangeArrowheads="1"/>
              </p:cNvSpPr>
              <p:nvPr/>
            </p:nvSpPr>
            <p:spPr bwMode="auto">
              <a:xfrm>
                <a:off x="2533" y="2080"/>
                <a:ext cx="181"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10</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 name="Text Box 9">
                <a:extLst>
                  <a:ext uri="{FF2B5EF4-FFF2-40B4-BE49-F238E27FC236}">
                    <a16:creationId xmlns:a16="http://schemas.microsoft.com/office/drawing/2014/main" id="{D98F7D5B-9E60-3E2D-5FCB-A9AC1B884267}"/>
                  </a:ext>
                </a:extLst>
              </p:cNvPr>
              <p:cNvSpPr txBox="1">
                <a:spLocks noChangeArrowheads="1"/>
              </p:cNvSpPr>
              <p:nvPr/>
            </p:nvSpPr>
            <p:spPr bwMode="auto">
              <a:xfrm>
                <a:off x="2721" y="2088"/>
                <a:ext cx="17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11</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 name="Text Box 9">
                <a:extLst>
                  <a:ext uri="{FF2B5EF4-FFF2-40B4-BE49-F238E27FC236}">
                    <a16:creationId xmlns:a16="http://schemas.microsoft.com/office/drawing/2014/main" id="{A47DE16F-747A-AAED-6BE2-8B9E9D0482E2}"/>
                  </a:ext>
                </a:extLst>
              </p:cNvPr>
              <p:cNvSpPr txBox="1">
                <a:spLocks noChangeArrowheads="1"/>
              </p:cNvSpPr>
              <p:nvPr/>
            </p:nvSpPr>
            <p:spPr bwMode="auto">
              <a:xfrm>
                <a:off x="2895" y="2024"/>
                <a:ext cx="181"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000" b="0" baseline="-10000">
                    <a:latin typeface="Times New Roman" panose="02020603050405020304" pitchFamily="18" charset="0"/>
                    <a:ea typeface="微软雅黑" panose="020B0503020204020204" pitchFamily="34" charset="-122"/>
                    <a:sym typeface="Times New Roman" panose="02020603050405020304" pitchFamily="18" charset="0"/>
                  </a:rPr>
                  <a:t>20</a:t>
                </a:r>
                <a:endParaRPr lang="en-US" altLang="zh-CN" sz="2000" b="0" baseline="-100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31" name="Rectangle 48">
              <a:extLst>
                <a:ext uri="{FF2B5EF4-FFF2-40B4-BE49-F238E27FC236}">
                  <a16:creationId xmlns:a16="http://schemas.microsoft.com/office/drawing/2014/main" id="{9E3836DD-6AAE-601F-E53E-330A28A837A0}"/>
                </a:ext>
              </a:extLst>
            </p:cNvPr>
            <p:cNvSpPr>
              <a:spLocks noChangeArrowheads="1"/>
            </p:cNvSpPr>
            <p:nvPr/>
          </p:nvSpPr>
          <p:spPr bwMode="auto">
            <a:xfrm>
              <a:off x="205402"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dirty="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dirty="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Rectangle 48">
              <a:extLst>
                <a:ext uri="{FF2B5EF4-FFF2-40B4-BE49-F238E27FC236}">
                  <a16:creationId xmlns:a16="http://schemas.microsoft.com/office/drawing/2014/main" id="{508FF994-BD6E-A7D1-26B0-52C09A65C406}"/>
                </a:ext>
              </a:extLst>
            </p:cNvPr>
            <p:cNvSpPr>
              <a:spLocks noChangeArrowheads="1"/>
            </p:cNvSpPr>
            <p:nvPr/>
          </p:nvSpPr>
          <p:spPr bwMode="auto">
            <a:xfrm>
              <a:off x="1899923"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C0:0</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C1:1</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Rectangle 48">
              <a:extLst>
                <a:ext uri="{FF2B5EF4-FFF2-40B4-BE49-F238E27FC236}">
                  <a16:creationId xmlns:a16="http://schemas.microsoft.com/office/drawing/2014/main" id="{99E3413E-A221-DE74-312E-0390267106FF}"/>
                </a:ext>
              </a:extLst>
            </p:cNvPr>
            <p:cNvSpPr>
              <a:spLocks noChangeArrowheads="1"/>
            </p:cNvSpPr>
            <p:nvPr/>
          </p:nvSpPr>
          <p:spPr bwMode="auto">
            <a:xfrm>
              <a:off x="1050980"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C0:1</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C1:0</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Rectangle 48">
              <a:extLst>
                <a:ext uri="{FF2B5EF4-FFF2-40B4-BE49-F238E27FC236}">
                  <a16:creationId xmlns:a16="http://schemas.microsoft.com/office/drawing/2014/main" id="{10A9F728-7A01-6D6E-6A9E-1DCE9C03BE50}"/>
                </a:ext>
              </a:extLst>
            </p:cNvPr>
            <p:cNvSpPr>
              <a:spLocks noChangeArrowheads="1"/>
            </p:cNvSpPr>
            <p:nvPr/>
          </p:nvSpPr>
          <p:spPr bwMode="auto">
            <a:xfrm>
              <a:off x="2918495" y="4684969"/>
              <a:ext cx="720000" cy="648000"/>
            </a:xfrm>
            <a:prstGeom prst="rect">
              <a:avLst/>
            </a:prstGeom>
            <a:solidFill>
              <a:srgbClr val="FFFFFF"/>
            </a:solidFill>
            <a:ln w="1270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C0:0</a:t>
              </a:r>
            </a:p>
            <a:p>
              <a:pPr algn="ctr">
                <a:spcBef>
                  <a:spcPct val="0"/>
                </a:spcBef>
                <a:spcAft>
                  <a:spcPct val="0"/>
                </a:spcAft>
                <a:buClrTx/>
                <a:buSzTx/>
                <a:buFontTx/>
                <a:buNone/>
              </a:pPr>
              <a:r>
                <a:rPr lang="en-US" altLang="zh-CN" sz="1800" b="0">
                  <a:latin typeface="Times New Roman" panose="02020603050405020304" pitchFamily="18" charset="0"/>
                  <a:ea typeface="微软雅黑" panose="020B0503020204020204" pitchFamily="34" charset="-122"/>
                  <a:sym typeface="Times New Roman" panose="02020603050405020304" pitchFamily="18" charset="0"/>
                </a:rPr>
                <a:t>C1:1</a:t>
              </a:r>
              <a:endParaRPr lang="en-US" altLang="zh-CN" sz="3200" b="0">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extLst>
      <p:ext uri="{BB962C8B-B14F-4D97-AF65-F5344CB8AC3E}">
        <p14:creationId xmlns:p14="http://schemas.microsoft.com/office/powerpoint/2010/main" val="2709548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C8731-CD2E-29CA-345E-2E547A7CDC5D}"/>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考虑增益率（</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Gain Ratio</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C4.5</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kumimoji="1" lang="zh-CN" altLang="en-US" dirty="0"/>
          </a:p>
        </p:txBody>
      </p:sp>
      <p:graphicFrame>
        <p:nvGraphicFramePr>
          <p:cNvPr id="3" name="Object 5">
            <a:extLst>
              <a:ext uri="{FF2B5EF4-FFF2-40B4-BE49-F238E27FC236}">
                <a16:creationId xmlns:a16="http://schemas.microsoft.com/office/drawing/2014/main" id="{BD645CA7-9F07-AF73-DECC-588A41244180}"/>
              </a:ext>
            </a:extLst>
          </p:cNvPr>
          <p:cNvGraphicFramePr>
            <a:graphicFrameLocks noChangeAspect="1"/>
          </p:cNvGraphicFramePr>
          <p:nvPr>
            <p:extLst>
              <p:ext uri="{D42A27DB-BD31-4B8C-83A1-F6EECF244321}">
                <p14:modId xmlns:p14="http://schemas.microsoft.com/office/powerpoint/2010/main" val="382374835"/>
              </p:ext>
            </p:extLst>
          </p:nvPr>
        </p:nvGraphicFramePr>
        <p:xfrm>
          <a:off x="3123823" y="2839176"/>
          <a:ext cx="3606857" cy="864000"/>
        </p:xfrm>
        <a:graphic>
          <a:graphicData uri="http://schemas.openxmlformats.org/presentationml/2006/ole">
            <mc:AlternateContent xmlns:mc="http://schemas.openxmlformats.org/markup-compatibility/2006">
              <mc:Choice xmlns:v="urn:schemas-microsoft-com:vml" Requires="v">
                <p:oleObj name="Equation" r:id="rId3" imgW="3340100" imgH="800100" progId="Equation.3">
                  <p:embed/>
                </p:oleObj>
              </mc:Choice>
              <mc:Fallback>
                <p:oleObj name="Equation" r:id="rId3" imgW="3340100" imgH="800100" progId="Equation.3">
                  <p:embed/>
                  <p:pic>
                    <p:nvPicPr>
                      <p:cNvPr id="51204" name="Object 5">
                        <a:extLst>
                          <a:ext uri="{FF2B5EF4-FFF2-40B4-BE49-F238E27FC236}">
                            <a16:creationId xmlns:a16="http://schemas.microsoft.com/office/drawing/2014/main" id="{63ABAF24-53B2-404E-B1A0-7CE42CA380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823" y="2839176"/>
                        <a:ext cx="3606857" cy="864000"/>
                      </a:xfrm>
                      <a:prstGeom prst="rect">
                        <a:avLst/>
                      </a:prstGeom>
                      <a:solidFill>
                        <a:schemeClr val="accent6">
                          <a:lumMod val="20000"/>
                          <a:lumOff val="80000"/>
                        </a:schemeClr>
                      </a:solidFill>
                      <a:ln w="9525">
                        <a:noFill/>
                        <a:miter lim="800000"/>
                        <a:headEnd/>
                        <a:tailEnd/>
                      </a:ln>
                    </p:spPr>
                  </p:pic>
                </p:oleObj>
              </mc:Fallback>
            </mc:AlternateContent>
          </a:graphicData>
        </a:graphic>
      </p:graphicFrame>
      <p:graphicFrame>
        <p:nvGraphicFramePr>
          <p:cNvPr id="4" name="Object 6">
            <a:extLst>
              <a:ext uri="{FF2B5EF4-FFF2-40B4-BE49-F238E27FC236}">
                <a16:creationId xmlns:a16="http://schemas.microsoft.com/office/drawing/2014/main" id="{E5FD1CED-32E7-EF86-B500-91EBD832A588}"/>
              </a:ext>
            </a:extLst>
          </p:cNvPr>
          <p:cNvGraphicFramePr>
            <a:graphicFrameLocks noChangeAspect="1"/>
          </p:cNvGraphicFramePr>
          <p:nvPr>
            <p:extLst>
              <p:ext uri="{D42A27DB-BD31-4B8C-83A1-F6EECF244321}">
                <p14:modId xmlns:p14="http://schemas.microsoft.com/office/powerpoint/2010/main" val="313033039"/>
              </p:ext>
            </p:extLst>
          </p:nvPr>
        </p:nvGraphicFramePr>
        <p:xfrm>
          <a:off x="3123823" y="4339383"/>
          <a:ext cx="3531789" cy="864000"/>
        </p:xfrm>
        <a:graphic>
          <a:graphicData uri="http://schemas.openxmlformats.org/presentationml/2006/ole">
            <mc:AlternateContent xmlns:mc="http://schemas.openxmlformats.org/markup-compatibility/2006">
              <mc:Choice xmlns:v="urn:schemas-microsoft-com:vml" Requires="v">
                <p:oleObj name="Equation" r:id="rId5" imgW="2959100" imgH="723900" progId="Equation.3">
                  <p:embed/>
                </p:oleObj>
              </mc:Choice>
              <mc:Fallback>
                <p:oleObj name="Equation" r:id="rId5" imgW="2959100" imgH="723900" progId="Equation.3">
                  <p:embed/>
                  <p:pic>
                    <p:nvPicPr>
                      <p:cNvPr id="51205" name="Object 6">
                        <a:extLst>
                          <a:ext uri="{FF2B5EF4-FFF2-40B4-BE49-F238E27FC236}">
                            <a16:creationId xmlns:a16="http://schemas.microsoft.com/office/drawing/2014/main" id="{75C3974C-C4CA-4BEC-87E2-6459B83473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3823" y="4339383"/>
                        <a:ext cx="3531789" cy="864000"/>
                      </a:xfrm>
                      <a:prstGeom prst="rect">
                        <a:avLst/>
                      </a:prstGeom>
                      <a:solidFill>
                        <a:schemeClr val="accent6">
                          <a:lumMod val="20000"/>
                          <a:lumOff val="80000"/>
                        </a:schemeClr>
                      </a:solidFill>
                      <a:ln w="9525">
                        <a:noFill/>
                        <a:miter lim="800000"/>
                        <a:headEnd/>
                        <a:tailEnd/>
                      </a:ln>
                    </p:spPr>
                  </p:pic>
                </p:oleObj>
              </mc:Fallback>
            </mc:AlternateContent>
          </a:graphicData>
        </a:graphic>
      </p:graphicFrame>
      <p:pic>
        <p:nvPicPr>
          <p:cNvPr id="5" name="图片 4">
            <a:extLst>
              <a:ext uri="{FF2B5EF4-FFF2-40B4-BE49-F238E27FC236}">
                <a16:creationId xmlns:a16="http://schemas.microsoft.com/office/drawing/2014/main" id="{D34D6F98-A97D-1EBF-35BF-030EB16CAEFD}"/>
              </a:ext>
            </a:extLst>
          </p:cNvPr>
          <p:cNvPicPr>
            <a:picLocks noChangeAspect="1"/>
          </p:cNvPicPr>
          <p:nvPr/>
        </p:nvPicPr>
        <p:blipFill>
          <a:blip r:embed="rId7"/>
          <a:stretch>
            <a:fillRect/>
          </a:stretch>
        </p:blipFill>
        <p:spPr>
          <a:xfrm>
            <a:off x="7289926" y="4079849"/>
            <a:ext cx="3127248" cy="2323719"/>
          </a:xfrm>
          <a:prstGeom prst="rect">
            <a:avLst/>
          </a:prstGeom>
        </p:spPr>
      </p:pic>
      <p:graphicFrame>
        <p:nvGraphicFramePr>
          <p:cNvPr id="6" name="Group 3">
            <a:extLst>
              <a:ext uri="{FF2B5EF4-FFF2-40B4-BE49-F238E27FC236}">
                <a16:creationId xmlns:a16="http://schemas.microsoft.com/office/drawing/2014/main" id="{398DA42E-5E27-3F9B-E524-2CB48ED96529}"/>
              </a:ext>
            </a:extLst>
          </p:cNvPr>
          <p:cNvGraphicFramePr>
            <a:graphicFrameLocks/>
          </p:cNvGraphicFramePr>
          <p:nvPr>
            <p:extLst>
              <p:ext uri="{D42A27DB-BD31-4B8C-83A1-F6EECF244321}">
                <p14:modId xmlns:p14="http://schemas.microsoft.com/office/powerpoint/2010/main" val="3685190237"/>
              </p:ext>
            </p:extLst>
          </p:nvPr>
        </p:nvGraphicFramePr>
        <p:xfrm>
          <a:off x="354425" y="2579307"/>
          <a:ext cx="2414145" cy="3636147"/>
        </p:xfrm>
        <a:graphic>
          <a:graphicData uri="http://schemas.openxmlformats.org/drawingml/2006/table">
            <a:tbl>
              <a:tblPr/>
              <a:tblGrid>
                <a:gridCol w="273680">
                  <a:extLst>
                    <a:ext uri="{9D8B030D-6E8A-4147-A177-3AD203B41FA5}">
                      <a16:colId xmlns:a16="http://schemas.microsoft.com/office/drawing/2014/main" val="20000"/>
                    </a:ext>
                  </a:extLst>
                </a:gridCol>
                <a:gridCol w="426364">
                  <a:extLst>
                    <a:ext uri="{9D8B030D-6E8A-4147-A177-3AD203B41FA5}">
                      <a16:colId xmlns:a16="http://schemas.microsoft.com/office/drawing/2014/main" val="20001"/>
                    </a:ext>
                  </a:extLst>
                </a:gridCol>
                <a:gridCol w="427325">
                  <a:extLst>
                    <a:ext uri="{9D8B030D-6E8A-4147-A177-3AD203B41FA5}">
                      <a16:colId xmlns:a16="http://schemas.microsoft.com/office/drawing/2014/main" val="20002"/>
                    </a:ext>
                  </a:extLst>
                </a:gridCol>
                <a:gridCol w="433087">
                  <a:extLst>
                    <a:ext uri="{9D8B030D-6E8A-4147-A177-3AD203B41FA5}">
                      <a16:colId xmlns:a16="http://schemas.microsoft.com/office/drawing/2014/main" val="20003"/>
                    </a:ext>
                  </a:extLst>
                </a:gridCol>
                <a:gridCol w="427325">
                  <a:extLst>
                    <a:ext uri="{9D8B030D-6E8A-4147-A177-3AD203B41FA5}">
                      <a16:colId xmlns:a16="http://schemas.microsoft.com/office/drawing/2014/main" val="20004"/>
                    </a:ext>
                  </a:extLst>
                </a:gridCol>
                <a:gridCol w="426364">
                  <a:extLst>
                    <a:ext uri="{9D8B030D-6E8A-4147-A177-3AD203B41FA5}">
                      <a16:colId xmlns:a16="http://schemas.microsoft.com/office/drawing/2014/main" val="20005"/>
                    </a:ext>
                  </a:extLst>
                </a:gridCol>
              </a:tblGrid>
              <a:tr h="282895">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239518">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sp>
        <p:nvSpPr>
          <p:cNvPr id="7" name="Rectangle 3">
            <a:extLst>
              <a:ext uri="{FF2B5EF4-FFF2-40B4-BE49-F238E27FC236}">
                <a16:creationId xmlns:a16="http://schemas.microsoft.com/office/drawing/2014/main" id="{3375ABE4-116E-9E0A-557E-8449D4A2B1A2}"/>
              </a:ext>
            </a:extLst>
          </p:cNvPr>
          <p:cNvSpPr txBox="1">
            <a:spLocks noChangeArrowheads="1"/>
          </p:cNvSpPr>
          <p:nvPr/>
        </p:nvSpPr>
        <p:spPr>
          <a:xfrm>
            <a:off x="1244201" y="762753"/>
            <a:ext cx="8537575" cy="1755865"/>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ts val="600"/>
              </a:spcBef>
              <a:spcAft>
                <a:spcPct val="0"/>
              </a:spcAft>
              <a:buClr>
                <a:srgbClr val="FF6600"/>
              </a:buClr>
              <a:buSzPct val="80000"/>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解决该问题的策略有两种：</a:t>
            </a:r>
          </a:p>
          <a:p>
            <a:pPr lvl="1">
              <a:lnSpc>
                <a:spcPct val="150000"/>
              </a:lnSpc>
              <a:spcBef>
                <a:spcPts val="600"/>
              </a:spcBef>
              <a:buClr>
                <a:srgbClr val="FF6600"/>
              </a:buClr>
              <a:buSzPct val="60000"/>
              <a:buFont typeface="Wingdings" panose="05000000000000000000" pitchFamily="2" charset="2"/>
              <a:buChar char="l"/>
            </a:pPr>
            <a:r>
              <a:rPr lang="zh-CN" altLang="en-US" sz="2200" dirty="0">
                <a:sym typeface="Times New Roman" panose="02020603050405020304" pitchFamily="18" charset="0"/>
              </a:rPr>
              <a:t>限制测试条件只能是二元划分</a:t>
            </a:r>
          </a:p>
          <a:p>
            <a:pPr lvl="1">
              <a:lnSpc>
                <a:spcPct val="150000"/>
              </a:lnSpc>
              <a:spcBef>
                <a:spcPts val="600"/>
              </a:spcBef>
              <a:buClr>
                <a:srgbClr val="FF6600"/>
              </a:buClr>
              <a:buSzPct val="60000"/>
              <a:buFont typeface="Wingdings" panose="05000000000000000000" pitchFamily="2" charset="2"/>
              <a:buChar char="l"/>
            </a:pPr>
            <a:r>
              <a:rPr lang="zh-CN" altLang="en-US" sz="2200" dirty="0">
                <a:sym typeface="Times New Roman" panose="02020603050405020304" pitchFamily="18" charset="0"/>
              </a:rPr>
              <a:t>使用增益率，</a:t>
            </a:r>
            <a:r>
              <a:rPr lang="en-US" altLang="zh-CN" sz="2200" dirty="0">
                <a:sym typeface="Times New Roman" panose="02020603050405020304" pitchFamily="18" charset="0"/>
              </a:rPr>
              <a:t>K</a:t>
            </a:r>
            <a:r>
              <a:rPr lang="zh-CN" altLang="en-US" sz="2200" dirty="0">
                <a:sym typeface="Times New Roman" panose="02020603050405020304" pitchFamily="18" charset="0"/>
              </a:rPr>
              <a:t>越大，</a:t>
            </a:r>
            <a:r>
              <a:rPr lang="en-US" altLang="zh-CN" sz="2200" dirty="0" err="1">
                <a:sym typeface="Times New Roman" panose="02020603050405020304" pitchFamily="18" charset="0"/>
              </a:rPr>
              <a:t>SplitINFO</a:t>
            </a:r>
            <a:r>
              <a:rPr lang="zh-CN" altLang="en-US" sz="2200" dirty="0">
                <a:sym typeface="Times New Roman" panose="02020603050405020304" pitchFamily="18" charset="0"/>
              </a:rPr>
              <a:t>越大，增益率被平衡。</a:t>
            </a:r>
          </a:p>
        </p:txBody>
      </p:sp>
      <p:sp>
        <p:nvSpPr>
          <p:cNvPr id="9" name="文本框 8">
            <a:extLst>
              <a:ext uri="{FF2B5EF4-FFF2-40B4-BE49-F238E27FC236}">
                <a16:creationId xmlns:a16="http://schemas.microsoft.com/office/drawing/2014/main" id="{957B1AC2-6747-DC37-33C7-F9C1A4256E15}"/>
              </a:ext>
            </a:extLst>
          </p:cNvPr>
          <p:cNvSpPr txBox="1"/>
          <p:nvPr/>
        </p:nvSpPr>
        <p:spPr>
          <a:xfrm>
            <a:off x="7414961" y="3686968"/>
            <a:ext cx="3127248" cy="369332"/>
          </a:xfrm>
          <a:prstGeom prst="rect">
            <a:avLst/>
          </a:prstGeom>
          <a:noFill/>
        </p:spPr>
        <p:txBody>
          <a:bodyPr wrap="square">
            <a:spAutoFit/>
          </a:bodyPr>
          <a:lstStyle/>
          <a:p>
            <a:r>
              <a:rPr lang="zh-CN" altLang="en-US" sz="1800" dirty="0">
                <a:ea typeface="宋体" panose="02010600030101010101" pitchFamily="2" charset="-122"/>
              </a:rPr>
              <a:t>划分的越多，</a:t>
            </a:r>
            <a:r>
              <a:rPr lang="en-US" altLang="zh-CN" dirty="0" err="1">
                <a:ea typeface="宋体" panose="02010600030101010101" pitchFamily="2" charset="-122"/>
              </a:rPr>
              <a:t>SplitINFO</a:t>
            </a:r>
            <a:r>
              <a:rPr lang="zh-CN" altLang="en-US" dirty="0">
                <a:ea typeface="宋体" panose="02010600030101010101" pitchFamily="2" charset="-122"/>
              </a:rPr>
              <a:t>越大</a:t>
            </a:r>
            <a:endParaRPr lang="zh-CN" altLang="en-US" dirty="0"/>
          </a:p>
        </p:txBody>
      </p:sp>
    </p:spTree>
    <p:extLst>
      <p:ext uri="{BB962C8B-B14F-4D97-AF65-F5344CB8AC3E}">
        <p14:creationId xmlns:p14="http://schemas.microsoft.com/office/powerpoint/2010/main" val="3291018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08441-FACF-B1B8-3673-640CF0A37287}"/>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考虑增益率（</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Gain Ratio</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C4.5</a:t>
            </a:r>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算法</a:t>
            </a:r>
            <a:endParaRPr kumimoji="1" lang="zh-CN" altLang="en-US" dirty="0"/>
          </a:p>
        </p:txBody>
      </p:sp>
      <p:sp>
        <p:nvSpPr>
          <p:cNvPr id="3" name="矩形 2">
            <a:extLst>
              <a:ext uri="{FF2B5EF4-FFF2-40B4-BE49-F238E27FC236}">
                <a16:creationId xmlns:a16="http://schemas.microsoft.com/office/drawing/2014/main" id="{4B12E67F-A8BF-7909-09E1-4D43343C76AE}"/>
              </a:ext>
            </a:extLst>
          </p:cNvPr>
          <p:cNvSpPr/>
          <p:nvPr/>
        </p:nvSpPr>
        <p:spPr>
          <a:xfrm>
            <a:off x="2083143" y="6396335"/>
            <a:ext cx="6781800" cy="461665"/>
          </a:xfrm>
          <a:prstGeom prst="rect">
            <a:avLst/>
          </a:prstGeom>
        </p:spPr>
        <p:txBody>
          <a:bodyPr wrap="square">
            <a:spAutoFit/>
          </a:bodyPr>
          <a:lstStyle/>
          <a:p>
            <a:pPr marL="0" lvl="1" algn="ctr" eaLnBrk="1" hangingPunct="1"/>
            <a:r>
              <a:rPr lang="en-US" altLang="zh-CN" sz="2400" b="0" dirty="0" err="1">
                <a:latin typeface="Times New Roman" panose="02020603050405020304" pitchFamily="18" charset="0"/>
                <a:ea typeface="微软雅黑" panose="020B0503020204020204" pitchFamily="34" charset="-122"/>
                <a:sym typeface="Times New Roman" panose="02020603050405020304" pitchFamily="18" charset="0"/>
              </a:rPr>
              <a:t>gain_ratio</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(income) = 0.029/1.557 = 0.019</a:t>
            </a:r>
          </a:p>
        </p:txBody>
      </p:sp>
      <p:graphicFrame>
        <p:nvGraphicFramePr>
          <p:cNvPr id="4" name="对象 3">
            <a:extLst>
              <a:ext uri="{FF2B5EF4-FFF2-40B4-BE49-F238E27FC236}">
                <a16:creationId xmlns:a16="http://schemas.microsoft.com/office/drawing/2014/main" id="{6B02BFCC-590D-24AB-E2BC-DA8E35ED440B}"/>
              </a:ext>
            </a:extLst>
          </p:cNvPr>
          <p:cNvGraphicFramePr>
            <a:graphicFrameLocks noChangeAspect="1"/>
          </p:cNvGraphicFramePr>
          <p:nvPr>
            <p:extLst>
              <p:ext uri="{D42A27DB-BD31-4B8C-83A1-F6EECF244321}">
                <p14:modId xmlns:p14="http://schemas.microsoft.com/office/powerpoint/2010/main" val="2426312922"/>
              </p:ext>
            </p:extLst>
          </p:nvPr>
        </p:nvGraphicFramePr>
        <p:xfrm>
          <a:off x="1899404" y="2892066"/>
          <a:ext cx="3606857" cy="864000"/>
        </p:xfrm>
        <a:graphic>
          <a:graphicData uri="http://schemas.openxmlformats.org/presentationml/2006/ole">
            <mc:AlternateContent xmlns:mc="http://schemas.openxmlformats.org/markup-compatibility/2006">
              <mc:Choice xmlns:v="urn:schemas-microsoft-com:vml" Requires="v">
                <p:oleObj name="Equation" r:id="rId4" imgW="3340100" imgH="800100" progId="Equation.3">
                  <p:embed/>
                </p:oleObj>
              </mc:Choice>
              <mc:Fallback>
                <p:oleObj name="Equation" r:id="rId4" imgW="3340100" imgH="800100" progId="Equation.3">
                  <p:embed/>
                  <p:pic>
                    <p:nvPicPr>
                      <p:cNvPr id="10" name="对象 9">
                        <a:extLst>
                          <a:ext uri="{FF2B5EF4-FFF2-40B4-BE49-F238E27FC236}">
                            <a16:creationId xmlns:a16="http://schemas.microsoft.com/office/drawing/2014/main" id="{70FBC57D-E5D6-45AC-AE69-7A3B5127D3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404" y="2892066"/>
                        <a:ext cx="3606857" cy="864000"/>
                      </a:xfrm>
                      <a:prstGeom prst="rect">
                        <a:avLst/>
                      </a:prstGeom>
                      <a:solidFill>
                        <a:schemeClr val="accent6">
                          <a:lumMod val="20000"/>
                          <a:lumOff val="80000"/>
                        </a:schemeClr>
                      </a:solidFill>
                      <a:ln w="9525">
                        <a:noFill/>
                        <a:miter lim="800000"/>
                        <a:headEnd/>
                        <a:tailEnd/>
                      </a:ln>
                    </p:spPr>
                  </p:pic>
                </p:oleObj>
              </mc:Fallback>
            </mc:AlternateContent>
          </a:graphicData>
        </a:graphic>
      </p:graphicFrame>
      <p:pic>
        <p:nvPicPr>
          <p:cNvPr id="5" name="Picture 3">
            <a:extLst>
              <a:ext uri="{FF2B5EF4-FFF2-40B4-BE49-F238E27FC236}">
                <a16:creationId xmlns:a16="http://schemas.microsoft.com/office/drawing/2014/main" id="{FE0832A8-CC7F-7293-06BF-792E5C7ABE6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957989" y="5723035"/>
            <a:ext cx="80676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a:extLst>
              <a:ext uri="{FF2B5EF4-FFF2-40B4-BE49-F238E27FC236}">
                <a16:creationId xmlns:a16="http://schemas.microsoft.com/office/drawing/2014/main" id="{0F9CB996-F3A5-7792-1635-FEA140878993}"/>
              </a:ext>
            </a:extLst>
          </p:cNvPr>
          <p:cNvGraphicFramePr>
            <a:graphicFrameLocks noChangeAspect="1"/>
          </p:cNvGraphicFramePr>
          <p:nvPr>
            <p:extLst>
              <p:ext uri="{D42A27DB-BD31-4B8C-83A1-F6EECF244321}">
                <p14:modId xmlns:p14="http://schemas.microsoft.com/office/powerpoint/2010/main" val="982189144"/>
              </p:ext>
            </p:extLst>
          </p:nvPr>
        </p:nvGraphicFramePr>
        <p:xfrm>
          <a:off x="1903013" y="4032455"/>
          <a:ext cx="3610102" cy="883158"/>
        </p:xfrm>
        <a:graphic>
          <a:graphicData uri="http://schemas.openxmlformats.org/presentationml/2006/ole">
            <mc:AlternateContent xmlns:mc="http://schemas.openxmlformats.org/markup-compatibility/2006">
              <mc:Choice xmlns:v="urn:schemas-microsoft-com:vml" Requires="v">
                <p:oleObj name="Equation" r:id="rId8" imgW="2959100" imgH="723900" progId="Equation.3">
                  <p:embed/>
                </p:oleObj>
              </mc:Choice>
              <mc:Fallback>
                <p:oleObj name="Equation" r:id="rId8" imgW="2959100" imgH="723900" progId="Equation.3">
                  <p:embed/>
                  <p:pic>
                    <p:nvPicPr>
                      <p:cNvPr id="18" name="对象 17">
                        <a:extLst>
                          <a:ext uri="{FF2B5EF4-FFF2-40B4-BE49-F238E27FC236}">
                            <a16:creationId xmlns:a16="http://schemas.microsoft.com/office/drawing/2014/main" id="{554C84B8-2FE9-47B5-BDFF-BC8A421706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3013" y="4032455"/>
                        <a:ext cx="3610102" cy="883158"/>
                      </a:xfrm>
                      <a:prstGeom prst="rect">
                        <a:avLst/>
                      </a:prstGeom>
                      <a:solidFill>
                        <a:schemeClr val="accent6">
                          <a:lumMod val="20000"/>
                          <a:lumOff val="80000"/>
                        </a:schemeClr>
                      </a:solidFill>
                      <a:ln w="9525">
                        <a:noFill/>
                        <a:miter lim="800000"/>
                        <a:headEnd/>
                        <a:tailEnd/>
                      </a:ln>
                    </p:spPr>
                  </p:pic>
                </p:oleObj>
              </mc:Fallback>
            </mc:AlternateContent>
          </a:graphicData>
        </a:graphic>
      </p:graphicFrame>
      <p:sp>
        <p:nvSpPr>
          <p:cNvPr id="7" name="TextBox 6">
            <a:extLst>
              <a:ext uri="{FF2B5EF4-FFF2-40B4-BE49-F238E27FC236}">
                <a16:creationId xmlns:a16="http://schemas.microsoft.com/office/drawing/2014/main" id="{B08EC6EB-929F-FC12-4987-BFCC5ACB0068}"/>
              </a:ext>
            </a:extLst>
          </p:cNvPr>
          <p:cNvSpPr txBox="1"/>
          <p:nvPr>
            <p:custDataLst>
              <p:tags r:id="rId1"/>
            </p:custDataLst>
          </p:nvPr>
        </p:nvSpPr>
        <p:spPr>
          <a:xfrm>
            <a:off x="8906553" y="5824583"/>
            <a:ext cx="1066615" cy="461665"/>
          </a:xfrm>
          <a:prstGeom prst="rect">
            <a:avLst/>
          </a:prstGeom>
          <a:noFill/>
        </p:spPr>
        <p:txBody>
          <a:bodyPr vert="horz" wrap="square" rtlCol="0" anchor="ctr" anchorCtr="0">
            <a:spAutoFit/>
          </a:bodyPr>
          <a:lstStyle/>
          <a:p>
            <a:r>
              <a:rPr lang="en-US" altLang="zh-CN" sz="2400" b="0">
                <a:latin typeface="Times New Roman" panose="02020603050405020304" pitchFamily="18" charset="0"/>
                <a:ea typeface="微软雅黑" panose="020B0503020204020204" pitchFamily="34" charset="-122"/>
                <a:sym typeface="Times New Roman" panose="02020603050405020304" pitchFamily="18" charset="0"/>
              </a:rPr>
              <a:t>1.557</a:t>
            </a:r>
            <a:endPar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 name="Group 3">
            <a:extLst>
              <a:ext uri="{FF2B5EF4-FFF2-40B4-BE49-F238E27FC236}">
                <a16:creationId xmlns:a16="http://schemas.microsoft.com/office/drawing/2014/main" id="{403C245C-932A-9373-651E-614317A2A497}"/>
              </a:ext>
            </a:extLst>
          </p:cNvPr>
          <p:cNvGraphicFramePr>
            <a:graphicFrameLocks/>
          </p:cNvGraphicFramePr>
          <p:nvPr>
            <p:extLst>
              <p:ext uri="{D42A27DB-BD31-4B8C-83A1-F6EECF244321}">
                <p14:modId xmlns:p14="http://schemas.microsoft.com/office/powerpoint/2010/main" val="761915862"/>
              </p:ext>
            </p:extLst>
          </p:nvPr>
        </p:nvGraphicFramePr>
        <p:xfrm>
          <a:off x="6007443" y="810230"/>
          <a:ext cx="3672206" cy="4864390"/>
        </p:xfrm>
        <a:graphic>
          <a:graphicData uri="http://schemas.openxmlformats.org/drawingml/2006/table">
            <a:tbl>
              <a:tblPr/>
              <a:tblGrid>
                <a:gridCol w="416301">
                  <a:extLst>
                    <a:ext uri="{9D8B030D-6E8A-4147-A177-3AD203B41FA5}">
                      <a16:colId xmlns:a16="http://schemas.microsoft.com/office/drawing/2014/main" val="20000"/>
                    </a:ext>
                  </a:extLst>
                </a:gridCol>
                <a:gridCol w="648552">
                  <a:extLst>
                    <a:ext uri="{9D8B030D-6E8A-4147-A177-3AD203B41FA5}">
                      <a16:colId xmlns:a16="http://schemas.microsoft.com/office/drawing/2014/main" val="20001"/>
                    </a:ext>
                  </a:extLst>
                </a:gridCol>
                <a:gridCol w="650012">
                  <a:extLst>
                    <a:ext uri="{9D8B030D-6E8A-4147-A177-3AD203B41FA5}">
                      <a16:colId xmlns:a16="http://schemas.microsoft.com/office/drawing/2014/main" val="20002"/>
                    </a:ext>
                  </a:extLst>
                </a:gridCol>
                <a:gridCol w="658777">
                  <a:extLst>
                    <a:ext uri="{9D8B030D-6E8A-4147-A177-3AD203B41FA5}">
                      <a16:colId xmlns:a16="http://schemas.microsoft.com/office/drawing/2014/main" val="20003"/>
                    </a:ext>
                  </a:extLst>
                </a:gridCol>
                <a:gridCol w="650012">
                  <a:extLst>
                    <a:ext uri="{9D8B030D-6E8A-4147-A177-3AD203B41FA5}">
                      <a16:colId xmlns:a16="http://schemas.microsoft.com/office/drawing/2014/main" val="20004"/>
                    </a:ext>
                  </a:extLst>
                </a:gridCol>
                <a:gridCol w="648552">
                  <a:extLst>
                    <a:ext uri="{9D8B030D-6E8A-4147-A177-3AD203B41FA5}">
                      <a16:colId xmlns:a16="http://schemas.microsoft.com/office/drawing/2014/main" val="20005"/>
                    </a:ext>
                  </a:extLst>
                </a:gridCol>
              </a:tblGrid>
              <a:tr h="37845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5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2042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84137" marR="84137" marT="42068" marB="42068"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5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84137" marR="84137" marT="42068" marB="42068"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9" name="Object 8">
            <a:extLst>
              <a:ext uri="{FF2B5EF4-FFF2-40B4-BE49-F238E27FC236}">
                <a16:creationId xmlns:a16="http://schemas.microsoft.com/office/drawing/2014/main" id="{AC9F7026-92B1-A246-FF33-53F4480ACC7D}"/>
              </a:ext>
            </a:extLst>
          </p:cNvPr>
          <p:cNvGraphicFramePr>
            <a:graphicFrameLocks noChangeAspect="1"/>
          </p:cNvGraphicFramePr>
          <p:nvPr>
            <p:extLst>
              <p:ext uri="{D42A27DB-BD31-4B8C-83A1-F6EECF244321}">
                <p14:modId xmlns:p14="http://schemas.microsoft.com/office/powerpoint/2010/main" val="760334161"/>
              </p:ext>
            </p:extLst>
          </p:nvPr>
        </p:nvGraphicFramePr>
        <p:xfrm>
          <a:off x="1934128" y="965576"/>
          <a:ext cx="2335786" cy="406224"/>
        </p:xfrm>
        <a:graphic>
          <a:graphicData uri="http://schemas.openxmlformats.org/presentationml/2006/ole">
            <mc:AlternateContent xmlns:mc="http://schemas.openxmlformats.org/markup-compatibility/2006">
              <mc:Choice xmlns:v="urn:schemas-microsoft-com:vml" Requires="v">
                <p:oleObj name="公式" r:id="rId10" imgW="1167893" imgH="203112" progId="Equation.3">
                  <p:embed/>
                </p:oleObj>
              </mc:Choice>
              <mc:Fallback>
                <p:oleObj name="公式" r:id="rId10" imgW="1167893" imgH="203112" progId="Equation.3">
                  <p:embed/>
                  <p:pic>
                    <p:nvPicPr>
                      <p:cNvPr id="21" name="Object 8">
                        <a:extLst>
                          <a:ext uri="{FF2B5EF4-FFF2-40B4-BE49-F238E27FC236}">
                            <a16:creationId xmlns:a16="http://schemas.microsoft.com/office/drawing/2014/main" id="{E7DF82B3-E0C5-4CBD-AD5D-F2EDC93B5E7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4128" y="965576"/>
                        <a:ext cx="2335786" cy="406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对象 9">
            <a:extLst>
              <a:ext uri="{FF2B5EF4-FFF2-40B4-BE49-F238E27FC236}">
                <a16:creationId xmlns:a16="http://schemas.microsoft.com/office/drawing/2014/main" id="{8C9E08C5-E59C-7A6B-5F25-FB2D85A5C322}"/>
              </a:ext>
            </a:extLst>
          </p:cNvPr>
          <p:cNvGraphicFramePr>
            <a:graphicFrameLocks noGrp="1" noChangeAspect="1"/>
          </p:cNvGraphicFramePr>
          <p:nvPr>
            <p:extLst>
              <p:ext uri="{D42A27DB-BD31-4B8C-83A1-F6EECF244321}">
                <p14:modId xmlns:p14="http://schemas.microsoft.com/office/powerpoint/2010/main" val="2170905769"/>
              </p:ext>
            </p:extLst>
          </p:nvPr>
        </p:nvGraphicFramePr>
        <p:xfrm>
          <a:off x="1927376" y="1406525"/>
          <a:ext cx="3657600" cy="1320480"/>
        </p:xfrm>
        <a:graphic>
          <a:graphicData uri="http://schemas.openxmlformats.org/presentationml/2006/ole">
            <mc:AlternateContent xmlns:mc="http://schemas.openxmlformats.org/markup-compatibility/2006">
              <mc:Choice xmlns:v="urn:schemas-microsoft-com:vml" Requires="v">
                <p:oleObj name="Equation" r:id="rId12" imgW="1828800" imgH="660240" progId="Equation.DSMT4">
                  <p:embed/>
                </p:oleObj>
              </mc:Choice>
              <mc:Fallback>
                <p:oleObj name="Equation" r:id="rId12" imgW="1828800" imgH="660240" progId="Equation.DSMT4">
                  <p:embed/>
                  <p:pic>
                    <p:nvPicPr>
                      <p:cNvPr id="22" name="对象 21">
                        <a:extLst>
                          <a:ext uri="{FF2B5EF4-FFF2-40B4-BE49-F238E27FC236}">
                            <a16:creationId xmlns:a16="http://schemas.microsoft.com/office/drawing/2014/main" id="{102D42C6-E518-4BD5-83C3-C258BC530A79}"/>
                          </a:ext>
                        </a:extLst>
                      </p:cNvPr>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7376" y="1406525"/>
                        <a:ext cx="3657600" cy="1320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1898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AE779-F449-7888-8A79-827E61D4DE09}"/>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数据是连续的怎么办</a:t>
            </a:r>
            <a:endParaRPr kumimoji="1" lang="zh-CN" altLang="en-US" dirty="0"/>
          </a:p>
        </p:txBody>
      </p:sp>
      <mc:AlternateContent xmlns:mc="http://schemas.openxmlformats.org/markup-compatibility/2006" xmlns:a14="http://schemas.microsoft.com/office/drawing/2010/main">
        <mc:Choice Requires="a14">
          <p:sp>
            <p:nvSpPr>
              <p:cNvPr id="23" name="Rectangle 3">
                <a:extLst>
                  <a:ext uri="{FF2B5EF4-FFF2-40B4-BE49-F238E27FC236}">
                    <a16:creationId xmlns:a16="http://schemas.microsoft.com/office/drawing/2014/main" id="{9D988B2A-5C21-E924-C51D-8A2F17EAC5DB}"/>
                  </a:ext>
                </a:extLst>
              </p:cNvPr>
              <p:cNvSpPr txBox="1">
                <a:spLocks noChangeArrowheads="1"/>
              </p:cNvSpPr>
              <p:nvPr/>
            </p:nvSpPr>
            <p:spPr>
              <a:xfrm>
                <a:off x="1042832" y="1001241"/>
                <a:ext cx="8640000" cy="1796582"/>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a:lnSpc>
                    <a:spcPct val="150000"/>
                  </a:lnSpc>
                  <a:spcBef>
                    <a:spcPts val="600"/>
                  </a:spcBef>
                  <a:buClr>
                    <a:srgbClr val="FF6600"/>
                  </a:buClr>
                  <a:buSzPct val="80000"/>
                  <a:buFont typeface="Wingdings" panose="05000000000000000000" pitchFamily="2" charset="2"/>
                  <a:buChar char="l"/>
                </a:pPr>
                <a:r>
                  <a:rPr lang="zh-CN" altLang="en-US" sz="2400" b="1">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二元划分：</a:t>
                </a:r>
                <a:r>
                  <a:rPr lang="zh-CN" altLang="en-US"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A&lt;v</a:t>
                </a:r>
                <a:r>
                  <a:rPr lang="zh-CN" altLang="en-US"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altLang="zh-CN"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or</a:t>
                </a:r>
                <a:r>
                  <a:rPr lang="zh-CN" altLang="en-US"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A</a:t>
                </a:r>
                <a14:m>
                  <m:oMath xmlns:m="http://schemas.openxmlformats.org/officeDocument/2006/math">
                    <m:r>
                      <a:rPr lang="en-US" altLang="zh-CN" sz="2400" b="0" i="1" smtClean="0">
                        <a:solidFill>
                          <a:schemeClr val="tx1"/>
                        </a:solidFill>
                        <a:latin typeface="Cambria Math" panose="02040503050406030204" pitchFamily="18" charset="0"/>
                        <a:ea typeface="Cambria Math" panose="02040503050406030204" pitchFamily="18" charset="0"/>
                        <a:cs typeface="+mn-ea"/>
                        <a:sym typeface="Times New Roman" panose="02020603050405020304" pitchFamily="18" charset="0"/>
                      </a:rPr>
                      <m:t>≥</m:t>
                    </m:r>
                  </m:oMath>
                </a14:m>
                <a:r>
                  <a:rPr lang="en-US" altLang="zh-CN"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v</a:t>
                </a:r>
                <a:r>
                  <a:rPr lang="zh-CN" altLang="en-US"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b="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a:lnSpc>
                    <a:spcPct val="150000"/>
                  </a:lnSpc>
                  <a:spcBef>
                    <a:spcPts val="600"/>
                  </a:spcBef>
                  <a:buClr>
                    <a:srgbClr val="FF6600"/>
                  </a:buClr>
                  <a:buSzPct val="80000"/>
                  <a:buFont typeface="Wingdings" panose="05000000000000000000" pitchFamily="2" charset="2"/>
                  <a:buChar char="l"/>
                </a:pPr>
                <a:r>
                  <a:rPr lang="zh-CN" altLang="en-US" sz="2200" b="0">
                    <a:latin typeface="Times New Roman" panose="02020603050405020304" pitchFamily="18" charset="0"/>
                    <a:ea typeface="微软雅黑" panose="020B0503020204020204" pitchFamily="34" charset="-122"/>
                    <a:cs typeface="+mn-ea"/>
                    <a:sym typeface="Times New Roman" panose="02020603050405020304" pitchFamily="18" charset="0"/>
                  </a:rPr>
                  <a:t>考虑所有的划分点，选择一个</a:t>
                </a:r>
                <a:r>
                  <a:rPr lang="zh-CN" altLang="en-US" sz="22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最优划分点</a:t>
                </a:r>
                <a:r>
                  <a:rPr lang="en-US" altLang="zh-CN" sz="22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v</a:t>
                </a:r>
                <a:endParaRPr lang="en-US" altLang="zh-CN" sz="2200"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00" lvl="0" indent="-360000" algn="just" eaLnBrk="0" hangingPunct="0">
                  <a:lnSpc>
                    <a:spcPct val="150000"/>
                  </a:lnSpc>
                  <a:spcBef>
                    <a:spcPts val="600"/>
                  </a:spcBef>
                  <a:buClr>
                    <a:srgbClr val="FF6600"/>
                  </a:buClr>
                  <a:buSzPct val="80000"/>
                  <a:buFont typeface="Wingdings" panose="05000000000000000000" pitchFamily="2" charset="2"/>
                  <a:buChar char="l"/>
                </a:pPr>
                <a:r>
                  <a:rPr lang="zh-CN" altLang="en-US" sz="240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多路划分：</a:t>
                </a:r>
                <a:r>
                  <a:rPr lang="en-US" altLang="zh-CN"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v</a:t>
                </a:r>
                <a:r>
                  <a:rPr lang="en-US" altLang="zh-CN" sz="2400" b="0" baseline="-250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a:t>
                </a:r>
                <a14:m>
                  <m:oMath xmlns:m="http://schemas.openxmlformats.org/officeDocument/2006/math">
                    <m:r>
                      <a:rPr lang="en-US" altLang="zh-CN" sz="2400" b="0" i="1" smtClean="0">
                        <a:solidFill>
                          <a:prstClr val="black"/>
                        </a:solidFill>
                        <a:latin typeface="Cambria Math" panose="02040503050406030204" pitchFamily="18" charset="0"/>
                        <a:ea typeface="Cambria Math" panose="02040503050406030204" pitchFamily="18" charset="0"/>
                        <a:cs typeface="+mn-ea"/>
                        <a:sym typeface="Times New Roman" panose="02020603050405020304" pitchFamily="18" charset="0"/>
                      </a:rPr>
                      <m:t>≤</m:t>
                    </m:r>
                  </m:oMath>
                </a14:m>
                <a:r>
                  <a:rPr lang="en-US" altLang="zh-CN"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A&lt;v</a:t>
                </a:r>
                <a:r>
                  <a:rPr lang="en-US" altLang="zh-CN" sz="2400" b="0" baseline="-2500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i+1</a:t>
                </a:r>
                <a:r>
                  <a:rPr lang="zh-CN" altLang="en-US"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en-US" altLang="zh-CN"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i=1,…,k</a:t>
                </a:r>
                <a:r>
                  <a:rPr lang="zh-CN" altLang="en-US"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b="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mc:Choice>
        <mc:Fallback xmlns="">
          <p:sp>
            <p:nvSpPr>
              <p:cNvPr id="23" name="Rectangle 3">
                <a:extLst>
                  <a:ext uri="{FF2B5EF4-FFF2-40B4-BE49-F238E27FC236}">
                    <a16:creationId xmlns:a16="http://schemas.microsoft.com/office/drawing/2014/main" id="{9D988B2A-5C21-E924-C51D-8A2F17EAC5DB}"/>
                  </a:ext>
                </a:extLst>
              </p:cNvPr>
              <p:cNvSpPr txBox="1">
                <a:spLocks noRot="1" noChangeAspect="1" noMove="1" noResize="1" noEditPoints="1" noAdjustHandles="1" noChangeArrowheads="1" noChangeShapeType="1" noTextEdit="1"/>
              </p:cNvSpPr>
              <p:nvPr/>
            </p:nvSpPr>
            <p:spPr>
              <a:xfrm>
                <a:off x="1042832" y="1001241"/>
                <a:ext cx="8640000" cy="1796582"/>
              </a:xfrm>
              <a:prstGeom prst="rect">
                <a:avLst/>
              </a:prstGeom>
              <a:blipFill>
                <a:blip r:embed="rId2"/>
                <a:stretch>
                  <a:fillRect l="-587" b="-6993"/>
                </a:stretch>
              </a:blipFill>
            </p:spPr>
            <p:txBody>
              <a:bodyPr/>
              <a:lstStyle/>
              <a:p>
                <a:r>
                  <a:rPr lang="zh-CN" altLang="en-US">
                    <a:noFill/>
                  </a:rPr>
                  <a:t> </a:t>
                </a:r>
              </a:p>
            </p:txBody>
          </p:sp>
        </mc:Fallback>
      </mc:AlternateContent>
      <p:grpSp>
        <p:nvGrpSpPr>
          <p:cNvPr id="24" name="Group 4">
            <a:extLst>
              <a:ext uri="{FF2B5EF4-FFF2-40B4-BE49-F238E27FC236}">
                <a16:creationId xmlns:a16="http://schemas.microsoft.com/office/drawing/2014/main" id="{A49EB0FB-1535-2422-DF0C-5DA8466F4AF3}"/>
              </a:ext>
            </a:extLst>
          </p:cNvPr>
          <p:cNvGrpSpPr>
            <a:grpSpLocks/>
          </p:cNvGrpSpPr>
          <p:nvPr/>
        </p:nvGrpSpPr>
        <p:grpSpPr bwMode="auto">
          <a:xfrm>
            <a:off x="2048969" y="3235366"/>
            <a:ext cx="2366340" cy="2514600"/>
            <a:chOff x="2241" y="1438"/>
            <a:chExt cx="814" cy="865"/>
          </a:xfrm>
        </p:grpSpPr>
        <p:sp>
          <p:nvSpPr>
            <p:cNvPr id="25" name="Line 6">
              <a:extLst>
                <a:ext uri="{FF2B5EF4-FFF2-40B4-BE49-F238E27FC236}">
                  <a16:creationId xmlns:a16="http://schemas.microsoft.com/office/drawing/2014/main" id="{79BDEA8D-E722-B809-D226-9FB7B2B74D2C}"/>
                </a:ext>
              </a:extLst>
            </p:cNvPr>
            <p:cNvSpPr>
              <a:spLocks noChangeShapeType="1"/>
            </p:cNvSpPr>
            <p:nvPr/>
          </p:nvSpPr>
          <p:spPr bwMode="auto">
            <a:xfrm flipH="1">
              <a:off x="2241" y="1968"/>
              <a:ext cx="399"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Line 8">
              <a:extLst>
                <a:ext uri="{FF2B5EF4-FFF2-40B4-BE49-F238E27FC236}">
                  <a16:creationId xmlns:a16="http://schemas.microsoft.com/office/drawing/2014/main" id="{C43EEC17-12B6-98B3-D297-6BAEEEC5C47F}"/>
                </a:ext>
              </a:extLst>
            </p:cNvPr>
            <p:cNvSpPr>
              <a:spLocks noChangeShapeType="1"/>
            </p:cNvSpPr>
            <p:nvPr/>
          </p:nvSpPr>
          <p:spPr bwMode="auto">
            <a:xfrm>
              <a:off x="2640" y="1968"/>
              <a:ext cx="399"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Text Box 9">
              <a:extLst>
                <a:ext uri="{FF2B5EF4-FFF2-40B4-BE49-F238E27FC236}">
                  <a16:creationId xmlns:a16="http://schemas.microsoft.com/office/drawing/2014/main" id="{DB75E9B3-5DBE-AAF9-BCE8-40CF2956B96B}"/>
                </a:ext>
              </a:extLst>
            </p:cNvPr>
            <p:cNvSpPr txBox="1">
              <a:spLocks noChangeArrowheads="1"/>
            </p:cNvSpPr>
            <p:nvPr/>
          </p:nvSpPr>
          <p:spPr bwMode="auto">
            <a:xfrm>
              <a:off x="2241" y="1993"/>
              <a:ext cx="186"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Yes</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Text Box 11">
              <a:extLst>
                <a:ext uri="{FF2B5EF4-FFF2-40B4-BE49-F238E27FC236}">
                  <a16:creationId xmlns:a16="http://schemas.microsoft.com/office/drawing/2014/main" id="{21341EC9-9AF7-DBC3-953C-D2FE91B469C6}"/>
                </a:ext>
              </a:extLst>
            </p:cNvPr>
            <p:cNvSpPr txBox="1">
              <a:spLocks noChangeArrowheads="1"/>
            </p:cNvSpPr>
            <p:nvPr/>
          </p:nvSpPr>
          <p:spPr bwMode="auto">
            <a:xfrm>
              <a:off x="2888" y="1991"/>
              <a:ext cx="167"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No</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Oval 5">
              <a:extLst>
                <a:ext uri="{FF2B5EF4-FFF2-40B4-BE49-F238E27FC236}">
                  <a16:creationId xmlns:a16="http://schemas.microsoft.com/office/drawing/2014/main" id="{E04582FB-1DDB-4928-D893-F681C50DA4A8}"/>
                </a:ext>
              </a:extLst>
            </p:cNvPr>
            <p:cNvSpPr>
              <a:spLocks noChangeArrowheads="1"/>
            </p:cNvSpPr>
            <p:nvPr/>
          </p:nvSpPr>
          <p:spPr bwMode="auto">
            <a:xfrm>
              <a:off x="2387" y="1438"/>
              <a:ext cx="530" cy="53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Taxable Income</a:t>
              </a:r>
            </a:p>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&gt;80k?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30" name="矩形 29">
            <a:extLst>
              <a:ext uri="{FF2B5EF4-FFF2-40B4-BE49-F238E27FC236}">
                <a16:creationId xmlns:a16="http://schemas.microsoft.com/office/drawing/2014/main" id="{A4B65EFB-6D46-C7E0-D2F0-5FB18ED859EB}"/>
              </a:ext>
            </a:extLst>
          </p:cNvPr>
          <p:cNvSpPr/>
          <p:nvPr/>
        </p:nvSpPr>
        <p:spPr>
          <a:xfrm>
            <a:off x="2516225" y="6347241"/>
            <a:ext cx="1385316" cy="400110"/>
          </a:xfrm>
          <a:prstGeom prst="rect">
            <a:avLst/>
          </a:prstGeom>
          <a:solidFill>
            <a:srgbClr val="13548C"/>
          </a:solidFill>
        </p:spPr>
        <p:txBody>
          <a:bodyPr wrap="none">
            <a:spAutoFit/>
          </a:bodyPr>
          <a:lstStyle/>
          <a:p>
            <a:pPr algn="ctr"/>
            <a:r>
              <a:rPr lang="en-US" altLang="zh-CN" sz="2000" b="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Binary split</a:t>
            </a:r>
            <a:endParaRPr lang="zh-CN" altLang="en-US" sz="2000">
              <a:solidFill>
                <a:schemeClr val="bg1"/>
              </a:solidFill>
            </a:endParaRPr>
          </a:p>
        </p:txBody>
      </p:sp>
      <p:grpSp>
        <p:nvGrpSpPr>
          <p:cNvPr id="31" name="Group 4">
            <a:extLst>
              <a:ext uri="{FF2B5EF4-FFF2-40B4-BE49-F238E27FC236}">
                <a16:creationId xmlns:a16="http://schemas.microsoft.com/office/drawing/2014/main" id="{4284D0FE-B6AA-16C3-9EEE-6909E25EFF5A}"/>
              </a:ext>
            </a:extLst>
          </p:cNvPr>
          <p:cNvGrpSpPr>
            <a:grpSpLocks/>
          </p:cNvGrpSpPr>
          <p:nvPr/>
        </p:nvGrpSpPr>
        <p:grpSpPr bwMode="auto">
          <a:xfrm>
            <a:off x="5634928" y="3235366"/>
            <a:ext cx="3351832" cy="2968100"/>
            <a:chOff x="2077" y="1438"/>
            <a:chExt cx="1153" cy="1021"/>
          </a:xfrm>
        </p:grpSpPr>
        <p:sp>
          <p:nvSpPr>
            <p:cNvPr id="32" name="Line 6">
              <a:extLst>
                <a:ext uri="{FF2B5EF4-FFF2-40B4-BE49-F238E27FC236}">
                  <a16:creationId xmlns:a16="http://schemas.microsoft.com/office/drawing/2014/main" id="{A162D74C-988B-6C6B-6A54-BD0BED7BCF59}"/>
                </a:ext>
              </a:extLst>
            </p:cNvPr>
            <p:cNvSpPr>
              <a:spLocks noChangeShapeType="1"/>
            </p:cNvSpPr>
            <p:nvPr/>
          </p:nvSpPr>
          <p:spPr bwMode="auto">
            <a:xfrm flipH="1">
              <a:off x="2379" y="1968"/>
              <a:ext cx="272"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Line 8">
              <a:extLst>
                <a:ext uri="{FF2B5EF4-FFF2-40B4-BE49-F238E27FC236}">
                  <a16:creationId xmlns:a16="http://schemas.microsoft.com/office/drawing/2014/main" id="{62676EBD-8992-020F-6541-42B390F1D6C4}"/>
                </a:ext>
              </a:extLst>
            </p:cNvPr>
            <p:cNvSpPr>
              <a:spLocks noChangeShapeType="1"/>
            </p:cNvSpPr>
            <p:nvPr/>
          </p:nvSpPr>
          <p:spPr bwMode="auto">
            <a:xfrm>
              <a:off x="2652" y="1968"/>
              <a:ext cx="272"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 name="Text Box 9">
              <a:extLst>
                <a:ext uri="{FF2B5EF4-FFF2-40B4-BE49-F238E27FC236}">
                  <a16:creationId xmlns:a16="http://schemas.microsoft.com/office/drawing/2014/main" id="{52A310AF-EEC3-3936-5A9E-C3B35F953511}"/>
                </a:ext>
              </a:extLst>
            </p:cNvPr>
            <p:cNvSpPr txBox="1">
              <a:spLocks noChangeArrowheads="1"/>
            </p:cNvSpPr>
            <p:nvPr/>
          </p:nvSpPr>
          <p:spPr bwMode="auto">
            <a:xfrm>
              <a:off x="2175" y="1991"/>
              <a:ext cx="24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&lt;10k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Text Box 11">
              <a:extLst>
                <a:ext uri="{FF2B5EF4-FFF2-40B4-BE49-F238E27FC236}">
                  <a16:creationId xmlns:a16="http://schemas.microsoft.com/office/drawing/2014/main" id="{4188B4F7-EACE-7AD7-A4C1-05CFBA9BFF1D}"/>
                </a:ext>
              </a:extLst>
            </p:cNvPr>
            <p:cNvSpPr txBox="1">
              <a:spLocks noChangeArrowheads="1"/>
            </p:cNvSpPr>
            <p:nvPr/>
          </p:nvSpPr>
          <p:spPr bwMode="auto">
            <a:xfrm>
              <a:off x="2878" y="1989"/>
              <a:ext cx="24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&gt;80k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Line 6">
              <a:extLst>
                <a:ext uri="{FF2B5EF4-FFF2-40B4-BE49-F238E27FC236}">
                  <a16:creationId xmlns:a16="http://schemas.microsoft.com/office/drawing/2014/main" id="{BC44D303-6FE6-9E64-2682-D43CBC384335}"/>
                </a:ext>
              </a:extLst>
            </p:cNvPr>
            <p:cNvSpPr>
              <a:spLocks noChangeShapeType="1"/>
            </p:cNvSpPr>
            <p:nvPr/>
          </p:nvSpPr>
          <p:spPr bwMode="auto">
            <a:xfrm flipH="1">
              <a:off x="2651" y="1968"/>
              <a:ext cx="0" cy="335"/>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Line 8">
              <a:extLst>
                <a:ext uri="{FF2B5EF4-FFF2-40B4-BE49-F238E27FC236}">
                  <a16:creationId xmlns:a16="http://schemas.microsoft.com/office/drawing/2014/main" id="{CF29A825-C6CB-12F3-F5B0-07EA69CDB91A}"/>
                </a:ext>
              </a:extLst>
            </p:cNvPr>
            <p:cNvSpPr>
              <a:spLocks noChangeShapeType="1"/>
            </p:cNvSpPr>
            <p:nvPr/>
          </p:nvSpPr>
          <p:spPr bwMode="auto">
            <a:xfrm>
              <a:off x="2640" y="1968"/>
              <a:ext cx="570"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8" name="Line 8">
              <a:extLst>
                <a:ext uri="{FF2B5EF4-FFF2-40B4-BE49-F238E27FC236}">
                  <a16:creationId xmlns:a16="http://schemas.microsoft.com/office/drawing/2014/main" id="{BF9CD072-30E6-E043-6CED-D2CACD46B2C6}"/>
                </a:ext>
              </a:extLst>
            </p:cNvPr>
            <p:cNvSpPr>
              <a:spLocks noChangeShapeType="1"/>
            </p:cNvSpPr>
            <p:nvPr/>
          </p:nvSpPr>
          <p:spPr bwMode="auto">
            <a:xfrm flipH="1">
              <a:off x="2081" y="1968"/>
              <a:ext cx="570" cy="334"/>
            </a:xfrm>
            <a:prstGeom prst="line">
              <a:avLst/>
            </a:prstGeom>
            <a:noFill/>
            <a:ln w="76200">
              <a:solidFill>
                <a:srgbClr val="FF66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9" name="Oval 5">
              <a:extLst>
                <a:ext uri="{FF2B5EF4-FFF2-40B4-BE49-F238E27FC236}">
                  <a16:creationId xmlns:a16="http://schemas.microsoft.com/office/drawing/2014/main" id="{9C8C837E-38AB-13BD-5732-10FB6EA35C42}"/>
                </a:ext>
              </a:extLst>
            </p:cNvPr>
            <p:cNvSpPr>
              <a:spLocks noChangeArrowheads="1"/>
            </p:cNvSpPr>
            <p:nvPr/>
          </p:nvSpPr>
          <p:spPr bwMode="auto">
            <a:xfrm>
              <a:off x="2387" y="1438"/>
              <a:ext cx="530" cy="530"/>
            </a:xfrm>
            <a:prstGeom prst="ellipse">
              <a:avLst/>
            </a:prstGeom>
            <a:solidFill>
              <a:schemeClr val="bg1">
                <a:lumMod val="95000"/>
              </a:schemeClr>
            </a:solidFill>
            <a:ln w="19050">
              <a:solidFill>
                <a:srgbClr val="13548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Taxable Income?</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Text Box 9">
              <a:extLst>
                <a:ext uri="{FF2B5EF4-FFF2-40B4-BE49-F238E27FC236}">
                  <a16:creationId xmlns:a16="http://schemas.microsoft.com/office/drawing/2014/main" id="{C6455AEB-3183-01BD-A5A3-ECD2CA688DA7}"/>
                </a:ext>
              </a:extLst>
            </p:cNvPr>
            <p:cNvSpPr txBox="1">
              <a:spLocks noChangeArrowheads="1"/>
            </p:cNvSpPr>
            <p:nvPr/>
          </p:nvSpPr>
          <p:spPr bwMode="auto">
            <a:xfrm>
              <a:off x="2077"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[10k,25k]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Text Box 9">
              <a:extLst>
                <a:ext uri="{FF2B5EF4-FFF2-40B4-BE49-F238E27FC236}">
                  <a16:creationId xmlns:a16="http://schemas.microsoft.com/office/drawing/2014/main" id="{DE8EF38E-C6F1-AD5E-BC05-764337A76D92}"/>
                </a:ext>
              </a:extLst>
            </p:cNvPr>
            <p:cNvSpPr txBox="1">
              <a:spLocks noChangeArrowheads="1"/>
            </p:cNvSpPr>
            <p:nvPr/>
          </p:nvSpPr>
          <p:spPr bwMode="auto">
            <a:xfrm>
              <a:off x="2449"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[25k,50k]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Text Box 9">
              <a:extLst>
                <a:ext uri="{FF2B5EF4-FFF2-40B4-BE49-F238E27FC236}">
                  <a16:creationId xmlns:a16="http://schemas.microsoft.com/office/drawing/2014/main" id="{F8127116-D1AD-0854-D978-28C18C4DE3B7}"/>
                </a:ext>
              </a:extLst>
            </p:cNvPr>
            <p:cNvSpPr txBox="1">
              <a:spLocks noChangeArrowheads="1"/>
            </p:cNvSpPr>
            <p:nvPr/>
          </p:nvSpPr>
          <p:spPr bwMode="auto">
            <a:xfrm>
              <a:off x="2821" y="2321"/>
              <a:ext cx="409"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zh-CN" sz="2000" b="0">
                  <a:latin typeface="Times New Roman" panose="02020603050405020304" pitchFamily="18" charset="0"/>
                  <a:ea typeface="微软雅黑" panose="020B0503020204020204" pitchFamily="34" charset="-122"/>
                  <a:sym typeface="Times New Roman" panose="02020603050405020304" pitchFamily="18" charset="0"/>
                </a:rPr>
                <a:t>[50k,80k]</a:t>
              </a:r>
              <a:endParaRPr lang="en-US" altLang="zh-CN"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3" name="矩形 42">
            <a:extLst>
              <a:ext uri="{FF2B5EF4-FFF2-40B4-BE49-F238E27FC236}">
                <a16:creationId xmlns:a16="http://schemas.microsoft.com/office/drawing/2014/main" id="{B6F07EF7-E7AA-4EAB-E533-7A2151508EBF}"/>
              </a:ext>
            </a:extLst>
          </p:cNvPr>
          <p:cNvSpPr/>
          <p:nvPr/>
        </p:nvSpPr>
        <p:spPr>
          <a:xfrm>
            <a:off x="6491555" y="6347241"/>
            <a:ext cx="1768434" cy="400110"/>
          </a:xfrm>
          <a:prstGeom prst="rect">
            <a:avLst/>
          </a:prstGeom>
          <a:solidFill>
            <a:srgbClr val="13548C"/>
          </a:solidFill>
        </p:spPr>
        <p:txBody>
          <a:bodyPr wrap="none">
            <a:spAutoFit/>
          </a:bodyPr>
          <a:lstStyle/>
          <a:p>
            <a:pPr algn="ctr"/>
            <a:r>
              <a:rPr lang="en-US" altLang="zh-CN" sz="2000" b="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Multi-way split</a:t>
            </a:r>
            <a:endParaRPr lang="zh-CN" altLang="en-US" sz="2000">
              <a:solidFill>
                <a:schemeClr val="bg1"/>
              </a:solidFill>
            </a:endParaRPr>
          </a:p>
        </p:txBody>
      </p:sp>
    </p:spTree>
    <p:extLst>
      <p:ext uri="{BB962C8B-B14F-4D97-AF65-F5344CB8AC3E}">
        <p14:creationId xmlns:p14="http://schemas.microsoft.com/office/powerpoint/2010/main" val="3317736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F7A4D2-72A9-12B5-7225-5887B450AFD7}"/>
              </a:ext>
            </a:extLst>
          </p:cNvPr>
          <p:cNvSpPr>
            <a:spLocks noGrp="1"/>
          </p:cNvSpPr>
          <p:nvPr>
            <p:ph type="title"/>
          </p:nvPr>
        </p:nvSpPr>
        <p:spPr/>
        <p:txBody>
          <a:bodyPr>
            <a:normAutofit fontScale="90000"/>
          </a:bodyPr>
          <a:lstStyle/>
          <a:p>
            <a:r>
              <a:rPr kumimoji="1" lang="zh-CN" altLang="en-US" dirty="0"/>
              <a:t>一个例子</a:t>
            </a:r>
          </a:p>
        </p:txBody>
      </p:sp>
      <p:graphicFrame>
        <p:nvGraphicFramePr>
          <p:cNvPr id="3" name="表格 2">
            <a:extLst>
              <a:ext uri="{FF2B5EF4-FFF2-40B4-BE49-F238E27FC236}">
                <a16:creationId xmlns:a16="http://schemas.microsoft.com/office/drawing/2014/main" id="{9FFD1875-7F88-0971-225D-A5342C5536BB}"/>
              </a:ext>
            </a:extLst>
          </p:cNvPr>
          <p:cNvGraphicFramePr>
            <a:graphicFrameLocks noGrp="1"/>
          </p:cNvGraphicFramePr>
          <p:nvPr>
            <p:extLst>
              <p:ext uri="{D42A27DB-BD31-4B8C-83A1-F6EECF244321}">
                <p14:modId xmlns:p14="http://schemas.microsoft.com/office/powerpoint/2010/main" val="4062166024"/>
              </p:ext>
            </p:extLst>
          </p:nvPr>
        </p:nvGraphicFramePr>
        <p:xfrm>
          <a:off x="1071741" y="900535"/>
          <a:ext cx="8639999" cy="5846816"/>
        </p:xfrm>
        <a:graphic>
          <a:graphicData uri="http://schemas.openxmlformats.org/drawingml/2006/table">
            <a:tbl>
              <a:tblPr>
                <a:effectLst>
                  <a:outerShdw blurRad="50800" dist="38100" dir="5400000" algn="t" rotWithShape="0">
                    <a:prstClr val="black">
                      <a:alpha val="40000"/>
                    </a:prstClr>
                  </a:outerShdw>
                </a:effectLst>
              </a:tblPr>
              <a:tblGrid>
                <a:gridCol w="867134">
                  <a:extLst>
                    <a:ext uri="{9D8B030D-6E8A-4147-A177-3AD203B41FA5}">
                      <a16:colId xmlns:a16="http://schemas.microsoft.com/office/drawing/2014/main" val="20000"/>
                    </a:ext>
                  </a:extLst>
                </a:gridCol>
                <a:gridCol w="867134">
                  <a:extLst>
                    <a:ext uri="{9D8B030D-6E8A-4147-A177-3AD203B41FA5}">
                      <a16:colId xmlns:a16="http://schemas.microsoft.com/office/drawing/2014/main" val="20001"/>
                    </a:ext>
                  </a:extLst>
                </a:gridCol>
                <a:gridCol w="1182455">
                  <a:extLst>
                    <a:ext uri="{9D8B030D-6E8A-4147-A177-3AD203B41FA5}">
                      <a16:colId xmlns:a16="http://schemas.microsoft.com/office/drawing/2014/main" val="20002"/>
                    </a:ext>
                  </a:extLst>
                </a:gridCol>
                <a:gridCol w="1182455">
                  <a:extLst>
                    <a:ext uri="{9D8B030D-6E8A-4147-A177-3AD203B41FA5}">
                      <a16:colId xmlns:a16="http://schemas.microsoft.com/office/drawing/2014/main" val="20003"/>
                    </a:ext>
                  </a:extLst>
                </a:gridCol>
                <a:gridCol w="867134">
                  <a:extLst>
                    <a:ext uri="{9D8B030D-6E8A-4147-A177-3AD203B41FA5}">
                      <a16:colId xmlns:a16="http://schemas.microsoft.com/office/drawing/2014/main" val="20004"/>
                    </a:ext>
                  </a:extLst>
                </a:gridCol>
                <a:gridCol w="1182455">
                  <a:extLst>
                    <a:ext uri="{9D8B030D-6E8A-4147-A177-3AD203B41FA5}">
                      <a16:colId xmlns:a16="http://schemas.microsoft.com/office/drawing/2014/main" val="20005"/>
                    </a:ext>
                  </a:extLst>
                </a:gridCol>
                <a:gridCol w="1182455">
                  <a:extLst>
                    <a:ext uri="{9D8B030D-6E8A-4147-A177-3AD203B41FA5}">
                      <a16:colId xmlns:a16="http://schemas.microsoft.com/office/drawing/2014/main" val="20006"/>
                    </a:ext>
                  </a:extLst>
                </a:gridCol>
                <a:gridCol w="1308777">
                  <a:extLst>
                    <a:ext uri="{9D8B030D-6E8A-4147-A177-3AD203B41FA5}">
                      <a16:colId xmlns:a16="http://schemas.microsoft.com/office/drawing/2014/main" val="20007"/>
                    </a:ext>
                  </a:extLst>
                </a:gridCol>
              </a:tblGrid>
              <a:tr h="468000">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序号</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姓名</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职业分类</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职位评级</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660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有房有车</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债务情况</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b="1"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rPr>
                        <a:t>评级</a:t>
                      </a:r>
                      <a:endParaRPr lang="zh-CN" altLang="en-US" sz="1800" b="1" i="0" u="none" strike="noStrike" dirty="0">
                        <a:solidFill>
                          <a:schemeClr val="bg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金融</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40W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钻石男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1"/>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IT</a:t>
                      </a:r>
                      <a:endParaRPr 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18W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2"/>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C</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行政</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19W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D</a:t>
                      </a:r>
                      <a:endParaRPr 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司法</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35W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钻石男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4"/>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E</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行政</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11W</a:t>
                      </a: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5"/>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F</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金融</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37.5W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钻石男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6"/>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G</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IT</a:t>
                      </a:r>
                      <a:endParaRPr 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7"/>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H</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司法</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19.8W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8"/>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J</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行政</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24.2W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9"/>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K</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教育</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9.5W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10"/>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L</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司法</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50W</a:t>
                      </a: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钻石男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11"/>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M</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教育</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11.8W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 </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12"/>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N</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IT</a:t>
                      </a:r>
                      <a:endParaRPr 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17W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0</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13"/>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P</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教育</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32W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14"/>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15</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Q</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教育</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经适男</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15"/>
                  </a:ext>
                </a:extLst>
              </a:tr>
              <a:tr h="336176">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16</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R</a:t>
                      </a:r>
                      <a:endParaRPr 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IT</a:t>
                      </a:r>
                      <a:endParaRPr 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类</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19.2W</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en-US" altLang="zh-CN"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lang="zh-CN" altLang="en-US" sz="1800" b="0" i="0" u="none" strike="noStrike">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Arial"/>
                          <a:ea typeface="楷体_GB2312"/>
                          <a:cs typeface=""/>
                        </a:defRPr>
                      </a:lvl1pPr>
                      <a:lvl2pPr marL="457200" algn="l" defTabSz="914400" rtl="0" eaLnBrk="1" latinLnBrk="0" hangingPunct="1">
                        <a:defRPr sz="1800" kern="1200">
                          <a:solidFill>
                            <a:schemeClr val="dk1"/>
                          </a:solidFill>
                          <a:latin typeface="Arial"/>
                          <a:ea typeface="楷体_GB2312"/>
                          <a:cs typeface=""/>
                        </a:defRPr>
                      </a:lvl2pPr>
                      <a:lvl3pPr marL="914400" algn="l" defTabSz="914400" rtl="0" eaLnBrk="1" latinLnBrk="0" hangingPunct="1">
                        <a:defRPr sz="1800" kern="1200">
                          <a:solidFill>
                            <a:schemeClr val="dk1"/>
                          </a:solidFill>
                          <a:latin typeface="Arial"/>
                          <a:ea typeface="楷体_GB2312"/>
                          <a:cs typeface=""/>
                        </a:defRPr>
                      </a:lvl3pPr>
                      <a:lvl4pPr marL="1371600" algn="l" defTabSz="914400" rtl="0" eaLnBrk="1" latinLnBrk="0" hangingPunct="1">
                        <a:defRPr sz="1800" kern="1200">
                          <a:solidFill>
                            <a:schemeClr val="dk1"/>
                          </a:solidFill>
                          <a:latin typeface="Arial"/>
                          <a:ea typeface="楷体_GB2312"/>
                          <a:cs typeface=""/>
                        </a:defRPr>
                      </a:lvl4pPr>
                      <a:lvl5pPr marL="1828800" algn="l" defTabSz="914400" rtl="0" eaLnBrk="1" latinLnBrk="0" hangingPunct="1">
                        <a:defRPr sz="1800" kern="1200">
                          <a:solidFill>
                            <a:schemeClr val="dk1"/>
                          </a:solidFill>
                          <a:latin typeface="Arial"/>
                          <a:ea typeface="楷体_GB2312"/>
                          <a:cs typeface=""/>
                        </a:defRPr>
                      </a:lvl5pPr>
                      <a:lvl6pPr marL="2286000" algn="l" defTabSz="914400" rtl="0" eaLnBrk="1" latinLnBrk="0" hangingPunct="1">
                        <a:defRPr sz="1800" kern="1200">
                          <a:solidFill>
                            <a:schemeClr val="dk1"/>
                          </a:solidFill>
                          <a:latin typeface="Arial"/>
                          <a:ea typeface="楷体_GB2312"/>
                          <a:cs typeface=""/>
                        </a:defRPr>
                      </a:lvl6pPr>
                      <a:lvl7pPr marL="2743200" algn="l" defTabSz="914400" rtl="0" eaLnBrk="1" latinLnBrk="0" hangingPunct="1">
                        <a:defRPr sz="1800" kern="1200">
                          <a:solidFill>
                            <a:schemeClr val="dk1"/>
                          </a:solidFill>
                          <a:latin typeface="Arial"/>
                          <a:ea typeface="楷体_GB2312"/>
                          <a:cs typeface=""/>
                        </a:defRPr>
                      </a:lvl7pPr>
                      <a:lvl8pPr marL="3200400" algn="l" defTabSz="914400" rtl="0" eaLnBrk="1" latinLnBrk="0" hangingPunct="1">
                        <a:defRPr sz="1800" kern="1200">
                          <a:solidFill>
                            <a:schemeClr val="dk1"/>
                          </a:solidFill>
                          <a:latin typeface="Arial"/>
                          <a:ea typeface="楷体_GB2312"/>
                          <a:cs typeface=""/>
                        </a:defRPr>
                      </a:lvl8pPr>
                      <a:lvl9pPr marL="3657600" algn="l" defTabSz="914400" rtl="0" eaLnBrk="1" latinLnBrk="0" hangingPunct="1">
                        <a:defRPr sz="1800" kern="1200">
                          <a:solidFill>
                            <a:schemeClr val="dk1"/>
                          </a:solidFill>
                          <a:latin typeface="Arial"/>
                          <a:ea typeface="楷体_GB2312"/>
                          <a:cs typeface=""/>
                        </a:defRPr>
                      </a:lvl9pPr>
                    </a:lstStyle>
                    <a:p>
                      <a:pPr algn="ctr" fontAlgn="b"/>
                      <a:r>
                        <a:rPr lang="zh-CN" altLang="en-US" sz="180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牛奋男</a:t>
                      </a:r>
                      <a:endParaRPr lang="zh-CN" altLang="en-US" sz="1800" b="0" i="0" u="none" strike="noStrike" dirty="0">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9525" marR="9525" marT="9525"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115201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B8EF63-FBEB-8644-654D-4F721176B37F}"/>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数据是连续的怎么办</a:t>
            </a:r>
            <a:endParaRPr kumimoji="1" lang="zh-CN" altLang="en-US" dirty="0"/>
          </a:p>
        </p:txBody>
      </p:sp>
      <p:pic>
        <p:nvPicPr>
          <p:cNvPr id="4" name="图片 3">
            <a:extLst>
              <a:ext uri="{FF2B5EF4-FFF2-40B4-BE49-F238E27FC236}">
                <a16:creationId xmlns:a16="http://schemas.microsoft.com/office/drawing/2014/main" id="{A5E93CA1-00C8-53F2-016F-DE5A35690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40" y="2493532"/>
            <a:ext cx="10947141" cy="3499495"/>
          </a:xfrm>
          <a:prstGeom prst="rect">
            <a:avLst/>
          </a:prstGeom>
        </p:spPr>
      </p:pic>
      <p:sp>
        <p:nvSpPr>
          <p:cNvPr id="5" name="内容占位符 2">
            <a:extLst>
              <a:ext uri="{FF2B5EF4-FFF2-40B4-BE49-F238E27FC236}">
                <a16:creationId xmlns:a16="http://schemas.microsoft.com/office/drawing/2014/main" id="{AADD7A55-A229-D3BD-FB81-6E0DF7D56B9E}"/>
              </a:ext>
            </a:extLst>
          </p:cNvPr>
          <p:cNvSpPr txBox="1">
            <a:spLocks/>
          </p:cNvSpPr>
          <p:nvPr/>
        </p:nvSpPr>
        <p:spPr>
          <a:xfrm>
            <a:off x="1071741" y="864973"/>
            <a:ext cx="8640000" cy="1678921"/>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分割区间的策略</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a:lnSpc>
                <a:spcPct val="150000"/>
              </a:lnSpc>
              <a:spcBef>
                <a:spcPts val="600"/>
              </a:spcBef>
              <a:buClr>
                <a:srgbClr val="FF6600"/>
              </a:buClr>
              <a:buSzPct val="60000"/>
              <a:buFont typeface="Wingdings" panose="05000000000000000000" pitchFamily="2" charset="2"/>
              <a:buChar char="l"/>
            </a:pPr>
            <a:r>
              <a:rPr lang="zh-CN" altLang="en-US" sz="2200" dirty="0">
                <a:sym typeface="Times New Roman" panose="02020603050405020304" pitchFamily="18" charset="0"/>
              </a:rPr>
              <a:t>从最小值开始建立分割区间，开始计算各自的信息增益，选择</a:t>
            </a:r>
            <a:r>
              <a:rPr lang="zh-CN" altLang="en-US" sz="2200" b="1" dirty="0">
                <a:solidFill>
                  <a:srgbClr val="FF6600"/>
                </a:solidFill>
                <a:sym typeface="Times New Roman" panose="02020603050405020304" pitchFamily="18" charset="0"/>
              </a:rPr>
              <a:t>信息增益最大</a:t>
            </a:r>
            <a:r>
              <a:rPr lang="zh-CN" altLang="en-US" sz="2200" dirty="0">
                <a:sym typeface="Times New Roman" panose="02020603050405020304" pitchFamily="18" charset="0"/>
              </a:rPr>
              <a:t>的一个分割区间作为最佳划分点</a:t>
            </a:r>
            <a:endParaRPr lang="en-US" altLang="zh-CN" sz="2200" dirty="0">
              <a:sym typeface="Times New Roman" panose="02020603050405020304" pitchFamily="18" charset="0"/>
            </a:endParaRPr>
          </a:p>
        </p:txBody>
      </p:sp>
      <p:sp>
        <p:nvSpPr>
          <p:cNvPr id="6" name="文本框 5">
            <a:extLst>
              <a:ext uri="{FF2B5EF4-FFF2-40B4-BE49-F238E27FC236}">
                <a16:creationId xmlns:a16="http://schemas.microsoft.com/office/drawing/2014/main" id="{8EDEC019-7C20-ED59-56DC-C879C17A806A}"/>
              </a:ext>
            </a:extLst>
          </p:cNvPr>
          <p:cNvSpPr txBox="1"/>
          <p:nvPr/>
        </p:nvSpPr>
        <p:spPr>
          <a:xfrm>
            <a:off x="1495168" y="5993027"/>
            <a:ext cx="933269" cy="461665"/>
          </a:xfrm>
          <a:prstGeom prst="rect">
            <a:avLst/>
          </a:prstGeom>
          <a:noFill/>
        </p:spPr>
        <p:txBody>
          <a:bodyPr wrap="none" rtlCol="0">
            <a:spAutoFit/>
          </a:bodyPr>
          <a:lstStyle/>
          <a:p>
            <a:r>
              <a:rPr kumimoji="1" lang="en-US" altLang="zh-CN" sz="2400" b="1" dirty="0">
                <a:solidFill>
                  <a:srgbClr val="116AC4"/>
                </a:solidFill>
              </a:rPr>
              <a:t>Grain</a:t>
            </a:r>
            <a:endParaRPr kumimoji="1" lang="zh-CN" altLang="en-US" sz="2400" b="1" dirty="0">
              <a:solidFill>
                <a:srgbClr val="116AC4"/>
              </a:solidFill>
            </a:endParaRPr>
          </a:p>
        </p:txBody>
      </p:sp>
    </p:spTree>
    <p:extLst>
      <p:ext uri="{BB962C8B-B14F-4D97-AF65-F5344CB8AC3E}">
        <p14:creationId xmlns:p14="http://schemas.microsoft.com/office/powerpoint/2010/main" val="814336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F7CCE-DA3B-8C39-BE07-F91F66ABF0BE}"/>
              </a:ext>
            </a:extLst>
          </p:cNvPr>
          <p:cNvSpPr>
            <a:spLocks noGrp="1"/>
          </p:cNvSpPr>
          <p:nvPr>
            <p:ph type="title"/>
          </p:nvPr>
        </p:nvSpPr>
        <p:spPr/>
        <p:txBody>
          <a:bodyPr>
            <a:normAutofit fontScale="90000"/>
          </a:bodyPr>
          <a:lstStyle/>
          <a:p>
            <a:pPr algn="just" fontAlgn="base">
              <a:lnSpc>
                <a:spcPct val="150000"/>
              </a:lnSpc>
              <a:spcBef>
                <a:spcPts val="600"/>
              </a:spcBef>
              <a:spcAft>
                <a:spcPct val="0"/>
              </a:spcAft>
              <a:buClr>
                <a:srgbClr val="FF6600"/>
              </a:buClr>
              <a:buSzPct val="80000"/>
            </a:pPr>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决策树归纳的设计问题</a:t>
            </a:r>
          </a:p>
        </p:txBody>
      </p:sp>
      <p:sp>
        <p:nvSpPr>
          <p:cNvPr id="3" name="Rectangle 7">
            <a:extLst>
              <a:ext uri="{FF2B5EF4-FFF2-40B4-BE49-F238E27FC236}">
                <a16:creationId xmlns:a16="http://schemas.microsoft.com/office/drawing/2014/main" id="{4CA84B44-03E6-E6E5-1B3E-DFB8E2310658}"/>
              </a:ext>
            </a:extLst>
          </p:cNvPr>
          <p:cNvSpPr txBox="1">
            <a:spLocks noChangeArrowheads="1"/>
          </p:cNvSpPr>
          <p:nvPr/>
        </p:nvSpPr>
        <p:spPr>
          <a:xfrm>
            <a:off x="484959" y="1299697"/>
            <a:ext cx="10907969" cy="2473691"/>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dirty="0">
                <a:latin typeface="Times New Roman" panose="02020603050405020304" pitchFamily="18" charset="0"/>
                <a:ea typeface="微软雅黑" panose="020B0503020204020204" pitchFamily="34" charset="-122"/>
                <a:cs typeface="+mn-ea"/>
                <a:sym typeface="Times New Roman" panose="02020603050405020304" pitchFamily="18" charset="0"/>
              </a:rPr>
              <a:t>如何分裂训练记录？</a:t>
            </a:r>
          </a:p>
          <a:p>
            <a:pPr lvl="2" fontAlgn="base">
              <a:lnSpc>
                <a:spcPct val="150000"/>
              </a:lnSpc>
              <a:spcBef>
                <a:spcPts val="600"/>
              </a:spcBef>
              <a:spcAft>
                <a:spcPct val="0"/>
              </a:spcAft>
              <a:buClr>
                <a:srgbClr val="FF6700"/>
              </a:buClr>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怎样为不同类型的属性指定测试条件？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2" fontAlgn="base">
              <a:lnSpc>
                <a:spcPct val="150000"/>
              </a:lnSpc>
              <a:spcBef>
                <a:spcPts val="600"/>
              </a:spcBef>
              <a:spcAft>
                <a:spcPct val="0"/>
              </a:spcAft>
              <a:buClr>
                <a:srgbClr val="FF6700"/>
              </a:buClr>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怎样评估每种测试条件？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如何停止分裂过程？</a:t>
            </a:r>
          </a:p>
        </p:txBody>
      </p:sp>
    </p:spTree>
    <p:extLst>
      <p:ext uri="{BB962C8B-B14F-4D97-AF65-F5344CB8AC3E}">
        <p14:creationId xmlns:p14="http://schemas.microsoft.com/office/powerpoint/2010/main" val="912548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26FE86-6795-7AE5-B690-8CBED79F0A08}"/>
              </a:ext>
            </a:extLst>
          </p:cNvPr>
          <p:cNvSpPr>
            <a:spLocks noGrp="1"/>
          </p:cNvSpPr>
          <p:nvPr>
            <p:ph type="title"/>
          </p:nvPr>
        </p:nvSpPr>
        <p:spPr/>
        <p:txBody>
          <a:bodyPr>
            <a:normAutofit fontScale="90000"/>
          </a:bodyPr>
          <a:lstStyle/>
          <a:p>
            <a:r>
              <a:rPr kumimoji="1" lang="zh-CN" altLang="en-US" dirty="0"/>
              <a:t>决策树构建</a:t>
            </a:r>
          </a:p>
        </p:txBody>
      </p:sp>
      <p:sp>
        <p:nvSpPr>
          <p:cNvPr id="3" name="右箭头 2">
            <a:extLst>
              <a:ext uri="{FF2B5EF4-FFF2-40B4-BE49-F238E27FC236}">
                <a16:creationId xmlns:a16="http://schemas.microsoft.com/office/drawing/2014/main" id="{3AA7BF09-1BBF-A8DC-4569-F347C7023AFE}"/>
              </a:ext>
            </a:extLst>
          </p:cNvPr>
          <p:cNvSpPr/>
          <p:nvPr/>
        </p:nvSpPr>
        <p:spPr bwMode="auto">
          <a:xfrm>
            <a:off x="2372073" y="4143319"/>
            <a:ext cx="360000" cy="360000"/>
          </a:xfrm>
          <a:prstGeom prst="right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a:extLst>
              <a:ext uri="{FF2B5EF4-FFF2-40B4-BE49-F238E27FC236}">
                <a16:creationId xmlns:a16="http://schemas.microsoft.com/office/drawing/2014/main" id="{C0887C25-625F-B914-8137-A8E40D34CD15}"/>
              </a:ext>
            </a:extLst>
          </p:cNvPr>
          <p:cNvGrpSpPr/>
          <p:nvPr/>
        </p:nvGrpSpPr>
        <p:grpSpPr>
          <a:xfrm>
            <a:off x="2713176" y="4848045"/>
            <a:ext cx="1704112" cy="360000"/>
            <a:chOff x="3056732" y="3689048"/>
            <a:chExt cx="1704112" cy="360000"/>
          </a:xfrm>
        </p:grpSpPr>
        <p:sp>
          <p:nvSpPr>
            <p:cNvPr id="5" name="下箭头 4">
              <a:extLst>
                <a:ext uri="{FF2B5EF4-FFF2-40B4-BE49-F238E27FC236}">
                  <a16:creationId xmlns:a16="http://schemas.microsoft.com/office/drawing/2014/main" id="{104F3390-2891-B5DB-0692-65EDEC429A41}"/>
                </a:ext>
              </a:extLst>
            </p:cNvPr>
            <p:cNvSpPr/>
            <p:nvPr/>
          </p:nvSpPr>
          <p:spPr bwMode="auto">
            <a:xfrm rot="2001202">
              <a:off x="3056732"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下箭头 5">
              <a:extLst>
                <a:ext uri="{FF2B5EF4-FFF2-40B4-BE49-F238E27FC236}">
                  <a16:creationId xmlns:a16="http://schemas.microsoft.com/office/drawing/2014/main" id="{3A81DEC0-D16F-D82A-9867-CA7FCCA5CEB4}"/>
                </a:ext>
              </a:extLst>
            </p:cNvPr>
            <p:cNvSpPr/>
            <p:nvPr/>
          </p:nvSpPr>
          <p:spPr bwMode="auto">
            <a:xfrm rot="19406276">
              <a:off x="4400844"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下箭头 6">
              <a:extLst>
                <a:ext uri="{FF2B5EF4-FFF2-40B4-BE49-F238E27FC236}">
                  <a16:creationId xmlns:a16="http://schemas.microsoft.com/office/drawing/2014/main" id="{513DC015-6B19-059D-A485-1715108DB4BB}"/>
                </a:ext>
              </a:extLst>
            </p:cNvPr>
            <p:cNvSpPr/>
            <p:nvPr/>
          </p:nvSpPr>
          <p:spPr bwMode="auto">
            <a:xfrm>
              <a:off x="3728788"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 name="TextBox 7">
            <a:extLst>
              <a:ext uri="{FF2B5EF4-FFF2-40B4-BE49-F238E27FC236}">
                <a16:creationId xmlns:a16="http://schemas.microsoft.com/office/drawing/2014/main" id="{4C893529-D15C-0160-7C1C-78259735D4A2}"/>
              </a:ext>
            </a:extLst>
          </p:cNvPr>
          <p:cNvSpPr txBox="1"/>
          <p:nvPr/>
        </p:nvSpPr>
        <p:spPr>
          <a:xfrm>
            <a:off x="2387024" y="5247641"/>
            <a:ext cx="6477000" cy="369332"/>
          </a:xfrm>
          <a:prstGeom prst="rect">
            <a:avLst/>
          </a:prstGeom>
          <a:noFill/>
        </p:spPr>
        <p:txBody>
          <a:bodyPr wrap="square" rtlCol="0">
            <a:spAutoFit/>
          </a:bodyPr>
          <a:lstStyle/>
          <a:p>
            <a:pPr algn="ctr"/>
            <a:r>
              <a:rPr lang="zh-CN" altLang="en-US" sz="1800" b="0" dirty="0">
                <a:latin typeface="Times New Roman" panose="02020603050405020304" pitchFamily="18" charset="0"/>
                <a:ea typeface="微软雅黑" panose="020B0503020204020204" pitchFamily="34" charset="-122"/>
                <a:sym typeface="Times New Roman" panose="02020603050405020304" pitchFamily="18" charset="0"/>
              </a:rPr>
              <a:t>采用信息增益等准则继续往下分裂，直到数据都属于同一类</a:t>
            </a:r>
          </a:p>
        </p:txBody>
      </p:sp>
      <p:pic>
        <p:nvPicPr>
          <p:cNvPr id="9" name="Picture 2">
            <a:extLst>
              <a:ext uri="{FF2B5EF4-FFF2-40B4-BE49-F238E27FC236}">
                <a16:creationId xmlns:a16="http://schemas.microsoft.com/office/drawing/2014/main" id="{F370BA97-4371-F9A8-E21F-E620241D3FEB}"/>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8864024" y="2455817"/>
            <a:ext cx="3372057" cy="2429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Group 3">
            <a:extLst>
              <a:ext uri="{FF2B5EF4-FFF2-40B4-BE49-F238E27FC236}">
                <a16:creationId xmlns:a16="http://schemas.microsoft.com/office/drawing/2014/main" id="{42FD94BC-A585-6428-429B-3DCA70D0AB1D}"/>
              </a:ext>
            </a:extLst>
          </p:cNvPr>
          <p:cNvGraphicFramePr>
            <a:graphicFrameLocks/>
          </p:cNvGraphicFramePr>
          <p:nvPr>
            <p:extLst>
              <p:ext uri="{D42A27DB-BD31-4B8C-83A1-F6EECF244321}">
                <p14:modId xmlns:p14="http://schemas.microsoft.com/office/powerpoint/2010/main" val="945815530"/>
              </p:ext>
            </p:extLst>
          </p:nvPr>
        </p:nvGraphicFramePr>
        <p:xfrm>
          <a:off x="133941" y="2241634"/>
          <a:ext cx="2187232" cy="3190673"/>
        </p:xfrm>
        <a:graphic>
          <a:graphicData uri="http://schemas.openxmlformats.org/drawingml/2006/table">
            <a:tbl>
              <a:tblPr/>
              <a:tblGrid>
                <a:gridCol w="247956">
                  <a:extLst>
                    <a:ext uri="{9D8B030D-6E8A-4147-A177-3AD203B41FA5}">
                      <a16:colId xmlns:a16="http://schemas.microsoft.com/office/drawing/2014/main" val="20000"/>
                    </a:ext>
                  </a:extLst>
                </a:gridCol>
                <a:gridCol w="386289">
                  <a:extLst>
                    <a:ext uri="{9D8B030D-6E8A-4147-A177-3AD203B41FA5}">
                      <a16:colId xmlns:a16="http://schemas.microsoft.com/office/drawing/2014/main" val="20001"/>
                    </a:ext>
                  </a:extLst>
                </a:gridCol>
                <a:gridCol w="387159">
                  <a:extLst>
                    <a:ext uri="{9D8B030D-6E8A-4147-A177-3AD203B41FA5}">
                      <a16:colId xmlns:a16="http://schemas.microsoft.com/office/drawing/2014/main" val="20002"/>
                    </a:ext>
                  </a:extLst>
                </a:gridCol>
                <a:gridCol w="392380">
                  <a:extLst>
                    <a:ext uri="{9D8B030D-6E8A-4147-A177-3AD203B41FA5}">
                      <a16:colId xmlns:a16="http://schemas.microsoft.com/office/drawing/2014/main" val="20003"/>
                    </a:ext>
                  </a:extLst>
                </a:gridCol>
                <a:gridCol w="387159">
                  <a:extLst>
                    <a:ext uri="{9D8B030D-6E8A-4147-A177-3AD203B41FA5}">
                      <a16:colId xmlns:a16="http://schemas.microsoft.com/office/drawing/2014/main" val="20004"/>
                    </a:ext>
                  </a:extLst>
                </a:gridCol>
                <a:gridCol w="386289">
                  <a:extLst>
                    <a:ext uri="{9D8B030D-6E8A-4147-A177-3AD203B41FA5}">
                      <a16:colId xmlns:a16="http://schemas.microsoft.com/office/drawing/2014/main" val="20005"/>
                    </a:ext>
                  </a:extLst>
                </a:gridCol>
              </a:tblGrid>
              <a:tr h="248237">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年龄</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1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青</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210174">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55188" marR="55188" marT="27593" marB="27593"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老</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10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5188" marR="55188" marT="27593" marB="27593"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1" name="Group 3">
            <a:extLst>
              <a:ext uri="{FF2B5EF4-FFF2-40B4-BE49-F238E27FC236}">
                <a16:creationId xmlns:a16="http://schemas.microsoft.com/office/drawing/2014/main" id="{14A68946-921A-FA05-09E1-F467A1D68369}"/>
              </a:ext>
            </a:extLst>
          </p:cNvPr>
          <p:cNvGraphicFramePr>
            <a:graphicFrameLocks/>
          </p:cNvGraphicFramePr>
          <p:nvPr>
            <p:extLst>
              <p:ext uri="{D42A27DB-BD31-4B8C-83A1-F6EECF244321}">
                <p14:modId xmlns:p14="http://schemas.microsoft.com/office/powerpoint/2010/main" val="3635942456"/>
              </p:ext>
            </p:extLst>
          </p:nvPr>
        </p:nvGraphicFramePr>
        <p:xfrm>
          <a:off x="2716907" y="3435369"/>
          <a:ext cx="1843617" cy="1360900"/>
        </p:xfrm>
        <a:graphic>
          <a:graphicData uri="http://schemas.openxmlformats.org/drawingml/2006/table">
            <a:tbl>
              <a:tblPr/>
              <a:tblGrid>
                <a:gridCol w="253831">
                  <a:extLst>
                    <a:ext uri="{9D8B030D-6E8A-4147-A177-3AD203B41FA5}">
                      <a16:colId xmlns:a16="http://schemas.microsoft.com/office/drawing/2014/main" val="20000"/>
                    </a:ext>
                  </a:extLst>
                </a:gridCol>
                <a:gridCol w="396333">
                  <a:extLst>
                    <a:ext uri="{9D8B030D-6E8A-4147-A177-3AD203B41FA5}">
                      <a16:colId xmlns:a16="http://schemas.microsoft.com/office/drawing/2014/main" val="20002"/>
                    </a:ext>
                  </a:extLst>
                </a:gridCol>
                <a:gridCol w="401677">
                  <a:extLst>
                    <a:ext uri="{9D8B030D-6E8A-4147-A177-3AD203B41FA5}">
                      <a16:colId xmlns:a16="http://schemas.microsoft.com/office/drawing/2014/main" val="20003"/>
                    </a:ext>
                  </a:extLst>
                </a:gridCol>
                <a:gridCol w="396333">
                  <a:extLst>
                    <a:ext uri="{9D8B030D-6E8A-4147-A177-3AD203B41FA5}">
                      <a16:colId xmlns:a16="http://schemas.microsoft.com/office/drawing/2014/main" val="20004"/>
                    </a:ext>
                  </a:extLst>
                </a:gridCol>
                <a:gridCol w="395443">
                  <a:extLst>
                    <a:ext uri="{9D8B030D-6E8A-4147-A177-3AD203B41FA5}">
                      <a16:colId xmlns:a16="http://schemas.microsoft.com/office/drawing/2014/main" val="20005"/>
                    </a:ext>
                  </a:extLst>
                </a:gridCol>
              </a:tblGrid>
              <a:tr h="260045">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201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201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201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kern="1200" cap="none" normalizeH="0" baseline="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201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a:t>
                      </a: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 </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20171">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kern="1200" cap="none" normalizeH="0" baseline="0" dirty="0">
                          <a:ln>
                            <a:noFill/>
                          </a:ln>
                          <a:solidFill>
                            <a:srgbClr val="13548C"/>
                          </a:solidFill>
                          <a:effectLst/>
                          <a:latin typeface="Times New Roman" panose="02020603050405020304" pitchFamily="18" charset="0"/>
                          <a:ea typeface="微软雅黑" panose="020B0503020204020204" pitchFamily="34" charset="-122"/>
                          <a:cs typeface="+mn-cs"/>
                          <a:sym typeface="Times New Roman" panose="02020603050405020304" pitchFamily="18" charset="0"/>
                        </a:rPr>
                        <a:t>否</a:t>
                      </a: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2" name="Group 3">
            <a:extLst>
              <a:ext uri="{FF2B5EF4-FFF2-40B4-BE49-F238E27FC236}">
                <a16:creationId xmlns:a16="http://schemas.microsoft.com/office/drawing/2014/main" id="{5803F653-E262-5A5E-FAA5-57164755E33C}"/>
              </a:ext>
            </a:extLst>
          </p:cNvPr>
          <p:cNvGraphicFramePr>
            <a:graphicFrameLocks/>
          </p:cNvGraphicFramePr>
          <p:nvPr>
            <p:extLst>
              <p:ext uri="{D42A27DB-BD31-4B8C-83A1-F6EECF244321}">
                <p14:modId xmlns:p14="http://schemas.microsoft.com/office/powerpoint/2010/main" val="2488869861"/>
              </p:ext>
            </p:extLst>
          </p:nvPr>
        </p:nvGraphicFramePr>
        <p:xfrm>
          <a:off x="4705099" y="3435369"/>
          <a:ext cx="1843617" cy="1360900"/>
        </p:xfrm>
        <a:graphic>
          <a:graphicData uri="http://schemas.openxmlformats.org/drawingml/2006/table">
            <a:tbl>
              <a:tblPr/>
              <a:tblGrid>
                <a:gridCol w="253831">
                  <a:extLst>
                    <a:ext uri="{9D8B030D-6E8A-4147-A177-3AD203B41FA5}">
                      <a16:colId xmlns:a16="http://schemas.microsoft.com/office/drawing/2014/main" val="20000"/>
                    </a:ext>
                  </a:extLst>
                </a:gridCol>
                <a:gridCol w="396333">
                  <a:extLst>
                    <a:ext uri="{9D8B030D-6E8A-4147-A177-3AD203B41FA5}">
                      <a16:colId xmlns:a16="http://schemas.microsoft.com/office/drawing/2014/main" val="20002"/>
                    </a:ext>
                  </a:extLst>
                </a:gridCol>
                <a:gridCol w="401677">
                  <a:extLst>
                    <a:ext uri="{9D8B030D-6E8A-4147-A177-3AD203B41FA5}">
                      <a16:colId xmlns:a16="http://schemas.microsoft.com/office/drawing/2014/main" val="20003"/>
                    </a:ext>
                  </a:extLst>
                </a:gridCol>
                <a:gridCol w="396333">
                  <a:extLst>
                    <a:ext uri="{9D8B030D-6E8A-4147-A177-3AD203B41FA5}">
                      <a16:colId xmlns:a16="http://schemas.microsoft.com/office/drawing/2014/main" val="20004"/>
                    </a:ext>
                  </a:extLst>
                </a:gridCol>
                <a:gridCol w="395443">
                  <a:extLst>
                    <a:ext uri="{9D8B030D-6E8A-4147-A177-3AD203B41FA5}">
                      <a16:colId xmlns:a16="http://schemas.microsoft.com/office/drawing/2014/main" val="20005"/>
                    </a:ext>
                  </a:extLst>
                </a:gridCol>
              </a:tblGrid>
              <a:tr h="260045">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9</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889" marB="28889"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13" name="Group 3">
            <a:extLst>
              <a:ext uri="{FF2B5EF4-FFF2-40B4-BE49-F238E27FC236}">
                <a16:creationId xmlns:a16="http://schemas.microsoft.com/office/drawing/2014/main" id="{E85ECE9A-9154-C5C5-044B-5BA31EDE9D6A}"/>
              </a:ext>
            </a:extLst>
          </p:cNvPr>
          <p:cNvGraphicFramePr>
            <a:graphicFrameLocks/>
          </p:cNvGraphicFramePr>
          <p:nvPr>
            <p:extLst>
              <p:ext uri="{D42A27DB-BD31-4B8C-83A1-F6EECF244321}">
                <p14:modId xmlns:p14="http://schemas.microsoft.com/office/powerpoint/2010/main" val="1229745846"/>
              </p:ext>
            </p:extLst>
          </p:nvPr>
        </p:nvGraphicFramePr>
        <p:xfrm>
          <a:off x="6680934" y="3664368"/>
          <a:ext cx="1843615" cy="1140729"/>
        </p:xfrm>
        <a:graphic>
          <a:graphicData uri="http://schemas.openxmlformats.org/drawingml/2006/table">
            <a:tbl>
              <a:tblPr/>
              <a:tblGrid>
                <a:gridCol w="253831">
                  <a:extLst>
                    <a:ext uri="{9D8B030D-6E8A-4147-A177-3AD203B41FA5}">
                      <a16:colId xmlns:a16="http://schemas.microsoft.com/office/drawing/2014/main" val="20000"/>
                    </a:ext>
                  </a:extLst>
                </a:gridCol>
                <a:gridCol w="396332">
                  <a:extLst>
                    <a:ext uri="{9D8B030D-6E8A-4147-A177-3AD203B41FA5}">
                      <a16:colId xmlns:a16="http://schemas.microsoft.com/office/drawing/2014/main" val="20002"/>
                    </a:ext>
                  </a:extLst>
                </a:gridCol>
                <a:gridCol w="401677">
                  <a:extLst>
                    <a:ext uri="{9D8B030D-6E8A-4147-A177-3AD203B41FA5}">
                      <a16:colId xmlns:a16="http://schemas.microsoft.com/office/drawing/2014/main" val="20003"/>
                    </a:ext>
                  </a:extLst>
                </a:gridCol>
                <a:gridCol w="396332">
                  <a:extLst>
                    <a:ext uri="{9D8B030D-6E8A-4147-A177-3AD203B41FA5}">
                      <a16:colId xmlns:a16="http://schemas.microsoft.com/office/drawing/2014/main" val="20004"/>
                    </a:ext>
                  </a:extLst>
                </a:gridCol>
                <a:gridCol w="395443">
                  <a:extLst>
                    <a:ext uri="{9D8B030D-6E8A-4147-A177-3AD203B41FA5}">
                      <a16:colId xmlns:a16="http://schemas.microsoft.com/office/drawing/2014/main" val="20005"/>
                    </a:ext>
                  </a:extLst>
                </a:gridCol>
              </a:tblGrid>
              <a:tr h="260045">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en-US" altLang="zh-CN"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爱好</a:t>
                      </a:r>
                      <a:endParaRPr kumimoji="0" lang="zh-CN" altLang="en-US"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信用</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342900" marR="0" lvl="0" indent="-342900" algn="ctr" defTabSz="914400" rtl="0" eaLnBrk="1" fontAlgn="b" latinLnBrk="0" hangingPunct="1">
                        <a:lnSpc>
                          <a:spcPct val="100000"/>
                        </a:lnSpc>
                        <a:spcBef>
                          <a:spcPct val="0"/>
                        </a:spcBef>
                        <a:spcAft>
                          <a:spcPct val="0"/>
                        </a:spcAft>
                        <a:buClrTx/>
                        <a:buSzPct val="100000"/>
                        <a:buFontTx/>
                        <a:buNone/>
                        <a:tabLst/>
                      </a:pPr>
                      <a:r>
                        <a:rPr kumimoji="0" lang="zh-CN" altLang="en-US" sz="9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购买</a:t>
                      </a:r>
                      <a:endPar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06" marB="28906"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低</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12</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220171">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13</a:t>
                      </a:r>
                      <a:endParaRPr kumimoji="0" lang="en-US" altLang="zh-CN"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中</a:t>
                      </a:r>
                      <a:endParaRPr kumimoji="0" lang="zh-CN" altLang="en-US" sz="14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spcBef>
                          <a:spcPct val="20000"/>
                        </a:spcBef>
                        <a:buClr>
                          <a:schemeClr val="bg2"/>
                        </a:buClr>
                        <a:buSzPct val="75000"/>
                        <a:buFont typeface="Wingdings" pitchFamily="2" charset="2"/>
                        <a:defRPr sz="2800">
                          <a:solidFill>
                            <a:schemeClr val="tx1"/>
                          </a:solidFill>
                          <a:latin typeface="Arial" charset="0"/>
                          <a:ea typeface="楷体_GB2312" pitchFamily="49" charset="-122"/>
                        </a:defRPr>
                      </a:lvl1pPr>
                      <a:lvl2pPr>
                        <a:spcBef>
                          <a:spcPct val="20000"/>
                        </a:spcBef>
                        <a:buClr>
                          <a:schemeClr val="accent2"/>
                        </a:buClr>
                        <a:buSzPct val="80000"/>
                        <a:buFont typeface="Wingdings" pitchFamily="2" charset="2"/>
                        <a:defRPr sz="2400">
                          <a:solidFill>
                            <a:schemeClr val="tx1"/>
                          </a:solidFill>
                          <a:latin typeface="Arial" charset="0"/>
                          <a:ea typeface="楷体_GB2312" pitchFamily="49" charset="-122"/>
                        </a:defRPr>
                      </a:lvl2pPr>
                      <a:lvl3pPr>
                        <a:spcBef>
                          <a:spcPct val="20000"/>
                        </a:spcBef>
                        <a:buClr>
                          <a:schemeClr val="bg2"/>
                        </a:buClr>
                        <a:buSzPct val="65000"/>
                        <a:buFont typeface="Wingdings" pitchFamily="2" charset="2"/>
                        <a:defRPr sz="2000">
                          <a:solidFill>
                            <a:schemeClr val="tx1"/>
                          </a:solidFill>
                          <a:latin typeface="Arial" charset="0"/>
                          <a:ea typeface="楷体_GB2312" pitchFamily="49" charset="-122"/>
                        </a:defRPr>
                      </a:lvl3pPr>
                      <a:lvl4pPr>
                        <a:spcBef>
                          <a:spcPct val="20000"/>
                        </a:spcBef>
                        <a:buClr>
                          <a:schemeClr val="accent2"/>
                        </a:buClr>
                        <a:buSzPct val="70000"/>
                        <a:buFont typeface="Wingdings" pitchFamily="2" charset="2"/>
                        <a:defRPr>
                          <a:solidFill>
                            <a:schemeClr val="tx1"/>
                          </a:solidFill>
                          <a:latin typeface="Arial" charset="0"/>
                          <a:ea typeface="楷体_GB2312" pitchFamily="49" charset="-122"/>
                        </a:defRPr>
                      </a:lvl4pPr>
                      <a:lvl5pPr>
                        <a:spcBef>
                          <a:spcPct val="20000"/>
                        </a:spcBef>
                        <a:buClr>
                          <a:schemeClr val="bg2"/>
                        </a:buClr>
                        <a:buFont typeface="Wingdings" pitchFamily="2" charset="2"/>
                        <a:defRPr>
                          <a:solidFill>
                            <a:schemeClr val="tx1"/>
                          </a:solidFill>
                          <a:latin typeface="Arial" charset="0"/>
                          <a:ea typeface="楷体_GB2312" pitchFamily="49" charset="-122"/>
                        </a:defRPr>
                      </a:lvl5pPr>
                      <a:lvl6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6pPr>
                      <a:lvl7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7pPr>
                      <a:lvl8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8pPr>
                      <a:lvl9pPr fontAlgn="base">
                        <a:spcBef>
                          <a:spcPct val="20000"/>
                        </a:spcBef>
                        <a:spcAft>
                          <a:spcPct val="0"/>
                        </a:spcAft>
                        <a:buClr>
                          <a:schemeClr val="bg2"/>
                        </a:buClr>
                        <a:buFont typeface="Wingdings" pitchFamily="2" charset="2"/>
                        <a:defRPr>
                          <a:solidFill>
                            <a:schemeClr val="tx1"/>
                          </a:solidFill>
                          <a:latin typeface="Arial" charset="0"/>
                          <a:ea typeface="楷体_GB2312" pitchFamily="49" charset="-122"/>
                        </a:defRPr>
                      </a:lvl9p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9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1400" b="0" i="0" u="none" strike="noStrike" cap="none" normalizeH="0" baseline="0" dirty="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57812" marR="57812" marT="28914" marB="28914" anchor="b"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bl>
          </a:graphicData>
        </a:graphic>
      </p:graphicFrame>
      <p:grpSp>
        <p:nvGrpSpPr>
          <p:cNvPr id="14" name="组合 13">
            <a:extLst>
              <a:ext uri="{FF2B5EF4-FFF2-40B4-BE49-F238E27FC236}">
                <a16:creationId xmlns:a16="http://schemas.microsoft.com/office/drawing/2014/main" id="{FFAC7975-FDDF-39F7-DAFB-28E334182213}"/>
              </a:ext>
            </a:extLst>
          </p:cNvPr>
          <p:cNvGrpSpPr/>
          <p:nvPr/>
        </p:nvGrpSpPr>
        <p:grpSpPr>
          <a:xfrm>
            <a:off x="3843065" y="2045013"/>
            <a:ext cx="3584104" cy="1332766"/>
            <a:chOff x="3890326" y="649866"/>
            <a:chExt cx="4228301" cy="1572313"/>
          </a:xfrm>
        </p:grpSpPr>
        <p:sp>
          <p:nvSpPr>
            <p:cNvPr id="15" name="AutoShape 53">
              <a:extLst>
                <a:ext uri="{FF2B5EF4-FFF2-40B4-BE49-F238E27FC236}">
                  <a16:creationId xmlns:a16="http://schemas.microsoft.com/office/drawing/2014/main" id="{66ABF6B8-5432-7ECA-6BEB-EE1178306DA9}"/>
                </a:ext>
              </a:extLst>
            </p:cNvPr>
            <p:cNvSpPr>
              <a:spLocks noChangeArrowheads="1"/>
            </p:cNvSpPr>
            <p:nvPr/>
          </p:nvSpPr>
          <p:spPr bwMode="auto">
            <a:xfrm rot="8446944">
              <a:off x="3890326" y="1486749"/>
              <a:ext cx="1698822" cy="358775"/>
            </a:xfrm>
            <a:prstGeom prst="rightArrow">
              <a:avLst>
                <a:gd name="adj1" fmla="val 35398"/>
                <a:gd name="adj2" fmla="val 128013"/>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Text Box 54">
              <a:extLst>
                <a:ext uri="{FF2B5EF4-FFF2-40B4-BE49-F238E27FC236}">
                  <a16:creationId xmlns:a16="http://schemas.microsoft.com/office/drawing/2014/main" id="{F77FAC4E-AB36-4C2D-3803-122669E6A4AF}"/>
                </a:ext>
              </a:extLst>
            </p:cNvPr>
            <p:cNvSpPr txBox="1">
              <a:spLocks noChangeArrowheads="1"/>
            </p:cNvSpPr>
            <p:nvPr/>
          </p:nvSpPr>
          <p:spPr bwMode="auto">
            <a:xfrm>
              <a:off x="3966221" y="117867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老年</a:t>
              </a:r>
            </a:p>
          </p:txBody>
        </p:sp>
        <p:sp>
          <p:nvSpPr>
            <p:cNvPr id="17" name="AutoShape 97">
              <a:extLst>
                <a:ext uri="{FF2B5EF4-FFF2-40B4-BE49-F238E27FC236}">
                  <a16:creationId xmlns:a16="http://schemas.microsoft.com/office/drawing/2014/main" id="{32890F08-7747-041F-B8F4-0D2682466987}"/>
                </a:ext>
              </a:extLst>
            </p:cNvPr>
            <p:cNvSpPr>
              <a:spLocks noChangeArrowheads="1"/>
            </p:cNvSpPr>
            <p:nvPr/>
          </p:nvSpPr>
          <p:spPr bwMode="auto">
            <a:xfrm rot="5400000">
              <a:off x="5430556" y="1449066"/>
              <a:ext cx="1187450" cy="358775"/>
            </a:xfrm>
            <a:prstGeom prst="rightArrow">
              <a:avLst>
                <a:gd name="adj1" fmla="val 35398"/>
                <a:gd name="adj2" fmla="val 74055"/>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Text Box 98">
              <a:extLst>
                <a:ext uri="{FF2B5EF4-FFF2-40B4-BE49-F238E27FC236}">
                  <a16:creationId xmlns:a16="http://schemas.microsoft.com/office/drawing/2014/main" id="{3CC58457-F208-3DC9-7B4F-FBEE40F1BDEE}"/>
                </a:ext>
              </a:extLst>
            </p:cNvPr>
            <p:cNvSpPr txBox="1">
              <a:spLocks noChangeArrowheads="1"/>
            </p:cNvSpPr>
            <p:nvPr/>
          </p:nvSpPr>
          <p:spPr bwMode="auto">
            <a:xfrm>
              <a:off x="5072461" y="1355751"/>
              <a:ext cx="973138" cy="4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中年</a:t>
              </a:r>
            </a:p>
          </p:txBody>
        </p:sp>
        <p:sp>
          <p:nvSpPr>
            <p:cNvPr id="19" name="AutoShape 147">
              <a:extLst>
                <a:ext uri="{FF2B5EF4-FFF2-40B4-BE49-F238E27FC236}">
                  <a16:creationId xmlns:a16="http://schemas.microsoft.com/office/drawing/2014/main" id="{6BD0C70A-B748-251F-9FFC-99DB23B0A4E6}"/>
                </a:ext>
              </a:extLst>
            </p:cNvPr>
            <p:cNvSpPr>
              <a:spLocks noChangeArrowheads="1"/>
            </p:cNvSpPr>
            <p:nvPr/>
          </p:nvSpPr>
          <p:spPr bwMode="auto">
            <a:xfrm rot="2333833">
              <a:off x="6419805" y="1518033"/>
              <a:ext cx="1698822" cy="339764"/>
            </a:xfrm>
            <a:prstGeom prst="rightArrow">
              <a:avLst>
                <a:gd name="adj1" fmla="val 35398"/>
                <a:gd name="adj2" fmla="val 122369"/>
              </a:avLst>
            </a:prstGeom>
            <a:solidFill>
              <a:srgbClr val="FF6600"/>
            </a:solidFill>
            <a:ln>
              <a:noFill/>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eaLnBrk="1" hangingPunct="1">
                <a:spcBef>
                  <a:spcPct val="0"/>
                </a:spcBef>
                <a:buClrTx/>
                <a:buSzTx/>
                <a:buFontTx/>
                <a:buNone/>
                <a:defRPr/>
              </a:pPr>
              <a:endParaRPr lang="zh-CN" altLang="en-US" sz="1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Text Box 148">
              <a:extLst>
                <a:ext uri="{FF2B5EF4-FFF2-40B4-BE49-F238E27FC236}">
                  <a16:creationId xmlns:a16="http://schemas.microsoft.com/office/drawing/2014/main" id="{1B363112-A5A9-CDD1-36F5-B062A91CEF52}"/>
                </a:ext>
              </a:extLst>
            </p:cNvPr>
            <p:cNvSpPr txBox="1">
              <a:spLocks noChangeArrowheads="1"/>
            </p:cNvSpPr>
            <p:nvPr/>
          </p:nvSpPr>
          <p:spPr bwMode="auto">
            <a:xfrm>
              <a:off x="7234454" y="1174444"/>
              <a:ext cx="840296" cy="472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spcBef>
                  <a:spcPct val="20000"/>
                </a:spcBef>
                <a:buClr>
                  <a:schemeClr val="bg2"/>
                </a:buClr>
                <a:buSzPct val="75000"/>
                <a:buFont typeface="Wingdings" charset="2"/>
                <a:buChar char="n"/>
                <a:defRPr sz="3200">
                  <a:solidFill>
                    <a:schemeClr val="tx1"/>
                  </a:solidFill>
                  <a:latin typeface="Arial" charset="0"/>
                  <a:ea typeface="楷体_GB2312"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楷体_GB2312"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楷体_GB2312"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楷体_GB2312" charset="0"/>
                </a:defRPr>
              </a:lvl4pPr>
              <a:lvl5pPr marL="2057400" indent="-228600">
                <a:spcBef>
                  <a:spcPct val="20000"/>
                </a:spcBef>
                <a:buClr>
                  <a:schemeClr val="bg2"/>
                </a:buClr>
                <a:buFont typeface="Wingdings" charset="2"/>
                <a:buChar char="§"/>
                <a:defRPr sz="2000">
                  <a:solidFill>
                    <a:schemeClr val="tx1"/>
                  </a:solidFill>
                  <a:latin typeface="Arial" charset="0"/>
                  <a:ea typeface="楷体_GB2312"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楷体_GB2312" charset="0"/>
                </a:defRPr>
              </a:lvl9pPr>
            </a:lstStyle>
            <a:p>
              <a:pPr algn="ctr" eaLnBrk="1" hangingPunct="1">
                <a:buClr>
                  <a:schemeClr val="accent2"/>
                </a:buClr>
                <a:buSzTx/>
                <a:buFont typeface="Wingdings" charset="2"/>
                <a:buNone/>
                <a:defRPr/>
              </a:pPr>
              <a:r>
                <a:rPr lang="zh-CN" altLang="en-US" sz="2000" b="0">
                  <a:latin typeface="Times New Roman" panose="02020603050405020304" pitchFamily="18" charset="0"/>
                  <a:ea typeface="微软雅黑" panose="020B0503020204020204" pitchFamily="34" charset="-122"/>
                  <a:sym typeface="Times New Roman" panose="02020603050405020304" pitchFamily="18" charset="0"/>
                </a:rPr>
                <a:t>青年</a:t>
              </a:r>
            </a:p>
          </p:txBody>
        </p:sp>
        <p:sp>
          <p:nvSpPr>
            <p:cNvPr id="21" name="Oval 52">
              <a:extLst>
                <a:ext uri="{FF2B5EF4-FFF2-40B4-BE49-F238E27FC236}">
                  <a16:creationId xmlns:a16="http://schemas.microsoft.com/office/drawing/2014/main" id="{B2793A36-0985-040C-73A1-DB960A923173}"/>
                </a:ext>
              </a:extLst>
            </p:cNvPr>
            <p:cNvSpPr>
              <a:spLocks noChangeArrowheads="1"/>
            </p:cNvSpPr>
            <p:nvPr/>
          </p:nvSpPr>
          <p:spPr bwMode="auto">
            <a:xfrm>
              <a:off x="4980499" y="649866"/>
              <a:ext cx="2087563" cy="576263"/>
            </a:xfrm>
            <a:prstGeom prst="ellipse">
              <a:avLst/>
            </a:prstGeom>
            <a:solidFill>
              <a:schemeClr val="accent6">
                <a:lumMod val="20000"/>
                <a:lumOff val="80000"/>
              </a:schemeClr>
            </a:solidFill>
            <a:ln w="9525">
              <a:solidFill>
                <a:srgbClr val="FF6600"/>
              </a:solidFill>
              <a:round/>
              <a:headEnd/>
              <a:tailEnd/>
            </a:ln>
            <a:effectLst/>
          </p:spPr>
          <p:txBody>
            <a:bodyPr wrap="none" anchor="ctr"/>
            <a:lstStyle/>
            <a:p>
              <a:pPr marL="469900" indent="-469900" algn="ctr" eaLnBrk="1" hangingPunct="1">
                <a:spcBef>
                  <a:spcPct val="20000"/>
                </a:spcBef>
                <a:buClr>
                  <a:schemeClr val="accent2"/>
                </a:buClr>
                <a:buFont typeface="Wingdings" pitchFamily="2" charset="2"/>
                <a:buNone/>
              </a:pPr>
              <a:r>
                <a:rPr lang="zh-CN" altLang="en-US" sz="2400" b="0">
                  <a:latin typeface="Times New Roman" panose="02020603050405020304" pitchFamily="18" charset="0"/>
                  <a:ea typeface="微软雅黑" panose="020B0503020204020204" pitchFamily="34" charset="-122"/>
                  <a:sym typeface="Times New Roman" panose="02020603050405020304" pitchFamily="18" charset="0"/>
                </a:rPr>
                <a:t>年龄</a:t>
              </a:r>
            </a:p>
          </p:txBody>
        </p:sp>
      </p:grpSp>
      <p:grpSp>
        <p:nvGrpSpPr>
          <p:cNvPr id="22" name="组合 21">
            <a:extLst>
              <a:ext uri="{FF2B5EF4-FFF2-40B4-BE49-F238E27FC236}">
                <a16:creationId xmlns:a16="http://schemas.microsoft.com/office/drawing/2014/main" id="{E0A4779F-4202-9D3A-488A-FDD9B112EA35}"/>
              </a:ext>
            </a:extLst>
          </p:cNvPr>
          <p:cNvGrpSpPr/>
          <p:nvPr/>
        </p:nvGrpSpPr>
        <p:grpSpPr>
          <a:xfrm>
            <a:off x="4773468" y="4848045"/>
            <a:ext cx="1704112" cy="360000"/>
            <a:chOff x="3056732" y="3689048"/>
            <a:chExt cx="1704112" cy="360000"/>
          </a:xfrm>
        </p:grpSpPr>
        <p:sp>
          <p:nvSpPr>
            <p:cNvPr id="23" name="下箭头 5">
              <a:extLst>
                <a:ext uri="{FF2B5EF4-FFF2-40B4-BE49-F238E27FC236}">
                  <a16:creationId xmlns:a16="http://schemas.microsoft.com/office/drawing/2014/main" id="{FBB8B166-DA08-9EDD-0717-AC80CC8ABEFD}"/>
                </a:ext>
              </a:extLst>
            </p:cNvPr>
            <p:cNvSpPr/>
            <p:nvPr/>
          </p:nvSpPr>
          <p:spPr bwMode="auto">
            <a:xfrm rot="2001202">
              <a:off x="3056732"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下箭头 20">
              <a:extLst>
                <a:ext uri="{FF2B5EF4-FFF2-40B4-BE49-F238E27FC236}">
                  <a16:creationId xmlns:a16="http://schemas.microsoft.com/office/drawing/2014/main" id="{CC85DEC3-AFEC-37D2-B7DC-BD920336D5C6}"/>
                </a:ext>
              </a:extLst>
            </p:cNvPr>
            <p:cNvSpPr/>
            <p:nvPr/>
          </p:nvSpPr>
          <p:spPr bwMode="auto">
            <a:xfrm rot="19406276">
              <a:off x="4400844"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下箭头 6">
              <a:extLst>
                <a:ext uri="{FF2B5EF4-FFF2-40B4-BE49-F238E27FC236}">
                  <a16:creationId xmlns:a16="http://schemas.microsoft.com/office/drawing/2014/main" id="{7D4833EB-63C1-3042-DEA7-ED9B2A2A212C}"/>
                </a:ext>
              </a:extLst>
            </p:cNvPr>
            <p:cNvSpPr/>
            <p:nvPr/>
          </p:nvSpPr>
          <p:spPr bwMode="auto">
            <a:xfrm>
              <a:off x="3728788"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6" name="组合 25">
            <a:extLst>
              <a:ext uri="{FF2B5EF4-FFF2-40B4-BE49-F238E27FC236}">
                <a16:creationId xmlns:a16="http://schemas.microsoft.com/office/drawing/2014/main" id="{F998A18F-7AB5-6522-AAE7-49E6A1F0282A}"/>
              </a:ext>
            </a:extLst>
          </p:cNvPr>
          <p:cNvGrpSpPr/>
          <p:nvPr/>
        </p:nvGrpSpPr>
        <p:grpSpPr>
          <a:xfrm>
            <a:off x="6850136" y="4848045"/>
            <a:ext cx="1704112" cy="360000"/>
            <a:chOff x="3056732" y="3689048"/>
            <a:chExt cx="1704112" cy="360000"/>
          </a:xfrm>
        </p:grpSpPr>
        <p:sp>
          <p:nvSpPr>
            <p:cNvPr id="27" name="下箭头 5">
              <a:extLst>
                <a:ext uri="{FF2B5EF4-FFF2-40B4-BE49-F238E27FC236}">
                  <a16:creationId xmlns:a16="http://schemas.microsoft.com/office/drawing/2014/main" id="{1F80FE6C-AE55-7A89-E709-4FD5C60BD36D}"/>
                </a:ext>
              </a:extLst>
            </p:cNvPr>
            <p:cNvSpPr/>
            <p:nvPr/>
          </p:nvSpPr>
          <p:spPr bwMode="auto">
            <a:xfrm rot="2001202">
              <a:off x="3056732"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下箭头 20">
              <a:extLst>
                <a:ext uri="{FF2B5EF4-FFF2-40B4-BE49-F238E27FC236}">
                  <a16:creationId xmlns:a16="http://schemas.microsoft.com/office/drawing/2014/main" id="{FA154FA6-793D-18AB-CC9F-889DF60D56A8}"/>
                </a:ext>
              </a:extLst>
            </p:cNvPr>
            <p:cNvSpPr/>
            <p:nvPr/>
          </p:nvSpPr>
          <p:spPr bwMode="auto">
            <a:xfrm rot="19406276">
              <a:off x="4400844"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下箭头 6">
              <a:extLst>
                <a:ext uri="{FF2B5EF4-FFF2-40B4-BE49-F238E27FC236}">
                  <a16:creationId xmlns:a16="http://schemas.microsoft.com/office/drawing/2014/main" id="{F3A42EE0-F323-A9F2-06C5-29280882FCDB}"/>
                </a:ext>
              </a:extLst>
            </p:cNvPr>
            <p:cNvSpPr/>
            <p:nvPr/>
          </p:nvSpPr>
          <p:spPr bwMode="auto">
            <a:xfrm>
              <a:off x="3728788" y="3689048"/>
              <a:ext cx="360000" cy="360000"/>
            </a:xfrm>
            <a:prstGeom prst="down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30" name="右箭头 29">
            <a:extLst>
              <a:ext uri="{FF2B5EF4-FFF2-40B4-BE49-F238E27FC236}">
                <a16:creationId xmlns:a16="http://schemas.microsoft.com/office/drawing/2014/main" id="{419A8847-0348-33B8-571F-16B02C83AC05}"/>
              </a:ext>
            </a:extLst>
          </p:cNvPr>
          <p:cNvSpPr/>
          <p:nvPr/>
        </p:nvSpPr>
        <p:spPr bwMode="auto">
          <a:xfrm>
            <a:off x="8582522" y="4079117"/>
            <a:ext cx="360000" cy="360000"/>
          </a:xfrm>
          <a:prstGeom prst="rightArrow">
            <a:avLst/>
          </a:prstGeom>
          <a:solidFill>
            <a:srgbClr val="FF66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624573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3B151-E47F-DB92-A49C-D23A13DB2A9A}"/>
              </a:ext>
            </a:extLst>
          </p:cNvPr>
          <p:cNvSpPr>
            <a:spLocks noGrp="1"/>
          </p:cNvSpPr>
          <p:nvPr>
            <p:ph type="title"/>
          </p:nvPr>
        </p:nvSpPr>
        <p:spPr/>
        <p:txBody>
          <a:bodyPr>
            <a:normAutofit fontScale="90000"/>
          </a:bodyPr>
          <a:lstStyle/>
          <a:p>
            <a:r>
              <a:rPr kumimoji="1" lang="en-US" altLang="zh-CN" dirty="0"/>
              <a:t>CART</a:t>
            </a:r>
            <a:r>
              <a:rPr kumimoji="1" lang="zh-CN" altLang="en-US" dirty="0"/>
              <a:t>决策树构建</a:t>
            </a:r>
            <a:r>
              <a:rPr kumimoji="1" lang="en-US" altLang="zh-CN" dirty="0"/>
              <a:t>-</a:t>
            </a:r>
            <a:r>
              <a:rPr kumimoji="1" lang="zh-CN" altLang="en-US" dirty="0"/>
              <a:t>案例</a:t>
            </a:r>
          </a:p>
        </p:txBody>
      </p:sp>
      <p:sp>
        <p:nvSpPr>
          <p:cNvPr id="3" name="Text Box 93">
            <a:extLst>
              <a:ext uri="{FF2B5EF4-FFF2-40B4-BE49-F238E27FC236}">
                <a16:creationId xmlns:a16="http://schemas.microsoft.com/office/drawing/2014/main" id="{9EA254BC-E54E-F85E-996C-B52F14C71F40}"/>
              </a:ext>
            </a:extLst>
          </p:cNvPr>
          <p:cNvSpPr txBox="1">
            <a:spLocks noChangeArrowheads="1"/>
          </p:cNvSpPr>
          <p:nvPr/>
        </p:nvSpPr>
        <p:spPr bwMode="auto">
          <a:xfrm>
            <a:off x="770022" y="840345"/>
            <a:ext cx="5498604" cy="405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69900" indent="-469900">
              <a:defRPr sz="3200">
                <a:solidFill>
                  <a:schemeClr val="tx1"/>
                </a:solidFill>
                <a:latin typeface="Arial" charset="0"/>
                <a:ea typeface="楷体_GB2312" pitchFamily="49" charset="-122"/>
              </a:defRPr>
            </a:lvl1pPr>
            <a:lvl2pPr>
              <a:defRPr sz="2800">
                <a:solidFill>
                  <a:schemeClr val="tx1"/>
                </a:solidFill>
                <a:latin typeface="Arial" charset="0"/>
                <a:ea typeface="楷体_GB2312" pitchFamily="49" charset="-122"/>
              </a:defRPr>
            </a:lvl2pPr>
            <a:lvl3pPr>
              <a:defRPr sz="2400">
                <a:solidFill>
                  <a:schemeClr val="tx1"/>
                </a:solidFill>
                <a:latin typeface="Arial" charset="0"/>
                <a:ea typeface="楷体_GB2312" pitchFamily="49" charset="-122"/>
              </a:defRPr>
            </a:lvl3pPr>
            <a:lvl4pPr>
              <a:defRPr sz="2000">
                <a:solidFill>
                  <a:schemeClr val="tx1"/>
                </a:solidFill>
                <a:latin typeface="Arial" charset="0"/>
                <a:ea typeface="楷体_GB2312" pitchFamily="49" charset="-122"/>
              </a:defRPr>
            </a:lvl4pPr>
            <a:lvl5pPr>
              <a:defRPr sz="2000">
                <a:solidFill>
                  <a:schemeClr val="tx1"/>
                </a:solidFill>
                <a:latin typeface="Arial" charset="0"/>
                <a:ea typeface="楷体_GB2312" pitchFamily="49" charset="-122"/>
              </a:defRPr>
            </a:lvl5pPr>
            <a:lvl6pPr eaLnBrk="0" hangingPunct="0">
              <a:defRPr sz="2000">
                <a:solidFill>
                  <a:schemeClr val="tx1"/>
                </a:solidFill>
                <a:latin typeface="Arial" charset="0"/>
                <a:ea typeface="楷体_GB2312" pitchFamily="49" charset="-122"/>
              </a:defRPr>
            </a:lvl6pPr>
            <a:lvl7pPr eaLnBrk="0" hangingPunct="0">
              <a:defRPr sz="2000">
                <a:solidFill>
                  <a:schemeClr val="tx1"/>
                </a:solidFill>
                <a:latin typeface="Arial" charset="0"/>
                <a:ea typeface="楷体_GB2312" pitchFamily="49" charset="-122"/>
              </a:defRPr>
            </a:lvl7pPr>
            <a:lvl8pPr eaLnBrk="0" hangingPunct="0">
              <a:defRPr sz="2000">
                <a:solidFill>
                  <a:schemeClr val="tx1"/>
                </a:solidFill>
                <a:latin typeface="Arial" charset="0"/>
                <a:ea typeface="楷体_GB2312" pitchFamily="49" charset="-122"/>
              </a:defRPr>
            </a:lvl8pPr>
            <a:lvl9pPr eaLnBrk="0" hangingPunct="0">
              <a:defRPr sz="2000">
                <a:solidFill>
                  <a:schemeClr val="tx1"/>
                </a:solidFill>
                <a:latin typeface="Arial" charset="0"/>
                <a:ea typeface="楷体_GB2312" pitchFamily="49" charset="-122"/>
              </a:defRPr>
            </a:lvl9pPr>
          </a:lstStyle>
          <a:p>
            <a:pPr marL="0" indent="0">
              <a:lnSpc>
                <a:spcPct val="150000"/>
              </a:lnSpc>
              <a:spcBef>
                <a:spcPts val="600"/>
              </a:spcBef>
              <a:buClr>
                <a:schemeClr val="accent2"/>
              </a:buClr>
              <a:buFont typeface="Wingdings" pitchFamily="2" charset="2"/>
              <a:buNone/>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       割草机制造商意欲发现一个把城市中的家庭分成那些愿意购买乘式割草机和不愿意购买的两类的方法。在这个城市的家庭中随机抽取</a:t>
            </a:r>
            <a:r>
              <a:rPr lang="en-US" altLang="zh-CN" sz="2400" b="0" dirty="0">
                <a:latin typeface="Times New Roman" panose="02020603050405020304" pitchFamily="18" charset="0"/>
                <a:ea typeface="微软雅黑" panose="020B0503020204020204" pitchFamily="34" charset="-122"/>
                <a:sym typeface="Times New Roman" panose="02020603050405020304" pitchFamily="18" charset="0"/>
              </a:rPr>
              <a:t>24</a:t>
            </a: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个非拥有者的家庭作为样本。</a:t>
            </a:r>
          </a:p>
          <a:p>
            <a:pPr marL="0" indent="0">
              <a:lnSpc>
                <a:spcPct val="150000"/>
              </a:lnSpc>
              <a:spcBef>
                <a:spcPts val="600"/>
              </a:spcBef>
              <a:buClr>
                <a:schemeClr val="accent2"/>
              </a:buClr>
              <a:buFont typeface="Wingdings" pitchFamily="2" charset="2"/>
              <a:buNone/>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        自变量是收入和草地面积</a:t>
            </a:r>
          </a:p>
          <a:p>
            <a:pPr marL="0" indent="0">
              <a:lnSpc>
                <a:spcPct val="150000"/>
              </a:lnSpc>
              <a:spcBef>
                <a:spcPts val="600"/>
              </a:spcBef>
              <a:buClr>
                <a:schemeClr val="accent2"/>
              </a:buClr>
              <a:buFont typeface="Wingdings" pitchFamily="2" charset="2"/>
              <a:buNone/>
            </a:pPr>
            <a:r>
              <a:rPr lang="zh-CN" altLang="en-US" sz="2400" b="0" dirty="0">
                <a:latin typeface="Times New Roman" panose="02020603050405020304" pitchFamily="18" charset="0"/>
                <a:ea typeface="微软雅黑" panose="020B0503020204020204" pitchFamily="34" charset="-122"/>
                <a:sym typeface="Times New Roman" panose="02020603050405020304" pitchFamily="18" charset="0"/>
              </a:rPr>
              <a:t>        类别变量是：拥有和没有割草机。 </a:t>
            </a:r>
            <a:endParaRPr lang="zh-CN" altLang="en-US" sz="2000" b="0"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Group 3">
            <a:extLst>
              <a:ext uri="{FF2B5EF4-FFF2-40B4-BE49-F238E27FC236}">
                <a16:creationId xmlns:a16="http://schemas.microsoft.com/office/drawing/2014/main" id="{61865F57-5EE9-0C8A-7D3D-D13C5C2B1B6D}"/>
              </a:ext>
            </a:extLst>
          </p:cNvPr>
          <p:cNvGraphicFramePr>
            <a:graphicFrameLocks/>
          </p:cNvGraphicFramePr>
          <p:nvPr>
            <p:extLst>
              <p:ext uri="{D42A27DB-BD31-4B8C-83A1-F6EECF244321}">
                <p14:modId xmlns:p14="http://schemas.microsoft.com/office/powerpoint/2010/main" val="3765360801"/>
              </p:ext>
            </p:extLst>
          </p:nvPr>
        </p:nvGraphicFramePr>
        <p:xfrm>
          <a:off x="6477000" y="841524"/>
          <a:ext cx="3636962" cy="5905827"/>
        </p:xfrm>
        <a:graphic>
          <a:graphicData uri="http://schemas.openxmlformats.org/drawingml/2006/table">
            <a:tbl>
              <a:tblPr/>
              <a:tblGrid>
                <a:gridCol w="549093">
                  <a:extLst>
                    <a:ext uri="{9D8B030D-6E8A-4147-A177-3AD203B41FA5}">
                      <a16:colId xmlns:a16="http://schemas.microsoft.com/office/drawing/2014/main" val="20000"/>
                    </a:ext>
                  </a:extLst>
                </a:gridCol>
                <a:gridCol w="855427">
                  <a:extLst>
                    <a:ext uri="{9D8B030D-6E8A-4147-A177-3AD203B41FA5}">
                      <a16:colId xmlns:a16="http://schemas.microsoft.com/office/drawing/2014/main" val="20001"/>
                    </a:ext>
                  </a:extLst>
                </a:gridCol>
                <a:gridCol w="1377015">
                  <a:extLst>
                    <a:ext uri="{9D8B030D-6E8A-4147-A177-3AD203B41FA5}">
                      <a16:colId xmlns:a16="http://schemas.microsoft.com/office/drawing/2014/main" val="20002"/>
                    </a:ext>
                  </a:extLst>
                </a:gridCol>
                <a:gridCol w="855427">
                  <a:extLst>
                    <a:ext uri="{9D8B030D-6E8A-4147-A177-3AD203B41FA5}">
                      <a16:colId xmlns:a16="http://schemas.microsoft.com/office/drawing/2014/main" val="20005"/>
                    </a:ext>
                  </a:extLst>
                </a:gridCol>
              </a:tblGrid>
              <a:tr h="419427">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id</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收入</a:t>
                      </a:r>
                      <a:endParaRPr kumimoji="0" lang="zh-CN" altLang="en-US"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草地面积</a:t>
                      </a:r>
                      <a:endParaRPr kumimoji="0" lang="zh-CN" altLang="en-US"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sym typeface="Times New Roman" panose="02020603050405020304" pitchFamily="18" charset="0"/>
                        </a:rPr>
                        <a:t>拥有</a:t>
                      </a:r>
                      <a:endParaRPr kumimoji="0" lang="zh-CN" altLang="en-US"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60</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18.4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85.5</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16.8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64.8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21.6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61.5</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20.8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87</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23.6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110.1</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19.2</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6"/>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7</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108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17.6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rPr>
                        <a:t>是</a:t>
                      </a:r>
                      <a:endParaRPr kumimoji="0" lang="zh-CN" altLang="en-US" sz="2800" b="0" i="0" u="none" strike="noStrike" cap="none" normalizeH="0" baseline="0">
                        <a:ln>
                          <a:noFill/>
                        </a:ln>
                        <a:solidFill>
                          <a:srgbClr val="FF66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17</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84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17.6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8"/>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49.2</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17.6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19</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59.4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20</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66</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18.4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21</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47.4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16.4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2"/>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22</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33</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18.8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23</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51</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889161550"/>
                  </a:ext>
                </a:extLst>
              </a:tr>
              <a:tr h="355115">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24</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rgbClr val="0070C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63</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rPr>
                        <a:t>14.8</a:t>
                      </a:r>
                      <a:endParaRPr kumimoji="0" lang="en-US" altLang="zh-CN" sz="2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Pct val="100000"/>
                        <a:buFontTx/>
                        <a:buNone/>
                        <a:tabLst/>
                      </a:pPr>
                      <a:r>
                        <a:rPr kumimoji="0" lang="zh-CN" altLang="en-US" sz="1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rPr>
                        <a:t>否</a:t>
                      </a:r>
                      <a:endParaRPr kumimoji="0" lang="zh-CN" altLang="en-US" sz="2800" b="0" i="0" u="none" strike="noStrike" cap="none" normalizeH="0" baseline="0">
                        <a:ln>
                          <a:noFill/>
                        </a:ln>
                        <a:solidFill>
                          <a:srgbClr val="13548C"/>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995481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4FDC7F-12C0-8BA3-32C7-034755B0C781}"/>
              </a:ext>
            </a:extLst>
          </p:cNvPr>
          <p:cNvSpPr>
            <a:spLocks noGrp="1"/>
          </p:cNvSpPr>
          <p:nvPr>
            <p:ph type="title"/>
          </p:nvPr>
        </p:nvSpPr>
        <p:spPr/>
        <p:txBody>
          <a:bodyPr>
            <a:normAutofit fontScale="90000"/>
          </a:bodyPr>
          <a:lstStyle/>
          <a:p>
            <a:r>
              <a:rPr kumimoji="1" lang="en-US" altLang="zh-CN" dirty="0"/>
              <a:t>CART-</a:t>
            </a:r>
            <a:r>
              <a:rPr kumimoji="1" lang="zh-CN" altLang="en-US" dirty="0"/>
              <a:t>案例</a:t>
            </a:r>
          </a:p>
        </p:txBody>
      </p:sp>
      <p:pic>
        <p:nvPicPr>
          <p:cNvPr id="3" name="Picture 3">
            <a:extLst>
              <a:ext uri="{FF2B5EF4-FFF2-40B4-BE49-F238E27FC236}">
                <a16:creationId xmlns:a16="http://schemas.microsoft.com/office/drawing/2014/main" id="{285E7250-0F05-0472-7DDD-F593B2C127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6"/>
          <a:stretch/>
        </p:blipFill>
        <p:spPr bwMode="auto">
          <a:xfrm>
            <a:off x="354074" y="1476570"/>
            <a:ext cx="6391421" cy="475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cxnSp>
        <p:nvCxnSpPr>
          <p:cNvPr id="4" name="直接连接符 3">
            <a:extLst>
              <a:ext uri="{FF2B5EF4-FFF2-40B4-BE49-F238E27FC236}">
                <a16:creationId xmlns:a16="http://schemas.microsoft.com/office/drawing/2014/main" id="{EA911E27-ABD3-371B-11A4-D2FBF3D061B9}"/>
              </a:ext>
            </a:extLst>
          </p:cNvPr>
          <p:cNvCxnSpPr/>
          <p:nvPr/>
        </p:nvCxnSpPr>
        <p:spPr>
          <a:xfrm>
            <a:off x="1281838" y="2956828"/>
            <a:ext cx="5029633"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graphicFrame>
        <p:nvGraphicFramePr>
          <p:cNvPr id="5" name="Object 4">
            <a:extLst>
              <a:ext uri="{FF2B5EF4-FFF2-40B4-BE49-F238E27FC236}">
                <a16:creationId xmlns:a16="http://schemas.microsoft.com/office/drawing/2014/main" id="{BB238DFB-01E7-964C-F105-5CEB595BFA9C}"/>
              </a:ext>
            </a:extLst>
          </p:cNvPr>
          <p:cNvGraphicFramePr>
            <a:graphicFrameLocks noChangeAspect="1"/>
          </p:cNvGraphicFramePr>
          <p:nvPr>
            <p:extLst>
              <p:ext uri="{D42A27DB-BD31-4B8C-83A1-F6EECF244321}">
                <p14:modId xmlns:p14="http://schemas.microsoft.com/office/powerpoint/2010/main" val="2978268191"/>
              </p:ext>
            </p:extLst>
          </p:nvPr>
        </p:nvGraphicFramePr>
        <p:xfrm>
          <a:off x="3588757" y="3809920"/>
          <a:ext cx="2716425" cy="595884"/>
        </p:xfrm>
        <a:graphic>
          <a:graphicData uri="http://schemas.openxmlformats.org/presentationml/2006/ole">
            <mc:AlternateContent xmlns:mc="http://schemas.openxmlformats.org/markup-compatibility/2006">
              <mc:Choice xmlns:v="urn:schemas-microsoft-com:vml" Requires="v">
                <p:oleObj name="Equation" r:id="rId3" imgW="1612900" imgH="355600" progId="Equation.DSMT4">
                  <p:embed/>
                </p:oleObj>
              </mc:Choice>
              <mc:Fallback>
                <p:oleObj name="Equation" r:id="rId3" imgW="1612900" imgH="355600" progId="Equation.DSMT4">
                  <p:embed/>
                  <p:pic>
                    <p:nvPicPr>
                      <p:cNvPr id="9" name="Object 4">
                        <a:extLst>
                          <a:ext uri="{FF2B5EF4-FFF2-40B4-BE49-F238E27FC236}">
                            <a16:creationId xmlns:a16="http://schemas.microsoft.com/office/drawing/2014/main" id="{5ABD22AD-7867-4E81-B29C-0012D97FCE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8757" y="3809920"/>
                        <a:ext cx="2716425" cy="595884"/>
                      </a:xfrm>
                      <a:prstGeom prst="rect">
                        <a:avLst/>
                      </a:prstGeom>
                      <a:solidFill>
                        <a:schemeClr val="accent6">
                          <a:lumMod val="20000"/>
                          <a:lumOff val="80000"/>
                        </a:schemeClr>
                      </a:solidFill>
                      <a:ln w="9525">
                        <a:noFill/>
                        <a:miter lim="800000"/>
                        <a:headEnd/>
                        <a:tailEnd/>
                      </a:ln>
                    </p:spPr>
                  </p:pic>
                </p:oleObj>
              </mc:Fallback>
            </mc:AlternateContent>
          </a:graphicData>
        </a:graphic>
      </p:graphicFrame>
      <p:grpSp>
        <p:nvGrpSpPr>
          <p:cNvPr id="30" name="组合 29">
            <a:extLst>
              <a:ext uri="{FF2B5EF4-FFF2-40B4-BE49-F238E27FC236}">
                <a16:creationId xmlns:a16="http://schemas.microsoft.com/office/drawing/2014/main" id="{C17C1AD1-528D-F989-130D-2BA7FE86AE46}"/>
              </a:ext>
            </a:extLst>
          </p:cNvPr>
          <p:cNvGrpSpPr/>
          <p:nvPr/>
        </p:nvGrpSpPr>
        <p:grpSpPr>
          <a:xfrm>
            <a:off x="6978376" y="1900909"/>
            <a:ext cx="4769967" cy="3070389"/>
            <a:chOff x="6978376" y="1900909"/>
            <a:chExt cx="4769967" cy="3070389"/>
          </a:xfrm>
        </p:grpSpPr>
        <p:grpSp>
          <p:nvGrpSpPr>
            <p:cNvPr id="8" name="组合 7">
              <a:extLst>
                <a:ext uri="{FF2B5EF4-FFF2-40B4-BE49-F238E27FC236}">
                  <a16:creationId xmlns:a16="http://schemas.microsoft.com/office/drawing/2014/main" id="{D4A58EA0-7EAF-F5B1-7FBE-5046C5C291B7}"/>
                </a:ext>
              </a:extLst>
            </p:cNvPr>
            <p:cNvGrpSpPr/>
            <p:nvPr/>
          </p:nvGrpSpPr>
          <p:grpSpPr>
            <a:xfrm>
              <a:off x="8500966" y="1900909"/>
              <a:ext cx="980946" cy="656335"/>
              <a:chOff x="3446256" y="1244886"/>
              <a:chExt cx="1403294" cy="864000"/>
            </a:xfrm>
          </p:grpSpPr>
          <p:sp>
            <p:nvSpPr>
              <p:cNvPr id="26" name="矩形: 圆角 4">
                <a:extLst>
                  <a:ext uri="{FF2B5EF4-FFF2-40B4-BE49-F238E27FC236}">
                    <a16:creationId xmlns:a16="http://schemas.microsoft.com/office/drawing/2014/main" id="{BD12E368-B345-3EB8-B9FA-29D81FA54165}"/>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1</a:t>
                </a:r>
                <a:endParaRPr lang="zh-CN" altLang="en-US" sz="1600">
                  <a:solidFill>
                    <a:schemeClr val="tx1"/>
                  </a:solidFill>
                </a:endParaRPr>
              </a:p>
            </p:txBody>
          </p:sp>
          <p:sp>
            <p:nvSpPr>
              <p:cNvPr id="27" name="椭圆 26">
                <a:extLst>
                  <a:ext uri="{FF2B5EF4-FFF2-40B4-BE49-F238E27FC236}">
                    <a16:creationId xmlns:a16="http://schemas.microsoft.com/office/drawing/2014/main" id="{E09C16FE-07FE-0DE2-8C90-B8A7BBCAD15F}"/>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19</a:t>
                </a:r>
                <a:endParaRPr lang="zh-CN" altLang="en-US" sz="1600">
                  <a:solidFill>
                    <a:schemeClr val="tx1"/>
                  </a:solidFill>
                </a:endParaRPr>
              </a:p>
            </p:txBody>
          </p:sp>
        </p:grpSp>
        <p:grpSp>
          <p:nvGrpSpPr>
            <p:cNvPr id="9" name="组合 8">
              <a:extLst>
                <a:ext uri="{FF2B5EF4-FFF2-40B4-BE49-F238E27FC236}">
                  <a16:creationId xmlns:a16="http://schemas.microsoft.com/office/drawing/2014/main" id="{5DB0AA86-CCB6-E831-8179-708174BCAE09}"/>
                </a:ext>
              </a:extLst>
            </p:cNvPr>
            <p:cNvGrpSpPr/>
            <p:nvPr/>
          </p:nvGrpSpPr>
          <p:grpSpPr>
            <a:xfrm>
              <a:off x="7004035" y="3840712"/>
              <a:ext cx="980946" cy="656335"/>
              <a:chOff x="3446256" y="1244886"/>
              <a:chExt cx="1403294" cy="864000"/>
            </a:xfrm>
          </p:grpSpPr>
          <p:sp>
            <p:nvSpPr>
              <p:cNvPr id="24" name="矩形: 圆角 7">
                <a:extLst>
                  <a:ext uri="{FF2B5EF4-FFF2-40B4-BE49-F238E27FC236}">
                    <a16:creationId xmlns:a16="http://schemas.microsoft.com/office/drawing/2014/main" id="{F5E41C7C-810D-29D3-D88B-1DC140BFC50F}"/>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dirty="0">
                    <a:solidFill>
                      <a:schemeClr val="tx1"/>
                    </a:solidFill>
                  </a:rPr>
                  <a:t>2</a:t>
                </a:r>
                <a:endParaRPr lang="zh-CN" altLang="en-US" sz="1600" dirty="0">
                  <a:solidFill>
                    <a:schemeClr val="tx1"/>
                  </a:solidFill>
                </a:endParaRPr>
              </a:p>
            </p:txBody>
          </p:sp>
          <p:sp>
            <p:nvSpPr>
              <p:cNvPr id="25" name="椭圆 24">
                <a:extLst>
                  <a:ext uri="{FF2B5EF4-FFF2-40B4-BE49-F238E27FC236}">
                    <a16:creationId xmlns:a16="http://schemas.microsoft.com/office/drawing/2014/main" id="{38EDA85A-B4A0-CF00-F675-D2050F008B48}"/>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600">
                    <a:solidFill>
                      <a:schemeClr val="tx1"/>
                    </a:solidFill>
                  </a:rPr>
                  <a:t>84.75</a:t>
                </a:r>
                <a:endParaRPr lang="zh-CN" altLang="en-US" sz="1600">
                  <a:solidFill>
                    <a:schemeClr val="tx1"/>
                  </a:solidFill>
                </a:endParaRPr>
              </a:p>
            </p:txBody>
          </p:sp>
        </p:grpSp>
        <p:grpSp>
          <p:nvGrpSpPr>
            <p:cNvPr id="10" name="组合 9">
              <a:extLst>
                <a:ext uri="{FF2B5EF4-FFF2-40B4-BE49-F238E27FC236}">
                  <a16:creationId xmlns:a16="http://schemas.microsoft.com/office/drawing/2014/main" id="{7A875A2C-4078-DF72-1A1E-AFD59165DCF5}"/>
                </a:ext>
              </a:extLst>
            </p:cNvPr>
            <p:cNvGrpSpPr/>
            <p:nvPr/>
          </p:nvGrpSpPr>
          <p:grpSpPr>
            <a:xfrm>
              <a:off x="10344453" y="3840712"/>
              <a:ext cx="980946" cy="656335"/>
              <a:chOff x="3446256" y="1244886"/>
              <a:chExt cx="1403294" cy="864000"/>
            </a:xfrm>
          </p:grpSpPr>
          <p:sp>
            <p:nvSpPr>
              <p:cNvPr id="22" name="矩形: 圆角 10">
                <a:extLst>
                  <a:ext uri="{FF2B5EF4-FFF2-40B4-BE49-F238E27FC236}">
                    <a16:creationId xmlns:a16="http://schemas.microsoft.com/office/drawing/2014/main" id="{E8A047CF-AF69-6CC0-6DCF-D3FD3ECF6A30}"/>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3</a:t>
                </a:r>
                <a:endParaRPr lang="zh-CN" altLang="en-US" sz="1600">
                  <a:solidFill>
                    <a:schemeClr val="tx1"/>
                  </a:solidFill>
                </a:endParaRPr>
              </a:p>
            </p:txBody>
          </p:sp>
          <p:sp>
            <p:nvSpPr>
              <p:cNvPr id="23" name="椭圆 22">
                <a:extLst>
                  <a:ext uri="{FF2B5EF4-FFF2-40B4-BE49-F238E27FC236}">
                    <a16:creationId xmlns:a16="http://schemas.microsoft.com/office/drawing/2014/main" id="{E856B23E-A223-FCFE-9531-67E6DC42B077}"/>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600">
                    <a:solidFill>
                      <a:schemeClr val="tx1"/>
                    </a:solidFill>
                  </a:rPr>
                  <a:t>57.15</a:t>
                </a:r>
                <a:endParaRPr lang="zh-CN" altLang="en-US" sz="1600">
                  <a:solidFill>
                    <a:schemeClr val="tx1"/>
                  </a:solidFill>
                </a:endParaRPr>
              </a:p>
            </p:txBody>
          </p:sp>
        </p:grpSp>
        <p:cxnSp>
          <p:nvCxnSpPr>
            <p:cNvPr id="11" name="直接连接符 12">
              <a:extLst>
                <a:ext uri="{FF2B5EF4-FFF2-40B4-BE49-F238E27FC236}">
                  <a16:creationId xmlns:a16="http://schemas.microsoft.com/office/drawing/2014/main" id="{A0B0DE9F-28FE-CBF3-1C45-6AD379DF964B}"/>
                </a:ext>
              </a:extLst>
            </p:cNvPr>
            <p:cNvCxnSpPr>
              <a:cxnSpLocks/>
              <a:stCxn id="27" idx="3"/>
            </p:cNvCxnSpPr>
            <p:nvPr/>
          </p:nvCxnSpPr>
          <p:spPr>
            <a:xfrm flipH="1">
              <a:off x="7821251" y="2461126"/>
              <a:ext cx="1145146" cy="1390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494E80BE-6144-43DA-ABE5-CB44D5BAEFA9}"/>
                </a:ext>
              </a:extLst>
            </p:cNvPr>
            <p:cNvCxnSpPr>
              <a:cxnSpLocks/>
              <a:stCxn id="27" idx="5"/>
            </p:cNvCxnSpPr>
            <p:nvPr/>
          </p:nvCxnSpPr>
          <p:spPr>
            <a:xfrm>
              <a:off x="9393464" y="2461126"/>
              <a:ext cx="1504868" cy="13653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7">
              <a:extLst>
                <a:ext uri="{FF2B5EF4-FFF2-40B4-BE49-F238E27FC236}">
                  <a16:creationId xmlns:a16="http://schemas.microsoft.com/office/drawing/2014/main" id="{1012C16E-8826-069F-BE31-EE9ADE5D55CB}"/>
                </a:ext>
              </a:extLst>
            </p:cNvPr>
            <p:cNvCxnSpPr>
              <a:cxnSpLocks/>
              <a:stCxn id="25" idx="3"/>
            </p:cNvCxnSpPr>
            <p:nvPr/>
          </p:nvCxnSpPr>
          <p:spPr>
            <a:xfrm flipH="1">
              <a:off x="6978376" y="4400929"/>
              <a:ext cx="491090" cy="5703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24">
              <a:extLst>
                <a:ext uri="{FF2B5EF4-FFF2-40B4-BE49-F238E27FC236}">
                  <a16:creationId xmlns:a16="http://schemas.microsoft.com/office/drawing/2014/main" id="{0FC16F91-31D7-2B3E-83A1-ABE191EDCA81}"/>
                </a:ext>
              </a:extLst>
            </p:cNvPr>
            <p:cNvCxnSpPr>
              <a:cxnSpLocks/>
              <a:stCxn id="25" idx="5"/>
            </p:cNvCxnSpPr>
            <p:nvPr/>
          </p:nvCxnSpPr>
          <p:spPr>
            <a:xfrm>
              <a:off x="7896531" y="4400929"/>
              <a:ext cx="503302" cy="5469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30">
              <a:extLst>
                <a:ext uri="{FF2B5EF4-FFF2-40B4-BE49-F238E27FC236}">
                  <a16:creationId xmlns:a16="http://schemas.microsoft.com/office/drawing/2014/main" id="{6F40B1D0-0152-3025-0EAA-21E7C120A64A}"/>
                </a:ext>
              </a:extLst>
            </p:cNvPr>
            <p:cNvCxnSpPr>
              <a:cxnSpLocks/>
              <a:stCxn id="23" idx="3"/>
            </p:cNvCxnSpPr>
            <p:nvPr/>
          </p:nvCxnSpPr>
          <p:spPr>
            <a:xfrm flipH="1">
              <a:off x="10326886" y="4400929"/>
              <a:ext cx="482998" cy="5703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31">
              <a:extLst>
                <a:ext uri="{FF2B5EF4-FFF2-40B4-BE49-F238E27FC236}">
                  <a16:creationId xmlns:a16="http://schemas.microsoft.com/office/drawing/2014/main" id="{876CEAE9-9F74-AA3F-F535-745FF1A7F383}"/>
                </a:ext>
              </a:extLst>
            </p:cNvPr>
            <p:cNvCxnSpPr>
              <a:cxnSpLocks/>
              <a:stCxn id="23" idx="5"/>
            </p:cNvCxnSpPr>
            <p:nvPr/>
          </p:nvCxnSpPr>
          <p:spPr>
            <a:xfrm>
              <a:off x="11236950" y="4400929"/>
              <a:ext cx="511393" cy="5469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3FDDE804-B48B-87FD-348E-6465FB12EB81}"/>
                </a:ext>
              </a:extLst>
            </p:cNvPr>
            <p:cNvSpPr/>
            <p:nvPr/>
          </p:nvSpPr>
          <p:spPr>
            <a:xfrm>
              <a:off x="7344971" y="3064597"/>
              <a:ext cx="952560" cy="376059"/>
            </a:xfrm>
            <a:prstGeom prst="rect">
              <a:avLst/>
            </a:prstGeom>
          </p:spPr>
          <p:txBody>
            <a:bodyPr wrap="none">
              <a:spAutoFit/>
            </a:bodyPr>
            <a:lstStyle/>
            <a:p>
              <a:pPr lvl="0" algn="ctr"/>
              <a:r>
                <a:rPr lang="en-US" altLang="zh-CN" sz="1600">
                  <a:solidFill>
                    <a:prstClr val="black"/>
                  </a:solidFill>
                  <a:latin typeface="Times New Roman"/>
                </a:rPr>
                <a:t>X2&lt;=19</a:t>
              </a:r>
            </a:p>
          </p:txBody>
        </p:sp>
        <p:sp>
          <p:nvSpPr>
            <p:cNvPr id="18" name="矩形 17">
              <a:extLst>
                <a:ext uri="{FF2B5EF4-FFF2-40B4-BE49-F238E27FC236}">
                  <a16:creationId xmlns:a16="http://schemas.microsoft.com/office/drawing/2014/main" id="{D40E6EA7-694B-1557-5DD1-9C8081B04122}"/>
                </a:ext>
              </a:extLst>
            </p:cNvPr>
            <p:cNvSpPr/>
            <p:nvPr/>
          </p:nvSpPr>
          <p:spPr>
            <a:xfrm>
              <a:off x="10271783" y="3193405"/>
              <a:ext cx="1099863" cy="338554"/>
            </a:xfrm>
            <a:prstGeom prst="rect">
              <a:avLst/>
            </a:prstGeom>
          </p:spPr>
          <p:txBody>
            <a:bodyPr wrap="square">
              <a:spAutoFit/>
            </a:bodyPr>
            <a:lstStyle/>
            <a:p>
              <a:pPr lvl="0" algn="ctr"/>
              <a:r>
                <a:rPr lang="en-US" altLang="zh-CN" sz="1600" dirty="0">
                  <a:solidFill>
                    <a:prstClr val="black"/>
                  </a:solidFill>
                  <a:latin typeface="Times New Roman"/>
                </a:rPr>
                <a:t>X2&gt;19</a:t>
              </a:r>
            </a:p>
          </p:txBody>
        </p:sp>
        <p:sp>
          <p:nvSpPr>
            <p:cNvPr id="19" name="矩形 18">
              <a:extLst>
                <a:ext uri="{FF2B5EF4-FFF2-40B4-BE49-F238E27FC236}">
                  <a16:creationId xmlns:a16="http://schemas.microsoft.com/office/drawing/2014/main" id="{84DA729D-6E90-107B-440F-E0EC97C64BDE}"/>
                </a:ext>
              </a:extLst>
            </p:cNvPr>
            <p:cNvSpPr/>
            <p:nvPr/>
          </p:nvSpPr>
          <p:spPr>
            <a:xfrm>
              <a:off x="7961146" y="3478040"/>
              <a:ext cx="426477" cy="376059"/>
            </a:xfrm>
            <a:prstGeom prst="rect">
              <a:avLst/>
            </a:prstGeom>
          </p:spPr>
          <p:txBody>
            <a:bodyPr wrap="none">
              <a:spAutoFit/>
            </a:bodyPr>
            <a:lstStyle/>
            <a:p>
              <a:pPr lvl="0" algn="ctr"/>
              <a:r>
                <a:rPr lang="en-US" altLang="zh-CN" sz="1600" dirty="0">
                  <a:solidFill>
                    <a:prstClr val="black"/>
                  </a:solidFill>
                  <a:latin typeface="Times New Roman"/>
                </a:rPr>
                <a:t>12</a:t>
              </a:r>
            </a:p>
          </p:txBody>
        </p:sp>
        <p:sp>
          <p:nvSpPr>
            <p:cNvPr id="20" name="矩形 19">
              <a:extLst>
                <a:ext uri="{FF2B5EF4-FFF2-40B4-BE49-F238E27FC236}">
                  <a16:creationId xmlns:a16="http://schemas.microsoft.com/office/drawing/2014/main" id="{7FBB2EAB-54C8-A458-D4C8-25B7CFAF9AB5}"/>
                </a:ext>
              </a:extLst>
            </p:cNvPr>
            <p:cNvSpPr/>
            <p:nvPr/>
          </p:nvSpPr>
          <p:spPr>
            <a:xfrm>
              <a:off x="10093345" y="3491202"/>
              <a:ext cx="426477" cy="376059"/>
            </a:xfrm>
            <a:prstGeom prst="rect">
              <a:avLst/>
            </a:prstGeom>
          </p:spPr>
          <p:txBody>
            <a:bodyPr wrap="none">
              <a:spAutoFit/>
            </a:bodyPr>
            <a:lstStyle/>
            <a:p>
              <a:pPr lvl="0" algn="ctr"/>
              <a:r>
                <a:rPr lang="en-US" altLang="zh-CN" sz="1600" dirty="0">
                  <a:solidFill>
                    <a:prstClr val="black"/>
                  </a:solidFill>
                  <a:latin typeface="Times New Roman"/>
                </a:rPr>
                <a:t>12</a:t>
              </a:r>
            </a:p>
          </p:txBody>
        </p:sp>
        <p:sp>
          <p:nvSpPr>
            <p:cNvPr id="21" name="矩形 20">
              <a:extLst>
                <a:ext uri="{FF2B5EF4-FFF2-40B4-BE49-F238E27FC236}">
                  <a16:creationId xmlns:a16="http://schemas.microsoft.com/office/drawing/2014/main" id="{E9422F6C-79E0-3649-38BF-0E4F0F479DC6}"/>
                </a:ext>
              </a:extLst>
            </p:cNvPr>
            <p:cNvSpPr/>
            <p:nvPr/>
          </p:nvSpPr>
          <p:spPr>
            <a:xfrm>
              <a:off x="8636344" y="2649434"/>
              <a:ext cx="1099863" cy="376059"/>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grpSp>
    </p:spTree>
    <p:extLst>
      <p:ext uri="{BB962C8B-B14F-4D97-AF65-F5344CB8AC3E}">
        <p14:creationId xmlns:p14="http://schemas.microsoft.com/office/powerpoint/2010/main" val="185249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ACACC2-A6DB-638C-141C-2B9FF346A5AE}"/>
              </a:ext>
            </a:extLst>
          </p:cNvPr>
          <p:cNvSpPr>
            <a:spLocks noGrp="1"/>
          </p:cNvSpPr>
          <p:nvPr>
            <p:ph type="title"/>
          </p:nvPr>
        </p:nvSpPr>
        <p:spPr/>
        <p:txBody>
          <a:bodyPr>
            <a:normAutofit fontScale="90000"/>
          </a:bodyPr>
          <a:lstStyle/>
          <a:p>
            <a:r>
              <a:rPr kumimoji="1" lang="en-US" altLang="zh-CN" dirty="0"/>
              <a:t>CART-</a:t>
            </a:r>
            <a:r>
              <a:rPr kumimoji="1" lang="zh-CN" altLang="en-US" dirty="0"/>
              <a:t>案例</a:t>
            </a:r>
          </a:p>
        </p:txBody>
      </p:sp>
      <p:pic>
        <p:nvPicPr>
          <p:cNvPr id="3" name="Picture 3">
            <a:extLst>
              <a:ext uri="{FF2B5EF4-FFF2-40B4-BE49-F238E27FC236}">
                <a16:creationId xmlns:a16="http://schemas.microsoft.com/office/drawing/2014/main" id="{636E233A-E821-6B27-C6BA-AFE3219400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96"/>
          <a:stretch/>
        </p:blipFill>
        <p:spPr bwMode="auto">
          <a:xfrm>
            <a:off x="229984" y="1375576"/>
            <a:ext cx="6018888" cy="4885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cxnSp>
        <p:nvCxnSpPr>
          <p:cNvPr id="4" name="直接连接符 3">
            <a:extLst>
              <a:ext uri="{FF2B5EF4-FFF2-40B4-BE49-F238E27FC236}">
                <a16:creationId xmlns:a16="http://schemas.microsoft.com/office/drawing/2014/main" id="{8880B48F-3DB2-FB1B-4A82-03A6F9077B56}"/>
              </a:ext>
            </a:extLst>
          </p:cNvPr>
          <p:cNvCxnSpPr/>
          <p:nvPr/>
        </p:nvCxnSpPr>
        <p:spPr>
          <a:xfrm>
            <a:off x="1103672" y="2898049"/>
            <a:ext cx="4736473"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8BAD046-B3BD-F99C-6899-0916F4CDD5A1}"/>
              </a:ext>
            </a:extLst>
          </p:cNvPr>
          <p:cNvCxnSpPr>
            <a:cxnSpLocks/>
          </p:cNvCxnSpPr>
          <p:nvPr/>
        </p:nvCxnSpPr>
        <p:spPr>
          <a:xfrm flipV="1">
            <a:off x="3971843" y="2898049"/>
            <a:ext cx="0" cy="1831261"/>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19E5C1C-B938-A222-C339-1BFEE66CF747}"/>
              </a:ext>
            </a:extLst>
          </p:cNvPr>
          <p:cNvCxnSpPr>
            <a:cxnSpLocks/>
          </p:cNvCxnSpPr>
          <p:nvPr/>
        </p:nvCxnSpPr>
        <p:spPr>
          <a:xfrm flipV="1">
            <a:off x="2506270" y="1690716"/>
            <a:ext cx="0" cy="1214325"/>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8D8C4AEC-A7E2-BEB9-9F2A-AF6728A755F0}"/>
              </a:ext>
            </a:extLst>
          </p:cNvPr>
          <p:cNvGrpSpPr/>
          <p:nvPr/>
        </p:nvGrpSpPr>
        <p:grpSpPr>
          <a:xfrm>
            <a:off x="6208948" y="1943246"/>
            <a:ext cx="5869469" cy="2971507"/>
            <a:chOff x="412775" y="1244886"/>
            <a:chExt cx="8297846" cy="4089114"/>
          </a:xfrm>
        </p:grpSpPr>
        <p:grpSp>
          <p:nvGrpSpPr>
            <p:cNvPr id="10" name="组合 9">
              <a:extLst>
                <a:ext uri="{FF2B5EF4-FFF2-40B4-BE49-F238E27FC236}">
                  <a16:creationId xmlns:a16="http://schemas.microsoft.com/office/drawing/2014/main" id="{8FF9D694-C728-5E30-5E2F-D23F8B41DB96}"/>
                </a:ext>
              </a:extLst>
            </p:cNvPr>
            <p:cNvGrpSpPr/>
            <p:nvPr/>
          </p:nvGrpSpPr>
          <p:grpSpPr>
            <a:xfrm>
              <a:off x="3446256" y="1244886"/>
              <a:ext cx="1403294" cy="864000"/>
              <a:chOff x="3446256" y="1244886"/>
              <a:chExt cx="1403294" cy="864000"/>
            </a:xfrm>
          </p:grpSpPr>
          <p:sp>
            <p:nvSpPr>
              <p:cNvPr id="38" name="矩形: 圆角 4">
                <a:extLst>
                  <a:ext uri="{FF2B5EF4-FFF2-40B4-BE49-F238E27FC236}">
                    <a16:creationId xmlns:a16="http://schemas.microsoft.com/office/drawing/2014/main" id="{A2799346-D22E-8566-9429-8CD43AF14979}"/>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400">
                    <a:solidFill>
                      <a:schemeClr val="tx1"/>
                    </a:solidFill>
                  </a:rPr>
                  <a:t>1</a:t>
                </a:r>
                <a:endParaRPr lang="zh-CN" altLang="en-US" sz="1400">
                  <a:solidFill>
                    <a:schemeClr val="tx1"/>
                  </a:solidFill>
                </a:endParaRPr>
              </a:p>
            </p:txBody>
          </p:sp>
          <p:sp>
            <p:nvSpPr>
              <p:cNvPr id="39" name="椭圆 38">
                <a:extLst>
                  <a:ext uri="{FF2B5EF4-FFF2-40B4-BE49-F238E27FC236}">
                    <a16:creationId xmlns:a16="http://schemas.microsoft.com/office/drawing/2014/main" id="{9956AF29-3B8E-169F-8124-EAE0E1C84E6F}"/>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19</a:t>
                </a:r>
                <a:endParaRPr lang="zh-CN" altLang="en-US" sz="1400">
                  <a:solidFill>
                    <a:schemeClr val="tx1"/>
                  </a:solidFill>
                </a:endParaRPr>
              </a:p>
            </p:txBody>
          </p:sp>
        </p:grpSp>
        <p:grpSp>
          <p:nvGrpSpPr>
            <p:cNvPr id="11" name="组合 10">
              <a:extLst>
                <a:ext uri="{FF2B5EF4-FFF2-40B4-BE49-F238E27FC236}">
                  <a16:creationId xmlns:a16="http://schemas.microsoft.com/office/drawing/2014/main" id="{508DAA04-64C4-47AD-CDCD-320394EB6C4B}"/>
                </a:ext>
              </a:extLst>
            </p:cNvPr>
            <p:cNvGrpSpPr/>
            <p:nvPr/>
          </p:nvGrpSpPr>
          <p:grpSpPr>
            <a:xfrm>
              <a:off x="1413767" y="3319636"/>
              <a:ext cx="1403294" cy="864000"/>
              <a:chOff x="3446256" y="1244886"/>
              <a:chExt cx="1403294" cy="864000"/>
            </a:xfrm>
          </p:grpSpPr>
          <p:sp>
            <p:nvSpPr>
              <p:cNvPr id="36" name="矩形: 圆角 7">
                <a:extLst>
                  <a:ext uri="{FF2B5EF4-FFF2-40B4-BE49-F238E27FC236}">
                    <a16:creationId xmlns:a16="http://schemas.microsoft.com/office/drawing/2014/main" id="{B36D8A7F-9177-A8A3-401A-0CB593B03A4E}"/>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400">
                    <a:solidFill>
                      <a:schemeClr val="tx1"/>
                    </a:solidFill>
                  </a:rPr>
                  <a:t>2</a:t>
                </a:r>
                <a:endParaRPr lang="zh-CN" altLang="en-US" sz="1400">
                  <a:solidFill>
                    <a:schemeClr val="tx1"/>
                  </a:solidFill>
                </a:endParaRPr>
              </a:p>
            </p:txBody>
          </p:sp>
          <p:sp>
            <p:nvSpPr>
              <p:cNvPr id="37" name="椭圆 36">
                <a:extLst>
                  <a:ext uri="{FF2B5EF4-FFF2-40B4-BE49-F238E27FC236}">
                    <a16:creationId xmlns:a16="http://schemas.microsoft.com/office/drawing/2014/main" id="{C43D2B68-6A9D-C255-1D63-6ACD8D45C583}"/>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400">
                    <a:solidFill>
                      <a:schemeClr val="tx1"/>
                    </a:solidFill>
                  </a:rPr>
                  <a:t>84.75</a:t>
                </a:r>
                <a:endParaRPr lang="zh-CN" altLang="en-US" sz="1400">
                  <a:solidFill>
                    <a:schemeClr val="tx1"/>
                  </a:solidFill>
                </a:endParaRPr>
              </a:p>
            </p:txBody>
          </p:sp>
        </p:grpSp>
        <p:grpSp>
          <p:nvGrpSpPr>
            <p:cNvPr id="12" name="组合 11">
              <a:extLst>
                <a:ext uri="{FF2B5EF4-FFF2-40B4-BE49-F238E27FC236}">
                  <a16:creationId xmlns:a16="http://schemas.microsoft.com/office/drawing/2014/main" id="{4E9E7AE0-95EE-0164-C90E-DB77E59224C9}"/>
                </a:ext>
              </a:extLst>
            </p:cNvPr>
            <p:cNvGrpSpPr/>
            <p:nvPr/>
          </p:nvGrpSpPr>
          <p:grpSpPr>
            <a:xfrm>
              <a:off x="5787645" y="3319636"/>
              <a:ext cx="1403294" cy="864000"/>
              <a:chOff x="3446256" y="1244886"/>
              <a:chExt cx="1403294" cy="864000"/>
            </a:xfrm>
          </p:grpSpPr>
          <p:sp>
            <p:nvSpPr>
              <p:cNvPr id="34" name="矩形: 圆角 10">
                <a:extLst>
                  <a:ext uri="{FF2B5EF4-FFF2-40B4-BE49-F238E27FC236}">
                    <a16:creationId xmlns:a16="http://schemas.microsoft.com/office/drawing/2014/main" id="{554992EB-07E5-1FDA-1A88-8B35C32F74EB}"/>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400">
                    <a:solidFill>
                      <a:schemeClr val="tx1"/>
                    </a:solidFill>
                  </a:rPr>
                  <a:t>3</a:t>
                </a:r>
                <a:endParaRPr lang="zh-CN" altLang="en-US" sz="1400">
                  <a:solidFill>
                    <a:schemeClr val="tx1"/>
                  </a:solidFill>
                </a:endParaRPr>
              </a:p>
            </p:txBody>
          </p:sp>
          <p:sp>
            <p:nvSpPr>
              <p:cNvPr id="35" name="椭圆 34">
                <a:extLst>
                  <a:ext uri="{FF2B5EF4-FFF2-40B4-BE49-F238E27FC236}">
                    <a16:creationId xmlns:a16="http://schemas.microsoft.com/office/drawing/2014/main" id="{62715BB7-CC83-87BE-B01F-11B6A21C6547}"/>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400">
                    <a:solidFill>
                      <a:schemeClr val="tx1"/>
                    </a:solidFill>
                  </a:rPr>
                  <a:t>57.15</a:t>
                </a:r>
                <a:endParaRPr lang="zh-CN" altLang="en-US" sz="1400">
                  <a:solidFill>
                    <a:schemeClr val="tx1"/>
                  </a:solidFill>
                </a:endParaRPr>
              </a:p>
            </p:txBody>
          </p:sp>
        </p:grpSp>
        <p:cxnSp>
          <p:nvCxnSpPr>
            <p:cNvPr id="13" name="直接连接符 12">
              <a:extLst>
                <a:ext uri="{FF2B5EF4-FFF2-40B4-BE49-F238E27FC236}">
                  <a16:creationId xmlns:a16="http://schemas.microsoft.com/office/drawing/2014/main" id="{839A7DD6-B728-1977-0951-4AF486518FF7}"/>
                </a:ext>
              </a:extLst>
            </p:cNvPr>
            <p:cNvCxnSpPr>
              <a:cxnSpLocks/>
              <a:stCxn id="39" idx="3"/>
              <a:endCxn id="37" idx="0"/>
            </p:cNvCxnSpPr>
            <p:nvPr/>
          </p:nvCxnSpPr>
          <p:spPr>
            <a:xfrm flipH="1">
              <a:off x="2385061" y="1982356"/>
              <a:ext cx="1727019" cy="13372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4">
              <a:extLst>
                <a:ext uri="{FF2B5EF4-FFF2-40B4-BE49-F238E27FC236}">
                  <a16:creationId xmlns:a16="http://schemas.microsoft.com/office/drawing/2014/main" id="{082B12FA-D41D-77B4-D6DE-5743C5024214}"/>
                </a:ext>
              </a:extLst>
            </p:cNvPr>
            <p:cNvCxnSpPr>
              <a:cxnSpLocks/>
              <a:stCxn id="39" idx="5"/>
              <a:endCxn id="35" idx="0"/>
            </p:cNvCxnSpPr>
            <p:nvPr/>
          </p:nvCxnSpPr>
          <p:spPr>
            <a:xfrm>
              <a:off x="4723020" y="1982356"/>
              <a:ext cx="2035919" cy="13372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7">
              <a:extLst>
                <a:ext uri="{FF2B5EF4-FFF2-40B4-BE49-F238E27FC236}">
                  <a16:creationId xmlns:a16="http://schemas.microsoft.com/office/drawing/2014/main" id="{B9F2F29B-C12F-C8EA-4169-5179BF6501F4}"/>
                </a:ext>
              </a:extLst>
            </p:cNvPr>
            <p:cNvCxnSpPr>
              <a:cxnSpLocks/>
              <a:stCxn id="37" idx="3"/>
            </p:cNvCxnSpPr>
            <p:nvPr/>
          </p:nvCxnSpPr>
          <p:spPr>
            <a:xfrm flipH="1">
              <a:off x="927955" y="4057106"/>
              <a:ext cx="1151636" cy="12768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24">
              <a:extLst>
                <a:ext uri="{FF2B5EF4-FFF2-40B4-BE49-F238E27FC236}">
                  <a16:creationId xmlns:a16="http://schemas.microsoft.com/office/drawing/2014/main" id="{750A40A2-F502-9B92-C9F4-204972EB006A}"/>
                </a:ext>
              </a:extLst>
            </p:cNvPr>
            <p:cNvCxnSpPr>
              <a:cxnSpLocks/>
              <a:stCxn id="37" idx="5"/>
            </p:cNvCxnSpPr>
            <p:nvPr/>
          </p:nvCxnSpPr>
          <p:spPr>
            <a:xfrm>
              <a:off x="2690531" y="4057106"/>
              <a:ext cx="1220754" cy="12684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30">
              <a:extLst>
                <a:ext uri="{FF2B5EF4-FFF2-40B4-BE49-F238E27FC236}">
                  <a16:creationId xmlns:a16="http://schemas.microsoft.com/office/drawing/2014/main" id="{C81C8895-4FD5-7F25-0019-1F42BD35992A}"/>
                </a:ext>
              </a:extLst>
            </p:cNvPr>
            <p:cNvCxnSpPr>
              <a:cxnSpLocks/>
              <a:stCxn id="35" idx="3"/>
            </p:cNvCxnSpPr>
            <p:nvPr/>
          </p:nvCxnSpPr>
          <p:spPr>
            <a:xfrm flipH="1">
              <a:off x="5232716" y="4057106"/>
              <a:ext cx="1220753" cy="12768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31">
              <a:extLst>
                <a:ext uri="{FF2B5EF4-FFF2-40B4-BE49-F238E27FC236}">
                  <a16:creationId xmlns:a16="http://schemas.microsoft.com/office/drawing/2014/main" id="{B6388175-5B0C-0EC7-C1FD-CA61E84D5BFC}"/>
                </a:ext>
              </a:extLst>
            </p:cNvPr>
            <p:cNvCxnSpPr>
              <a:cxnSpLocks/>
              <a:stCxn id="35" idx="5"/>
            </p:cNvCxnSpPr>
            <p:nvPr/>
          </p:nvCxnSpPr>
          <p:spPr>
            <a:xfrm>
              <a:off x="7064409" y="4057106"/>
              <a:ext cx="1341150" cy="12684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0174AEB-C838-7A8B-213E-491B40432F2D}"/>
                </a:ext>
              </a:extLst>
            </p:cNvPr>
            <p:cNvSpPr/>
            <p:nvPr/>
          </p:nvSpPr>
          <p:spPr>
            <a:xfrm>
              <a:off x="2529818" y="2224956"/>
              <a:ext cx="785792" cy="307777"/>
            </a:xfrm>
            <a:prstGeom prst="rect">
              <a:avLst/>
            </a:prstGeom>
          </p:spPr>
          <p:txBody>
            <a:bodyPr wrap="none">
              <a:spAutoFit/>
            </a:bodyPr>
            <a:lstStyle/>
            <a:p>
              <a:pPr lvl="0" algn="ctr"/>
              <a:r>
                <a:rPr lang="en-US" altLang="zh-CN" sz="1400">
                  <a:solidFill>
                    <a:prstClr val="black"/>
                  </a:solidFill>
                  <a:latin typeface="Times New Roman"/>
                </a:rPr>
                <a:t>X2&lt;=19</a:t>
              </a:r>
            </a:p>
          </p:txBody>
        </p:sp>
        <p:sp>
          <p:nvSpPr>
            <p:cNvPr id="20" name="矩形 19">
              <a:extLst>
                <a:ext uri="{FF2B5EF4-FFF2-40B4-BE49-F238E27FC236}">
                  <a16:creationId xmlns:a16="http://schemas.microsoft.com/office/drawing/2014/main" id="{3EE24E48-E27E-C5E5-43CF-A1B1CD10209C}"/>
                </a:ext>
              </a:extLst>
            </p:cNvPr>
            <p:cNvSpPr/>
            <p:nvPr/>
          </p:nvSpPr>
          <p:spPr>
            <a:xfrm>
              <a:off x="5701595" y="2224956"/>
              <a:ext cx="684803" cy="307777"/>
            </a:xfrm>
            <a:prstGeom prst="rect">
              <a:avLst/>
            </a:prstGeom>
          </p:spPr>
          <p:txBody>
            <a:bodyPr wrap="none">
              <a:spAutoFit/>
            </a:bodyPr>
            <a:lstStyle/>
            <a:p>
              <a:pPr lvl="0" algn="ctr"/>
              <a:r>
                <a:rPr lang="en-US" altLang="zh-CN" sz="1400">
                  <a:solidFill>
                    <a:prstClr val="black"/>
                  </a:solidFill>
                  <a:latin typeface="Times New Roman"/>
                </a:rPr>
                <a:t>X2&gt;19</a:t>
              </a:r>
            </a:p>
          </p:txBody>
        </p:sp>
        <p:sp>
          <p:nvSpPr>
            <p:cNvPr id="21" name="矩形 20">
              <a:extLst>
                <a:ext uri="{FF2B5EF4-FFF2-40B4-BE49-F238E27FC236}">
                  <a16:creationId xmlns:a16="http://schemas.microsoft.com/office/drawing/2014/main" id="{70363AFF-76BB-2F9C-D3F6-A5804A01BD42}"/>
                </a:ext>
              </a:extLst>
            </p:cNvPr>
            <p:cNvSpPr/>
            <p:nvPr/>
          </p:nvSpPr>
          <p:spPr>
            <a:xfrm>
              <a:off x="3043581" y="2769651"/>
              <a:ext cx="364202" cy="307777"/>
            </a:xfrm>
            <a:prstGeom prst="rect">
              <a:avLst/>
            </a:prstGeom>
          </p:spPr>
          <p:txBody>
            <a:bodyPr wrap="none">
              <a:spAutoFit/>
            </a:bodyPr>
            <a:lstStyle/>
            <a:p>
              <a:pPr lvl="0" algn="ctr"/>
              <a:r>
                <a:rPr lang="en-US" altLang="zh-CN" sz="1400">
                  <a:solidFill>
                    <a:prstClr val="black"/>
                  </a:solidFill>
                  <a:latin typeface="Times New Roman"/>
                </a:rPr>
                <a:t>12</a:t>
              </a:r>
            </a:p>
          </p:txBody>
        </p:sp>
        <p:sp>
          <p:nvSpPr>
            <p:cNvPr id="22" name="矩形 21">
              <a:extLst>
                <a:ext uri="{FF2B5EF4-FFF2-40B4-BE49-F238E27FC236}">
                  <a16:creationId xmlns:a16="http://schemas.microsoft.com/office/drawing/2014/main" id="{E22D0F5C-13AD-1FE1-DB1A-9175B609C98F}"/>
                </a:ext>
              </a:extLst>
            </p:cNvPr>
            <p:cNvSpPr/>
            <p:nvPr/>
          </p:nvSpPr>
          <p:spPr>
            <a:xfrm>
              <a:off x="5500654" y="2769651"/>
              <a:ext cx="364202" cy="307777"/>
            </a:xfrm>
            <a:prstGeom prst="rect">
              <a:avLst/>
            </a:prstGeom>
          </p:spPr>
          <p:txBody>
            <a:bodyPr wrap="none">
              <a:spAutoFit/>
            </a:bodyPr>
            <a:lstStyle/>
            <a:p>
              <a:pPr lvl="0" algn="ctr"/>
              <a:r>
                <a:rPr lang="en-US" altLang="zh-CN" sz="1400">
                  <a:solidFill>
                    <a:prstClr val="black"/>
                  </a:solidFill>
                  <a:latin typeface="Times New Roman"/>
                </a:rPr>
                <a:t>12</a:t>
              </a:r>
            </a:p>
          </p:txBody>
        </p:sp>
        <p:sp>
          <p:nvSpPr>
            <p:cNvPr id="23" name="矩形 22">
              <a:extLst>
                <a:ext uri="{FF2B5EF4-FFF2-40B4-BE49-F238E27FC236}">
                  <a16:creationId xmlns:a16="http://schemas.microsoft.com/office/drawing/2014/main" id="{EB0C1E8B-4089-C075-8802-182220EF6120}"/>
                </a:ext>
              </a:extLst>
            </p:cNvPr>
            <p:cNvSpPr/>
            <p:nvPr/>
          </p:nvSpPr>
          <p:spPr>
            <a:xfrm>
              <a:off x="3975222" y="2230246"/>
              <a:ext cx="902811" cy="307777"/>
            </a:xfrm>
            <a:prstGeom prst="rect">
              <a:avLst/>
            </a:prstGeom>
          </p:spPr>
          <p:txBody>
            <a:bodyPr wrap="none">
              <a:spAutoFit/>
            </a:bodyPr>
            <a:lstStyle/>
            <a:p>
              <a:pPr lvl="0" algn="ctr"/>
              <a:r>
                <a:rPr lang="zh-CN" altLang="en-US" sz="1400" b="0">
                  <a:latin typeface="Times New Roman"/>
                </a:rPr>
                <a:t>草地面积</a:t>
              </a:r>
              <a:endParaRPr lang="en-US" altLang="zh-CN" sz="1400" b="0">
                <a:latin typeface="Times New Roman"/>
              </a:endParaRPr>
            </a:p>
          </p:txBody>
        </p:sp>
        <p:sp>
          <p:nvSpPr>
            <p:cNvPr id="24" name="矩形 23">
              <a:extLst>
                <a:ext uri="{FF2B5EF4-FFF2-40B4-BE49-F238E27FC236}">
                  <a16:creationId xmlns:a16="http://schemas.microsoft.com/office/drawing/2014/main" id="{73C4ACBC-B7D3-BFD9-0C53-202BA2D43246}"/>
                </a:ext>
              </a:extLst>
            </p:cNvPr>
            <p:cNvSpPr/>
            <p:nvPr/>
          </p:nvSpPr>
          <p:spPr>
            <a:xfrm>
              <a:off x="2099123" y="4252077"/>
              <a:ext cx="543739" cy="307777"/>
            </a:xfrm>
            <a:prstGeom prst="rect">
              <a:avLst/>
            </a:prstGeom>
          </p:spPr>
          <p:txBody>
            <a:bodyPr wrap="none">
              <a:spAutoFit/>
            </a:bodyPr>
            <a:lstStyle/>
            <a:p>
              <a:pPr lvl="0" algn="ctr"/>
              <a:r>
                <a:rPr lang="zh-CN" altLang="en-US" sz="1400" b="0">
                  <a:latin typeface="Times New Roman"/>
                </a:rPr>
                <a:t>收入</a:t>
              </a:r>
              <a:endParaRPr lang="en-US" altLang="zh-CN" sz="1400" b="0">
                <a:latin typeface="Times New Roman"/>
              </a:endParaRPr>
            </a:p>
          </p:txBody>
        </p:sp>
        <p:sp>
          <p:nvSpPr>
            <p:cNvPr id="25" name="矩形 24">
              <a:extLst>
                <a:ext uri="{FF2B5EF4-FFF2-40B4-BE49-F238E27FC236}">
                  <a16:creationId xmlns:a16="http://schemas.microsoft.com/office/drawing/2014/main" id="{293F67B9-6FDA-8CBF-01A9-9FF82835079C}"/>
                </a:ext>
              </a:extLst>
            </p:cNvPr>
            <p:cNvSpPr/>
            <p:nvPr/>
          </p:nvSpPr>
          <p:spPr>
            <a:xfrm>
              <a:off x="6530875" y="4195866"/>
              <a:ext cx="543739" cy="307777"/>
            </a:xfrm>
            <a:prstGeom prst="rect">
              <a:avLst/>
            </a:prstGeom>
          </p:spPr>
          <p:txBody>
            <a:bodyPr wrap="none">
              <a:spAutoFit/>
            </a:bodyPr>
            <a:lstStyle/>
            <a:p>
              <a:pPr lvl="0" algn="ctr"/>
              <a:r>
                <a:rPr lang="zh-CN" altLang="en-US" sz="1400" b="0">
                  <a:latin typeface="Times New Roman"/>
                </a:rPr>
                <a:t>收入</a:t>
              </a:r>
              <a:endParaRPr lang="en-US" altLang="zh-CN" sz="1400" b="0">
                <a:latin typeface="Times New Roman"/>
              </a:endParaRPr>
            </a:p>
          </p:txBody>
        </p:sp>
        <p:sp>
          <p:nvSpPr>
            <p:cNvPr id="26" name="矩形 25">
              <a:extLst>
                <a:ext uri="{FF2B5EF4-FFF2-40B4-BE49-F238E27FC236}">
                  <a16:creationId xmlns:a16="http://schemas.microsoft.com/office/drawing/2014/main" id="{8FF9B6EB-8975-C884-1A24-3FFF0092C882}"/>
                </a:ext>
              </a:extLst>
            </p:cNvPr>
            <p:cNvSpPr/>
            <p:nvPr/>
          </p:nvSpPr>
          <p:spPr>
            <a:xfrm>
              <a:off x="412775" y="4346496"/>
              <a:ext cx="1010212" cy="307777"/>
            </a:xfrm>
            <a:prstGeom prst="rect">
              <a:avLst/>
            </a:prstGeom>
          </p:spPr>
          <p:txBody>
            <a:bodyPr wrap="none">
              <a:spAutoFit/>
            </a:bodyPr>
            <a:lstStyle/>
            <a:p>
              <a:pPr lvl="0" algn="ctr"/>
              <a:r>
                <a:rPr lang="en-US" altLang="zh-CN" sz="1400">
                  <a:solidFill>
                    <a:prstClr val="black"/>
                  </a:solidFill>
                  <a:latin typeface="Times New Roman"/>
                </a:rPr>
                <a:t>X1&lt;=84.75</a:t>
              </a:r>
            </a:p>
          </p:txBody>
        </p:sp>
        <p:sp>
          <p:nvSpPr>
            <p:cNvPr id="27" name="矩形 26">
              <a:extLst>
                <a:ext uri="{FF2B5EF4-FFF2-40B4-BE49-F238E27FC236}">
                  <a16:creationId xmlns:a16="http://schemas.microsoft.com/office/drawing/2014/main" id="{851CBA45-B1E6-46BE-8F73-FF98BBB1E0ED}"/>
                </a:ext>
              </a:extLst>
            </p:cNvPr>
            <p:cNvSpPr/>
            <p:nvPr/>
          </p:nvSpPr>
          <p:spPr>
            <a:xfrm>
              <a:off x="1295400" y="4837237"/>
              <a:ext cx="441147" cy="307777"/>
            </a:xfrm>
            <a:prstGeom prst="rect">
              <a:avLst/>
            </a:prstGeom>
          </p:spPr>
          <p:txBody>
            <a:bodyPr wrap="square">
              <a:spAutoFit/>
            </a:bodyPr>
            <a:lstStyle/>
            <a:p>
              <a:pPr lvl="0" algn="ctr"/>
              <a:r>
                <a:rPr lang="en-US" altLang="zh-CN" sz="1400">
                  <a:solidFill>
                    <a:prstClr val="black"/>
                  </a:solidFill>
                  <a:latin typeface="Times New Roman"/>
                </a:rPr>
                <a:t>10</a:t>
              </a:r>
            </a:p>
          </p:txBody>
        </p:sp>
        <p:sp>
          <p:nvSpPr>
            <p:cNvPr id="28" name="矩形 27">
              <a:extLst>
                <a:ext uri="{FF2B5EF4-FFF2-40B4-BE49-F238E27FC236}">
                  <a16:creationId xmlns:a16="http://schemas.microsoft.com/office/drawing/2014/main" id="{148B7AFF-1E4B-9C6E-BB83-D1A911A2F803}"/>
                </a:ext>
              </a:extLst>
            </p:cNvPr>
            <p:cNvSpPr/>
            <p:nvPr/>
          </p:nvSpPr>
          <p:spPr>
            <a:xfrm>
              <a:off x="3054753" y="4837237"/>
              <a:ext cx="441147" cy="307777"/>
            </a:xfrm>
            <a:prstGeom prst="rect">
              <a:avLst/>
            </a:prstGeom>
          </p:spPr>
          <p:txBody>
            <a:bodyPr wrap="square">
              <a:spAutoFit/>
            </a:bodyPr>
            <a:lstStyle/>
            <a:p>
              <a:pPr lvl="0" algn="ctr"/>
              <a:r>
                <a:rPr lang="en-US" altLang="zh-CN" sz="1400">
                  <a:solidFill>
                    <a:prstClr val="black"/>
                  </a:solidFill>
                  <a:latin typeface="Times New Roman"/>
                </a:rPr>
                <a:t>2</a:t>
              </a:r>
            </a:p>
          </p:txBody>
        </p:sp>
        <p:sp>
          <p:nvSpPr>
            <p:cNvPr id="29" name="矩形 28">
              <a:extLst>
                <a:ext uri="{FF2B5EF4-FFF2-40B4-BE49-F238E27FC236}">
                  <a16:creationId xmlns:a16="http://schemas.microsoft.com/office/drawing/2014/main" id="{4A9DCBAE-C894-1A46-0D27-F9F856505367}"/>
                </a:ext>
              </a:extLst>
            </p:cNvPr>
            <p:cNvSpPr/>
            <p:nvPr/>
          </p:nvSpPr>
          <p:spPr>
            <a:xfrm>
              <a:off x="3437743" y="4346496"/>
              <a:ext cx="909223" cy="307777"/>
            </a:xfrm>
            <a:prstGeom prst="rect">
              <a:avLst/>
            </a:prstGeom>
          </p:spPr>
          <p:txBody>
            <a:bodyPr wrap="none">
              <a:spAutoFit/>
            </a:bodyPr>
            <a:lstStyle/>
            <a:p>
              <a:pPr lvl="0" algn="ctr"/>
              <a:r>
                <a:rPr lang="en-US" altLang="zh-CN" sz="1400">
                  <a:solidFill>
                    <a:prstClr val="black"/>
                  </a:solidFill>
                  <a:latin typeface="Times New Roman"/>
                </a:rPr>
                <a:t>X1&gt;84.75</a:t>
              </a:r>
            </a:p>
          </p:txBody>
        </p:sp>
        <p:sp>
          <p:nvSpPr>
            <p:cNvPr id="30" name="矩形 29">
              <a:extLst>
                <a:ext uri="{FF2B5EF4-FFF2-40B4-BE49-F238E27FC236}">
                  <a16:creationId xmlns:a16="http://schemas.microsoft.com/office/drawing/2014/main" id="{10A96199-2F55-C82F-86EA-B191C20ECDFC}"/>
                </a:ext>
              </a:extLst>
            </p:cNvPr>
            <p:cNvSpPr/>
            <p:nvPr/>
          </p:nvSpPr>
          <p:spPr>
            <a:xfrm>
              <a:off x="4776431" y="4346496"/>
              <a:ext cx="1010212" cy="307777"/>
            </a:xfrm>
            <a:prstGeom prst="rect">
              <a:avLst/>
            </a:prstGeom>
          </p:spPr>
          <p:txBody>
            <a:bodyPr wrap="none">
              <a:spAutoFit/>
            </a:bodyPr>
            <a:lstStyle/>
            <a:p>
              <a:pPr lvl="0" algn="ctr"/>
              <a:r>
                <a:rPr lang="en-US" altLang="zh-CN" sz="1400">
                  <a:solidFill>
                    <a:prstClr val="black"/>
                  </a:solidFill>
                  <a:latin typeface="Times New Roman"/>
                </a:rPr>
                <a:t>X1&lt;=57.15</a:t>
              </a:r>
            </a:p>
          </p:txBody>
        </p:sp>
        <p:sp>
          <p:nvSpPr>
            <p:cNvPr id="31" name="矩形 30">
              <a:extLst>
                <a:ext uri="{FF2B5EF4-FFF2-40B4-BE49-F238E27FC236}">
                  <a16:creationId xmlns:a16="http://schemas.microsoft.com/office/drawing/2014/main" id="{A67EED57-9576-1B42-DF81-3CC40AE9EA96}"/>
                </a:ext>
              </a:extLst>
            </p:cNvPr>
            <p:cNvSpPr/>
            <p:nvPr/>
          </p:nvSpPr>
          <p:spPr>
            <a:xfrm>
              <a:off x="5659056" y="4837237"/>
              <a:ext cx="441147" cy="307777"/>
            </a:xfrm>
            <a:prstGeom prst="rect">
              <a:avLst/>
            </a:prstGeom>
          </p:spPr>
          <p:txBody>
            <a:bodyPr wrap="square">
              <a:spAutoFit/>
            </a:bodyPr>
            <a:lstStyle/>
            <a:p>
              <a:pPr lvl="0" algn="ctr"/>
              <a:r>
                <a:rPr lang="en-US" altLang="zh-CN" sz="1400">
                  <a:solidFill>
                    <a:prstClr val="black"/>
                  </a:solidFill>
                  <a:latin typeface="Times New Roman"/>
                </a:rPr>
                <a:t>3</a:t>
              </a:r>
            </a:p>
          </p:txBody>
        </p:sp>
        <p:sp>
          <p:nvSpPr>
            <p:cNvPr id="32" name="矩形 31">
              <a:extLst>
                <a:ext uri="{FF2B5EF4-FFF2-40B4-BE49-F238E27FC236}">
                  <a16:creationId xmlns:a16="http://schemas.microsoft.com/office/drawing/2014/main" id="{2DCFE462-3754-70D8-96C9-465E0B1F1ABA}"/>
                </a:ext>
              </a:extLst>
            </p:cNvPr>
            <p:cNvSpPr/>
            <p:nvPr/>
          </p:nvSpPr>
          <p:spPr>
            <a:xfrm>
              <a:off x="7499434" y="4837237"/>
              <a:ext cx="441147" cy="307777"/>
            </a:xfrm>
            <a:prstGeom prst="rect">
              <a:avLst/>
            </a:prstGeom>
          </p:spPr>
          <p:txBody>
            <a:bodyPr wrap="square">
              <a:spAutoFit/>
            </a:bodyPr>
            <a:lstStyle/>
            <a:p>
              <a:pPr lvl="0" algn="ctr"/>
              <a:r>
                <a:rPr lang="en-US" altLang="zh-CN" sz="1400">
                  <a:solidFill>
                    <a:prstClr val="black"/>
                  </a:solidFill>
                  <a:latin typeface="Times New Roman"/>
                </a:rPr>
                <a:t>9</a:t>
              </a:r>
            </a:p>
          </p:txBody>
        </p:sp>
        <p:sp>
          <p:nvSpPr>
            <p:cNvPr id="33" name="矩形 32">
              <a:extLst>
                <a:ext uri="{FF2B5EF4-FFF2-40B4-BE49-F238E27FC236}">
                  <a16:creationId xmlns:a16="http://schemas.microsoft.com/office/drawing/2014/main" id="{EAE6A762-C050-60DB-6953-4C6EB4FA3AFB}"/>
                </a:ext>
              </a:extLst>
            </p:cNvPr>
            <p:cNvSpPr/>
            <p:nvPr/>
          </p:nvSpPr>
          <p:spPr>
            <a:xfrm>
              <a:off x="7801398" y="4346496"/>
              <a:ext cx="909223" cy="307777"/>
            </a:xfrm>
            <a:prstGeom prst="rect">
              <a:avLst/>
            </a:prstGeom>
          </p:spPr>
          <p:txBody>
            <a:bodyPr wrap="none">
              <a:spAutoFit/>
            </a:bodyPr>
            <a:lstStyle/>
            <a:p>
              <a:pPr lvl="0" algn="ctr"/>
              <a:r>
                <a:rPr lang="en-US" altLang="zh-CN" sz="1400">
                  <a:solidFill>
                    <a:prstClr val="black"/>
                  </a:solidFill>
                  <a:latin typeface="Times New Roman"/>
                </a:rPr>
                <a:t>X1&gt;57.15</a:t>
              </a:r>
            </a:p>
          </p:txBody>
        </p:sp>
      </p:grpSp>
      <p:grpSp>
        <p:nvGrpSpPr>
          <p:cNvPr id="51" name="组合 50">
            <a:extLst>
              <a:ext uri="{FF2B5EF4-FFF2-40B4-BE49-F238E27FC236}">
                <a16:creationId xmlns:a16="http://schemas.microsoft.com/office/drawing/2014/main" id="{8EF468E3-5605-3BAF-FF7E-2695ED124AF3}"/>
              </a:ext>
            </a:extLst>
          </p:cNvPr>
          <p:cNvGrpSpPr/>
          <p:nvPr/>
        </p:nvGrpSpPr>
        <p:grpSpPr>
          <a:xfrm>
            <a:off x="1077032" y="2677216"/>
            <a:ext cx="4763099" cy="429242"/>
            <a:chOff x="1710156" y="2405606"/>
            <a:chExt cx="6203069" cy="370389"/>
          </a:xfrm>
        </p:grpSpPr>
        <p:cxnSp>
          <p:nvCxnSpPr>
            <p:cNvPr id="52" name="直接连接符 7">
              <a:extLst>
                <a:ext uri="{FF2B5EF4-FFF2-40B4-BE49-F238E27FC236}">
                  <a16:creationId xmlns:a16="http://schemas.microsoft.com/office/drawing/2014/main" id="{258814E4-F83C-F9E3-651A-5952949031E4}"/>
                </a:ext>
              </a:extLst>
            </p:cNvPr>
            <p:cNvCxnSpPr>
              <a:cxnSpLocks/>
            </p:cNvCxnSpPr>
            <p:nvPr/>
          </p:nvCxnSpPr>
          <p:spPr>
            <a:xfrm>
              <a:off x="3585255" y="2498203"/>
              <a:ext cx="4327970"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cxnSp>
          <p:nvCxnSpPr>
            <p:cNvPr id="53" name="直接连接符 8">
              <a:extLst>
                <a:ext uri="{FF2B5EF4-FFF2-40B4-BE49-F238E27FC236}">
                  <a16:creationId xmlns:a16="http://schemas.microsoft.com/office/drawing/2014/main" id="{89DA0AEA-0874-53AF-9D6F-71E2C066B060}"/>
                </a:ext>
              </a:extLst>
            </p:cNvPr>
            <p:cNvCxnSpPr>
              <a:cxnSpLocks/>
            </p:cNvCxnSpPr>
            <p:nvPr/>
          </p:nvCxnSpPr>
          <p:spPr>
            <a:xfrm>
              <a:off x="3585255" y="2405606"/>
              <a:ext cx="4327970"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cxnSp>
          <p:nvCxnSpPr>
            <p:cNvPr id="54" name="直接连接符 9">
              <a:extLst>
                <a:ext uri="{FF2B5EF4-FFF2-40B4-BE49-F238E27FC236}">
                  <a16:creationId xmlns:a16="http://schemas.microsoft.com/office/drawing/2014/main" id="{0F9ED4E0-D40D-F3DC-A459-5518277A94C8}"/>
                </a:ext>
              </a:extLst>
            </p:cNvPr>
            <p:cNvCxnSpPr>
              <a:cxnSpLocks/>
            </p:cNvCxnSpPr>
            <p:nvPr/>
          </p:nvCxnSpPr>
          <p:spPr>
            <a:xfrm>
              <a:off x="1710156" y="2683398"/>
              <a:ext cx="3784919"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cxnSp>
          <p:nvCxnSpPr>
            <p:cNvPr id="55" name="直接连接符 11">
              <a:extLst>
                <a:ext uri="{FF2B5EF4-FFF2-40B4-BE49-F238E27FC236}">
                  <a16:creationId xmlns:a16="http://schemas.microsoft.com/office/drawing/2014/main" id="{5DCD5556-F953-E4BA-B573-8F22B7A06D23}"/>
                </a:ext>
              </a:extLst>
            </p:cNvPr>
            <p:cNvCxnSpPr>
              <a:cxnSpLocks/>
            </p:cNvCxnSpPr>
            <p:nvPr/>
          </p:nvCxnSpPr>
          <p:spPr>
            <a:xfrm>
              <a:off x="1710156" y="2775995"/>
              <a:ext cx="3784919" cy="0"/>
            </a:xfrm>
            <a:prstGeom prst="line">
              <a:avLst/>
            </a:prstGeom>
            <a:ln w="38100">
              <a:solidFill>
                <a:srgbClr val="13548C"/>
              </a:solidFill>
            </a:ln>
          </p:spPr>
          <p:style>
            <a:lnRef idx="1">
              <a:schemeClr val="accent1"/>
            </a:lnRef>
            <a:fillRef idx="0">
              <a:schemeClr val="accent1"/>
            </a:fillRef>
            <a:effectRef idx="0">
              <a:schemeClr val="accent1"/>
            </a:effectRef>
            <a:fontRef idx="minor">
              <a:schemeClr val="tx1"/>
            </a:fontRef>
          </p:style>
        </p:cxnSp>
      </p:grpSp>
      <p:sp>
        <p:nvSpPr>
          <p:cNvPr id="56" name="TextBox 1">
            <a:extLst>
              <a:ext uri="{FF2B5EF4-FFF2-40B4-BE49-F238E27FC236}">
                <a16:creationId xmlns:a16="http://schemas.microsoft.com/office/drawing/2014/main" id="{8F350DD0-6968-23F9-A80D-7B91ED113133}"/>
              </a:ext>
            </a:extLst>
          </p:cNvPr>
          <p:cNvSpPr txBox="1"/>
          <p:nvPr/>
        </p:nvSpPr>
        <p:spPr>
          <a:xfrm>
            <a:off x="1001589" y="4220468"/>
            <a:ext cx="320039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rgbClr val="FF6600"/>
                </a:solidFill>
              </a:rPr>
              <a:t>每次都找一个最佳分裂点</a:t>
            </a:r>
          </a:p>
        </p:txBody>
      </p:sp>
    </p:spTree>
    <p:extLst>
      <p:ext uri="{BB962C8B-B14F-4D97-AF65-F5344CB8AC3E}">
        <p14:creationId xmlns:p14="http://schemas.microsoft.com/office/powerpoint/2010/main" val="356661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A9DBA2-014E-A509-F310-A23507FF271D}"/>
              </a:ext>
            </a:extLst>
          </p:cNvPr>
          <p:cNvSpPr>
            <a:spLocks noGrp="1"/>
          </p:cNvSpPr>
          <p:nvPr>
            <p:ph type="title"/>
          </p:nvPr>
        </p:nvSpPr>
        <p:spPr/>
        <p:txBody>
          <a:bodyPr>
            <a:normAutofit fontScale="90000"/>
          </a:bodyPr>
          <a:lstStyle/>
          <a:p>
            <a:r>
              <a:rPr kumimoji="1" lang="en-US" altLang="zh-CN" dirty="0"/>
              <a:t>CART-</a:t>
            </a:r>
            <a:r>
              <a:rPr kumimoji="1" lang="zh-CN" altLang="en-US" dirty="0"/>
              <a:t>案例</a:t>
            </a:r>
          </a:p>
        </p:txBody>
      </p:sp>
      <p:grpSp>
        <p:nvGrpSpPr>
          <p:cNvPr id="3" name="组合 2">
            <a:extLst>
              <a:ext uri="{FF2B5EF4-FFF2-40B4-BE49-F238E27FC236}">
                <a16:creationId xmlns:a16="http://schemas.microsoft.com/office/drawing/2014/main" id="{A570DA00-A60E-76F3-B0CF-318AA0ABFB04}"/>
              </a:ext>
            </a:extLst>
          </p:cNvPr>
          <p:cNvGrpSpPr/>
          <p:nvPr/>
        </p:nvGrpSpPr>
        <p:grpSpPr>
          <a:xfrm>
            <a:off x="2269067" y="1211592"/>
            <a:ext cx="8094133" cy="5646408"/>
            <a:chOff x="457200" y="696384"/>
            <a:chExt cx="8517526" cy="6203091"/>
          </a:xfrm>
        </p:grpSpPr>
        <p:grpSp>
          <p:nvGrpSpPr>
            <p:cNvPr id="4" name="组合 3">
              <a:extLst>
                <a:ext uri="{FF2B5EF4-FFF2-40B4-BE49-F238E27FC236}">
                  <a16:creationId xmlns:a16="http://schemas.microsoft.com/office/drawing/2014/main" id="{08703C60-4B17-B2A9-3572-42F2FB18B6B4}"/>
                </a:ext>
              </a:extLst>
            </p:cNvPr>
            <p:cNvGrpSpPr/>
            <p:nvPr/>
          </p:nvGrpSpPr>
          <p:grpSpPr>
            <a:xfrm>
              <a:off x="3813694" y="696384"/>
              <a:ext cx="964625" cy="593914"/>
              <a:chOff x="3446256" y="1244886"/>
              <a:chExt cx="1403294" cy="864000"/>
            </a:xfrm>
          </p:grpSpPr>
          <p:sp>
            <p:nvSpPr>
              <p:cNvPr id="101" name="矩形: 圆角 5">
                <a:extLst>
                  <a:ext uri="{FF2B5EF4-FFF2-40B4-BE49-F238E27FC236}">
                    <a16:creationId xmlns:a16="http://schemas.microsoft.com/office/drawing/2014/main" id="{17D115D7-19AF-4DC0-F9B4-B5FE4C347E16}"/>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1</a:t>
                </a:r>
                <a:endParaRPr lang="zh-CN" altLang="en-US" sz="1600">
                  <a:solidFill>
                    <a:schemeClr val="tx1"/>
                  </a:solidFill>
                </a:endParaRPr>
              </a:p>
            </p:txBody>
          </p:sp>
          <p:sp>
            <p:nvSpPr>
              <p:cNvPr id="102" name="椭圆 101">
                <a:extLst>
                  <a:ext uri="{FF2B5EF4-FFF2-40B4-BE49-F238E27FC236}">
                    <a16:creationId xmlns:a16="http://schemas.microsoft.com/office/drawing/2014/main" id="{78A85CF5-92ED-11A8-BA6E-43D41AF84FFC}"/>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19</a:t>
                </a:r>
                <a:endParaRPr lang="zh-CN" altLang="en-US" sz="1600">
                  <a:solidFill>
                    <a:schemeClr val="tx1"/>
                  </a:solidFill>
                </a:endParaRPr>
              </a:p>
            </p:txBody>
          </p:sp>
        </p:grpSp>
        <p:grpSp>
          <p:nvGrpSpPr>
            <p:cNvPr id="5" name="组合 4">
              <a:extLst>
                <a:ext uri="{FF2B5EF4-FFF2-40B4-BE49-F238E27FC236}">
                  <a16:creationId xmlns:a16="http://schemas.microsoft.com/office/drawing/2014/main" id="{E02CC3A8-CA60-65BD-2A77-458FD71FBAD2}"/>
                </a:ext>
              </a:extLst>
            </p:cNvPr>
            <p:cNvGrpSpPr/>
            <p:nvPr/>
          </p:nvGrpSpPr>
          <p:grpSpPr>
            <a:xfrm>
              <a:off x="1828800" y="1807635"/>
              <a:ext cx="964625" cy="593914"/>
              <a:chOff x="3446256" y="1244886"/>
              <a:chExt cx="1403294" cy="864000"/>
            </a:xfrm>
          </p:grpSpPr>
          <p:sp>
            <p:nvSpPr>
              <p:cNvPr id="99" name="矩形: 圆角 8">
                <a:extLst>
                  <a:ext uri="{FF2B5EF4-FFF2-40B4-BE49-F238E27FC236}">
                    <a16:creationId xmlns:a16="http://schemas.microsoft.com/office/drawing/2014/main" id="{653ABB4A-FB5C-6337-ABF9-3EC7011E1395}"/>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2</a:t>
                </a:r>
                <a:endParaRPr lang="zh-CN" altLang="en-US" sz="1600">
                  <a:solidFill>
                    <a:schemeClr val="tx1"/>
                  </a:solidFill>
                </a:endParaRPr>
              </a:p>
            </p:txBody>
          </p:sp>
          <p:sp>
            <p:nvSpPr>
              <p:cNvPr id="100" name="椭圆 99">
                <a:extLst>
                  <a:ext uri="{FF2B5EF4-FFF2-40B4-BE49-F238E27FC236}">
                    <a16:creationId xmlns:a16="http://schemas.microsoft.com/office/drawing/2014/main" id="{4F71116D-32F2-FDA4-1D25-DB56CA34E966}"/>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600">
                    <a:solidFill>
                      <a:schemeClr val="tx1"/>
                    </a:solidFill>
                  </a:rPr>
                  <a:t>84.75</a:t>
                </a:r>
                <a:endParaRPr lang="zh-CN" altLang="en-US" sz="1600">
                  <a:solidFill>
                    <a:schemeClr val="tx1"/>
                  </a:solidFill>
                </a:endParaRPr>
              </a:p>
            </p:txBody>
          </p:sp>
        </p:grpSp>
        <p:grpSp>
          <p:nvGrpSpPr>
            <p:cNvPr id="6" name="组合 5">
              <a:extLst>
                <a:ext uri="{FF2B5EF4-FFF2-40B4-BE49-F238E27FC236}">
                  <a16:creationId xmlns:a16="http://schemas.microsoft.com/office/drawing/2014/main" id="{5DA296F2-C466-478E-23FA-A18B2A7D1EA2}"/>
                </a:ext>
              </a:extLst>
            </p:cNvPr>
            <p:cNvGrpSpPr/>
            <p:nvPr/>
          </p:nvGrpSpPr>
          <p:grpSpPr>
            <a:xfrm>
              <a:off x="5423166" y="1806009"/>
              <a:ext cx="964625" cy="593914"/>
              <a:chOff x="3446256" y="1244886"/>
              <a:chExt cx="1403294" cy="864000"/>
            </a:xfrm>
          </p:grpSpPr>
          <p:sp>
            <p:nvSpPr>
              <p:cNvPr id="97" name="矩形: 圆角 11">
                <a:extLst>
                  <a:ext uri="{FF2B5EF4-FFF2-40B4-BE49-F238E27FC236}">
                    <a16:creationId xmlns:a16="http://schemas.microsoft.com/office/drawing/2014/main" id="{BCB1C7E0-D346-F521-5088-2E2238913BD0}"/>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3</a:t>
                </a:r>
                <a:endParaRPr lang="zh-CN" altLang="en-US" sz="1600">
                  <a:solidFill>
                    <a:schemeClr val="tx1"/>
                  </a:solidFill>
                </a:endParaRPr>
              </a:p>
            </p:txBody>
          </p:sp>
          <p:sp>
            <p:nvSpPr>
              <p:cNvPr id="98" name="椭圆 97">
                <a:extLst>
                  <a:ext uri="{FF2B5EF4-FFF2-40B4-BE49-F238E27FC236}">
                    <a16:creationId xmlns:a16="http://schemas.microsoft.com/office/drawing/2014/main" id="{46A37D0F-1DE8-995E-E896-E7FEE61AE433}"/>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altLang="zh-CN" sz="1600">
                    <a:solidFill>
                      <a:schemeClr val="tx1"/>
                    </a:solidFill>
                  </a:rPr>
                  <a:t>57.15</a:t>
                </a:r>
                <a:endParaRPr lang="zh-CN" altLang="en-US" sz="1600">
                  <a:solidFill>
                    <a:schemeClr val="tx1"/>
                  </a:solidFill>
                </a:endParaRPr>
              </a:p>
            </p:txBody>
          </p:sp>
        </p:grpSp>
        <p:cxnSp>
          <p:nvCxnSpPr>
            <p:cNvPr id="7" name="直接连接符 13">
              <a:extLst>
                <a:ext uri="{FF2B5EF4-FFF2-40B4-BE49-F238E27FC236}">
                  <a16:creationId xmlns:a16="http://schemas.microsoft.com/office/drawing/2014/main" id="{D328FCC1-901D-AF34-1D56-FD3875A70CE2}"/>
                </a:ext>
              </a:extLst>
            </p:cNvPr>
            <p:cNvCxnSpPr>
              <a:cxnSpLocks/>
              <a:stCxn id="102" idx="3"/>
              <a:endCxn id="100" idx="0"/>
            </p:cNvCxnSpPr>
            <p:nvPr/>
          </p:nvCxnSpPr>
          <p:spPr>
            <a:xfrm flipH="1">
              <a:off x="2496468" y="1203321"/>
              <a:ext cx="1774914" cy="6043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4">
              <a:extLst>
                <a:ext uri="{FF2B5EF4-FFF2-40B4-BE49-F238E27FC236}">
                  <a16:creationId xmlns:a16="http://schemas.microsoft.com/office/drawing/2014/main" id="{B2E498BF-1124-8C3D-BAB0-9CFEF5AC5C98}"/>
                </a:ext>
              </a:extLst>
            </p:cNvPr>
            <p:cNvCxnSpPr>
              <a:cxnSpLocks/>
              <a:stCxn id="102" idx="5"/>
              <a:endCxn id="98" idx="0"/>
            </p:cNvCxnSpPr>
            <p:nvPr/>
          </p:nvCxnSpPr>
          <p:spPr>
            <a:xfrm>
              <a:off x="4691342" y="1203321"/>
              <a:ext cx="1399492" cy="602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15">
              <a:extLst>
                <a:ext uri="{FF2B5EF4-FFF2-40B4-BE49-F238E27FC236}">
                  <a16:creationId xmlns:a16="http://schemas.microsoft.com/office/drawing/2014/main" id="{A96C9EFD-1778-E3DD-14E0-30FA04913F31}"/>
                </a:ext>
              </a:extLst>
            </p:cNvPr>
            <p:cNvCxnSpPr>
              <a:cxnSpLocks/>
              <a:stCxn id="100" idx="3"/>
              <a:endCxn id="96" idx="0"/>
            </p:cNvCxnSpPr>
            <p:nvPr/>
          </p:nvCxnSpPr>
          <p:spPr>
            <a:xfrm flipH="1">
              <a:off x="1637290" y="2314572"/>
              <a:ext cx="649198" cy="6014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16">
              <a:extLst>
                <a:ext uri="{FF2B5EF4-FFF2-40B4-BE49-F238E27FC236}">
                  <a16:creationId xmlns:a16="http://schemas.microsoft.com/office/drawing/2014/main" id="{C1B3F0CE-D7D0-AE8C-0EEB-39F1899C8DDA}"/>
                </a:ext>
              </a:extLst>
            </p:cNvPr>
            <p:cNvCxnSpPr>
              <a:cxnSpLocks/>
              <a:stCxn id="100" idx="5"/>
              <a:endCxn id="32" idx="0"/>
            </p:cNvCxnSpPr>
            <p:nvPr/>
          </p:nvCxnSpPr>
          <p:spPr>
            <a:xfrm>
              <a:off x="2706448" y="2314572"/>
              <a:ext cx="698973" cy="626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7">
              <a:extLst>
                <a:ext uri="{FF2B5EF4-FFF2-40B4-BE49-F238E27FC236}">
                  <a16:creationId xmlns:a16="http://schemas.microsoft.com/office/drawing/2014/main" id="{42C86E13-98E1-F9FA-0BDA-58237CD04F45}"/>
                </a:ext>
              </a:extLst>
            </p:cNvPr>
            <p:cNvCxnSpPr>
              <a:cxnSpLocks/>
              <a:stCxn id="98" idx="3"/>
              <a:endCxn id="94" idx="0"/>
            </p:cNvCxnSpPr>
            <p:nvPr/>
          </p:nvCxnSpPr>
          <p:spPr>
            <a:xfrm flipH="1">
              <a:off x="4733480" y="2312946"/>
              <a:ext cx="1147374" cy="602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8">
              <a:extLst>
                <a:ext uri="{FF2B5EF4-FFF2-40B4-BE49-F238E27FC236}">
                  <a16:creationId xmlns:a16="http://schemas.microsoft.com/office/drawing/2014/main" id="{9177349A-8018-1823-0AA6-717D0A2CAA4D}"/>
                </a:ext>
              </a:extLst>
            </p:cNvPr>
            <p:cNvCxnSpPr>
              <a:cxnSpLocks/>
              <a:stCxn id="98" idx="5"/>
              <a:endCxn id="92" idx="0"/>
            </p:cNvCxnSpPr>
            <p:nvPr/>
          </p:nvCxnSpPr>
          <p:spPr>
            <a:xfrm>
              <a:off x="6300814" y="2312946"/>
              <a:ext cx="1406298" cy="602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398D7B1-496B-BF2C-9D32-924A8B02B364}"/>
                </a:ext>
              </a:extLst>
            </p:cNvPr>
            <p:cNvSpPr/>
            <p:nvPr/>
          </p:nvSpPr>
          <p:spPr>
            <a:xfrm>
              <a:off x="2797641" y="1172003"/>
              <a:ext cx="770887" cy="298627"/>
            </a:xfrm>
            <a:prstGeom prst="rect">
              <a:avLst/>
            </a:prstGeom>
          </p:spPr>
          <p:txBody>
            <a:bodyPr wrap="none">
              <a:spAutoFit/>
            </a:bodyPr>
            <a:lstStyle/>
            <a:p>
              <a:pPr lvl="0" algn="ctr"/>
              <a:r>
                <a:rPr lang="en-US" altLang="zh-CN" sz="1600">
                  <a:solidFill>
                    <a:prstClr val="black"/>
                  </a:solidFill>
                  <a:latin typeface="Times New Roman"/>
                </a:rPr>
                <a:t>X2&lt;=19</a:t>
              </a:r>
            </a:p>
          </p:txBody>
        </p:sp>
        <p:sp>
          <p:nvSpPr>
            <p:cNvPr id="14" name="矩形 13">
              <a:extLst>
                <a:ext uri="{FF2B5EF4-FFF2-40B4-BE49-F238E27FC236}">
                  <a16:creationId xmlns:a16="http://schemas.microsoft.com/office/drawing/2014/main" id="{F007D89B-F32E-DEAC-9C69-B0F2CF9E9CA4}"/>
                </a:ext>
              </a:extLst>
            </p:cNvPr>
            <p:cNvSpPr/>
            <p:nvPr/>
          </p:nvSpPr>
          <p:spPr>
            <a:xfrm>
              <a:off x="5344788" y="1172003"/>
              <a:ext cx="667669" cy="298627"/>
            </a:xfrm>
            <a:prstGeom prst="rect">
              <a:avLst/>
            </a:prstGeom>
          </p:spPr>
          <p:txBody>
            <a:bodyPr wrap="none">
              <a:spAutoFit/>
            </a:bodyPr>
            <a:lstStyle/>
            <a:p>
              <a:pPr lvl="0" algn="ctr"/>
              <a:r>
                <a:rPr lang="en-US" altLang="zh-CN" sz="1600">
                  <a:solidFill>
                    <a:prstClr val="black"/>
                  </a:solidFill>
                  <a:latin typeface="Times New Roman"/>
                </a:rPr>
                <a:t>X2&gt;19</a:t>
              </a:r>
            </a:p>
          </p:txBody>
        </p:sp>
        <p:sp>
          <p:nvSpPr>
            <p:cNvPr id="15" name="矩形 14">
              <a:extLst>
                <a:ext uri="{FF2B5EF4-FFF2-40B4-BE49-F238E27FC236}">
                  <a16:creationId xmlns:a16="http://schemas.microsoft.com/office/drawing/2014/main" id="{EFB2196D-B8BC-5E48-77C3-6CAEC90F3877}"/>
                </a:ext>
              </a:extLst>
            </p:cNvPr>
            <p:cNvSpPr/>
            <p:nvPr/>
          </p:nvSpPr>
          <p:spPr>
            <a:xfrm>
              <a:off x="3006899" y="1594775"/>
              <a:ext cx="343873" cy="298627"/>
            </a:xfrm>
            <a:prstGeom prst="rect">
              <a:avLst/>
            </a:prstGeom>
          </p:spPr>
          <p:txBody>
            <a:bodyPr wrap="none">
              <a:spAutoFit/>
            </a:bodyPr>
            <a:lstStyle/>
            <a:p>
              <a:pPr lvl="0" algn="ctr"/>
              <a:r>
                <a:rPr lang="en-US" altLang="zh-CN" sz="1600">
                  <a:solidFill>
                    <a:prstClr val="black"/>
                  </a:solidFill>
                  <a:latin typeface="Times New Roman"/>
                </a:rPr>
                <a:t>12</a:t>
              </a:r>
            </a:p>
          </p:txBody>
        </p:sp>
        <p:sp>
          <p:nvSpPr>
            <p:cNvPr id="16" name="矩形 15">
              <a:extLst>
                <a:ext uri="{FF2B5EF4-FFF2-40B4-BE49-F238E27FC236}">
                  <a16:creationId xmlns:a16="http://schemas.microsoft.com/office/drawing/2014/main" id="{A3EEE5FF-D798-821B-21E4-3ED445BBDBCC}"/>
                </a:ext>
              </a:extLst>
            </p:cNvPr>
            <p:cNvSpPr/>
            <p:nvPr/>
          </p:nvSpPr>
          <p:spPr>
            <a:xfrm>
              <a:off x="4044187" y="1338079"/>
              <a:ext cx="886830" cy="298627"/>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sp>
          <p:nvSpPr>
            <p:cNvPr id="17" name="矩形 16">
              <a:extLst>
                <a:ext uri="{FF2B5EF4-FFF2-40B4-BE49-F238E27FC236}">
                  <a16:creationId xmlns:a16="http://schemas.microsoft.com/office/drawing/2014/main" id="{C8990C36-3E65-D3AD-E888-787D6B248261}"/>
                </a:ext>
              </a:extLst>
            </p:cNvPr>
            <p:cNvSpPr/>
            <p:nvPr/>
          </p:nvSpPr>
          <p:spPr>
            <a:xfrm>
              <a:off x="2248288" y="2423281"/>
              <a:ext cx="524860" cy="298627"/>
            </a:xfrm>
            <a:prstGeom prst="rect">
              <a:avLst/>
            </a:prstGeom>
          </p:spPr>
          <p:txBody>
            <a:bodyPr wrap="none">
              <a:spAutoFit/>
            </a:bodyPr>
            <a:lstStyle/>
            <a:p>
              <a:pPr lvl="0" algn="ctr"/>
              <a:r>
                <a:rPr lang="zh-CN" altLang="en-US" sz="1600" b="0">
                  <a:latin typeface="Times New Roman"/>
                </a:rPr>
                <a:t>收入</a:t>
              </a:r>
              <a:endParaRPr lang="en-US" altLang="zh-CN" sz="1600" b="0">
                <a:latin typeface="Times New Roman"/>
              </a:endParaRPr>
            </a:p>
          </p:txBody>
        </p:sp>
        <p:sp>
          <p:nvSpPr>
            <p:cNvPr id="18" name="矩形 17">
              <a:extLst>
                <a:ext uri="{FF2B5EF4-FFF2-40B4-BE49-F238E27FC236}">
                  <a16:creationId xmlns:a16="http://schemas.microsoft.com/office/drawing/2014/main" id="{4C00B1D5-D227-FEFF-8854-0616595B9EDE}"/>
                </a:ext>
              </a:extLst>
            </p:cNvPr>
            <p:cNvSpPr/>
            <p:nvPr/>
          </p:nvSpPr>
          <p:spPr>
            <a:xfrm>
              <a:off x="5851356" y="2423281"/>
              <a:ext cx="524860" cy="298627"/>
            </a:xfrm>
            <a:prstGeom prst="rect">
              <a:avLst/>
            </a:prstGeom>
          </p:spPr>
          <p:txBody>
            <a:bodyPr wrap="none">
              <a:spAutoFit/>
            </a:bodyPr>
            <a:lstStyle/>
            <a:p>
              <a:pPr lvl="0" algn="ctr"/>
              <a:r>
                <a:rPr lang="zh-CN" altLang="en-US" sz="1600" b="0">
                  <a:latin typeface="Times New Roman"/>
                </a:rPr>
                <a:t>收入</a:t>
              </a:r>
              <a:endParaRPr lang="en-US" altLang="zh-CN" sz="1600" b="0">
                <a:latin typeface="Times New Roman"/>
              </a:endParaRPr>
            </a:p>
          </p:txBody>
        </p:sp>
        <p:sp>
          <p:nvSpPr>
            <p:cNvPr id="19" name="矩形 18">
              <a:extLst>
                <a:ext uri="{FF2B5EF4-FFF2-40B4-BE49-F238E27FC236}">
                  <a16:creationId xmlns:a16="http://schemas.microsoft.com/office/drawing/2014/main" id="{6DA78CF6-42C3-46D7-6508-AB6D91BB5803}"/>
                </a:ext>
              </a:extLst>
            </p:cNvPr>
            <p:cNvSpPr/>
            <p:nvPr/>
          </p:nvSpPr>
          <p:spPr>
            <a:xfrm>
              <a:off x="984557" y="2317136"/>
              <a:ext cx="997120" cy="298627"/>
            </a:xfrm>
            <a:prstGeom prst="rect">
              <a:avLst/>
            </a:prstGeom>
          </p:spPr>
          <p:txBody>
            <a:bodyPr wrap="none">
              <a:spAutoFit/>
            </a:bodyPr>
            <a:lstStyle/>
            <a:p>
              <a:pPr lvl="0" algn="ctr"/>
              <a:r>
                <a:rPr lang="en-US" altLang="zh-CN" sz="1600">
                  <a:solidFill>
                    <a:prstClr val="black"/>
                  </a:solidFill>
                  <a:latin typeface="Times New Roman"/>
                </a:rPr>
                <a:t>X1&lt;=84.75</a:t>
              </a:r>
            </a:p>
          </p:txBody>
        </p:sp>
        <p:sp>
          <p:nvSpPr>
            <p:cNvPr id="20" name="矩形 19">
              <a:extLst>
                <a:ext uri="{FF2B5EF4-FFF2-40B4-BE49-F238E27FC236}">
                  <a16:creationId xmlns:a16="http://schemas.microsoft.com/office/drawing/2014/main" id="{A6A3FF1C-3F66-D9D3-F06D-9F54400AE151}"/>
                </a:ext>
              </a:extLst>
            </p:cNvPr>
            <p:cNvSpPr/>
            <p:nvPr/>
          </p:nvSpPr>
          <p:spPr>
            <a:xfrm>
              <a:off x="1775026" y="2638070"/>
              <a:ext cx="390152" cy="338554"/>
            </a:xfrm>
            <a:prstGeom prst="rect">
              <a:avLst/>
            </a:prstGeom>
          </p:spPr>
          <p:txBody>
            <a:bodyPr wrap="square">
              <a:spAutoFit/>
            </a:bodyPr>
            <a:lstStyle/>
            <a:p>
              <a:pPr lvl="0" algn="ctr"/>
              <a:r>
                <a:rPr lang="en-US" altLang="zh-CN" sz="1600">
                  <a:solidFill>
                    <a:prstClr val="black"/>
                  </a:solidFill>
                  <a:latin typeface="Times New Roman"/>
                </a:rPr>
                <a:t>10</a:t>
              </a:r>
            </a:p>
          </p:txBody>
        </p:sp>
        <p:sp>
          <p:nvSpPr>
            <p:cNvPr id="21" name="矩形 20">
              <a:extLst>
                <a:ext uri="{FF2B5EF4-FFF2-40B4-BE49-F238E27FC236}">
                  <a16:creationId xmlns:a16="http://schemas.microsoft.com/office/drawing/2014/main" id="{2FCCC898-B52D-C5ED-E443-0B261F544616}"/>
                </a:ext>
              </a:extLst>
            </p:cNvPr>
            <p:cNvSpPr/>
            <p:nvPr/>
          </p:nvSpPr>
          <p:spPr>
            <a:xfrm>
              <a:off x="2897155" y="2658034"/>
              <a:ext cx="303245" cy="298627"/>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22" name="矩形 21">
              <a:extLst>
                <a:ext uri="{FF2B5EF4-FFF2-40B4-BE49-F238E27FC236}">
                  <a16:creationId xmlns:a16="http://schemas.microsoft.com/office/drawing/2014/main" id="{9D7955D5-A5B6-F3C2-E44E-A6C18B963FBF}"/>
                </a:ext>
              </a:extLst>
            </p:cNvPr>
            <p:cNvSpPr/>
            <p:nvPr/>
          </p:nvSpPr>
          <p:spPr>
            <a:xfrm>
              <a:off x="2990412" y="2317136"/>
              <a:ext cx="893901" cy="298627"/>
            </a:xfrm>
            <a:prstGeom prst="rect">
              <a:avLst/>
            </a:prstGeom>
          </p:spPr>
          <p:txBody>
            <a:bodyPr wrap="none">
              <a:spAutoFit/>
            </a:bodyPr>
            <a:lstStyle/>
            <a:p>
              <a:pPr lvl="0" algn="ctr"/>
              <a:r>
                <a:rPr lang="en-US" altLang="zh-CN" sz="1600">
                  <a:solidFill>
                    <a:prstClr val="black"/>
                  </a:solidFill>
                  <a:latin typeface="Times New Roman"/>
                </a:rPr>
                <a:t>X1&gt;84.75</a:t>
              </a:r>
            </a:p>
          </p:txBody>
        </p:sp>
        <p:sp>
          <p:nvSpPr>
            <p:cNvPr id="23" name="矩形 22">
              <a:extLst>
                <a:ext uri="{FF2B5EF4-FFF2-40B4-BE49-F238E27FC236}">
                  <a16:creationId xmlns:a16="http://schemas.microsoft.com/office/drawing/2014/main" id="{DD76B68E-FDDA-0619-EABE-EA9A569E82A6}"/>
                </a:ext>
              </a:extLst>
            </p:cNvPr>
            <p:cNvSpPr/>
            <p:nvPr/>
          </p:nvSpPr>
          <p:spPr>
            <a:xfrm>
              <a:off x="4401798" y="2317136"/>
              <a:ext cx="997120" cy="298627"/>
            </a:xfrm>
            <a:prstGeom prst="rect">
              <a:avLst/>
            </a:prstGeom>
          </p:spPr>
          <p:txBody>
            <a:bodyPr wrap="none">
              <a:spAutoFit/>
            </a:bodyPr>
            <a:lstStyle/>
            <a:p>
              <a:pPr lvl="0" algn="ctr"/>
              <a:r>
                <a:rPr lang="en-US" altLang="zh-CN" sz="1600">
                  <a:solidFill>
                    <a:prstClr val="black"/>
                  </a:solidFill>
                  <a:latin typeface="Times New Roman"/>
                </a:rPr>
                <a:t>X1&lt;=57.15</a:t>
              </a:r>
            </a:p>
          </p:txBody>
        </p:sp>
        <p:sp>
          <p:nvSpPr>
            <p:cNvPr id="24" name="矩形 23">
              <a:extLst>
                <a:ext uri="{FF2B5EF4-FFF2-40B4-BE49-F238E27FC236}">
                  <a16:creationId xmlns:a16="http://schemas.microsoft.com/office/drawing/2014/main" id="{B198E4B5-5EF8-BE95-BD16-64EC87583A56}"/>
                </a:ext>
              </a:extLst>
            </p:cNvPr>
            <p:cNvSpPr/>
            <p:nvPr/>
          </p:nvSpPr>
          <p:spPr>
            <a:xfrm>
              <a:off x="5029200" y="2658034"/>
              <a:ext cx="303245" cy="298627"/>
            </a:xfrm>
            <a:prstGeom prst="rect">
              <a:avLst/>
            </a:prstGeom>
          </p:spPr>
          <p:txBody>
            <a:bodyPr wrap="square">
              <a:spAutoFit/>
            </a:bodyPr>
            <a:lstStyle/>
            <a:p>
              <a:pPr lvl="0" algn="ctr"/>
              <a:r>
                <a:rPr lang="en-US" altLang="zh-CN" sz="1600">
                  <a:solidFill>
                    <a:prstClr val="black"/>
                  </a:solidFill>
                  <a:latin typeface="Times New Roman"/>
                </a:rPr>
                <a:t>3</a:t>
              </a:r>
            </a:p>
          </p:txBody>
        </p:sp>
        <p:sp>
          <p:nvSpPr>
            <p:cNvPr id="25" name="矩形 24">
              <a:extLst>
                <a:ext uri="{FF2B5EF4-FFF2-40B4-BE49-F238E27FC236}">
                  <a16:creationId xmlns:a16="http://schemas.microsoft.com/office/drawing/2014/main" id="{FA41DA9E-6484-D574-7D63-BDE4EF5A6E3B}"/>
                </a:ext>
              </a:extLst>
            </p:cNvPr>
            <p:cNvSpPr/>
            <p:nvPr/>
          </p:nvSpPr>
          <p:spPr>
            <a:xfrm>
              <a:off x="6935755" y="2658034"/>
              <a:ext cx="303245" cy="298627"/>
            </a:xfrm>
            <a:prstGeom prst="rect">
              <a:avLst/>
            </a:prstGeom>
          </p:spPr>
          <p:txBody>
            <a:bodyPr wrap="square">
              <a:spAutoFit/>
            </a:bodyPr>
            <a:lstStyle/>
            <a:p>
              <a:pPr lvl="0" algn="ctr"/>
              <a:r>
                <a:rPr lang="en-US" altLang="zh-CN" sz="1600">
                  <a:solidFill>
                    <a:prstClr val="black"/>
                  </a:solidFill>
                  <a:latin typeface="Times New Roman"/>
                </a:rPr>
                <a:t>9</a:t>
              </a:r>
            </a:p>
          </p:txBody>
        </p:sp>
        <p:sp>
          <p:nvSpPr>
            <p:cNvPr id="26" name="矩形 25">
              <a:extLst>
                <a:ext uri="{FF2B5EF4-FFF2-40B4-BE49-F238E27FC236}">
                  <a16:creationId xmlns:a16="http://schemas.microsoft.com/office/drawing/2014/main" id="{BA184E73-C91C-EB74-9885-E198BDA95819}"/>
                </a:ext>
              </a:extLst>
            </p:cNvPr>
            <p:cNvSpPr/>
            <p:nvPr/>
          </p:nvSpPr>
          <p:spPr>
            <a:xfrm>
              <a:off x="6890005" y="2317136"/>
              <a:ext cx="893901" cy="298627"/>
            </a:xfrm>
            <a:prstGeom prst="rect">
              <a:avLst/>
            </a:prstGeom>
          </p:spPr>
          <p:txBody>
            <a:bodyPr wrap="none">
              <a:spAutoFit/>
            </a:bodyPr>
            <a:lstStyle/>
            <a:p>
              <a:pPr lvl="0" algn="ctr"/>
              <a:r>
                <a:rPr lang="en-US" altLang="zh-CN" sz="1600">
                  <a:solidFill>
                    <a:prstClr val="black"/>
                  </a:solidFill>
                  <a:latin typeface="Times New Roman"/>
                </a:rPr>
                <a:t>X1&gt;57.15</a:t>
              </a:r>
            </a:p>
          </p:txBody>
        </p:sp>
        <p:grpSp>
          <p:nvGrpSpPr>
            <p:cNvPr id="27" name="组合 26">
              <a:extLst>
                <a:ext uri="{FF2B5EF4-FFF2-40B4-BE49-F238E27FC236}">
                  <a16:creationId xmlns:a16="http://schemas.microsoft.com/office/drawing/2014/main" id="{52041703-51AD-A364-FA73-2D983A33F911}"/>
                </a:ext>
              </a:extLst>
            </p:cNvPr>
            <p:cNvGrpSpPr/>
            <p:nvPr/>
          </p:nvGrpSpPr>
          <p:grpSpPr>
            <a:xfrm>
              <a:off x="969622" y="2915981"/>
              <a:ext cx="964625" cy="593914"/>
              <a:chOff x="3446256" y="1244886"/>
              <a:chExt cx="1403294" cy="864000"/>
            </a:xfrm>
          </p:grpSpPr>
          <p:sp>
            <p:nvSpPr>
              <p:cNvPr id="95" name="矩形: 圆角 35">
                <a:extLst>
                  <a:ext uri="{FF2B5EF4-FFF2-40B4-BE49-F238E27FC236}">
                    <a16:creationId xmlns:a16="http://schemas.microsoft.com/office/drawing/2014/main" id="{F64B56B5-5B8B-6772-4A87-672BECC8B6AC}"/>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4</a:t>
                </a:r>
                <a:endParaRPr lang="zh-CN" altLang="en-US" sz="1600">
                  <a:solidFill>
                    <a:schemeClr val="tx1"/>
                  </a:solidFill>
                </a:endParaRPr>
              </a:p>
            </p:txBody>
          </p:sp>
          <p:sp>
            <p:nvSpPr>
              <p:cNvPr id="96" name="椭圆 95">
                <a:extLst>
                  <a:ext uri="{FF2B5EF4-FFF2-40B4-BE49-F238E27FC236}">
                    <a16:creationId xmlns:a16="http://schemas.microsoft.com/office/drawing/2014/main" id="{FD7C82F1-ADD0-A107-923E-06A5638CBD3F}"/>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18</a:t>
                </a:r>
                <a:endParaRPr lang="zh-CN" altLang="en-US" sz="1600">
                  <a:solidFill>
                    <a:schemeClr val="tx1"/>
                  </a:solidFill>
                </a:endParaRPr>
              </a:p>
            </p:txBody>
          </p:sp>
        </p:grpSp>
        <p:grpSp>
          <p:nvGrpSpPr>
            <p:cNvPr id="28" name="组合 27">
              <a:extLst>
                <a:ext uri="{FF2B5EF4-FFF2-40B4-BE49-F238E27FC236}">
                  <a16:creationId xmlns:a16="http://schemas.microsoft.com/office/drawing/2014/main" id="{3BFF695A-7CDF-3F6F-ECB2-CEA1D4A60CDE}"/>
                </a:ext>
              </a:extLst>
            </p:cNvPr>
            <p:cNvGrpSpPr/>
            <p:nvPr/>
          </p:nvGrpSpPr>
          <p:grpSpPr>
            <a:xfrm>
              <a:off x="4065812" y="2915634"/>
              <a:ext cx="964625" cy="593914"/>
              <a:chOff x="3446256" y="1244886"/>
              <a:chExt cx="1403294" cy="864000"/>
            </a:xfrm>
          </p:grpSpPr>
          <p:sp>
            <p:nvSpPr>
              <p:cNvPr id="93" name="矩形: 圆角 38">
                <a:extLst>
                  <a:ext uri="{FF2B5EF4-FFF2-40B4-BE49-F238E27FC236}">
                    <a16:creationId xmlns:a16="http://schemas.microsoft.com/office/drawing/2014/main" id="{AD2D3D92-FAB1-D10E-8C77-5BAF77D214E1}"/>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5</a:t>
                </a:r>
                <a:endParaRPr lang="zh-CN" altLang="en-US" sz="1600">
                  <a:solidFill>
                    <a:schemeClr val="tx1"/>
                  </a:solidFill>
                </a:endParaRPr>
              </a:p>
            </p:txBody>
          </p:sp>
          <p:sp>
            <p:nvSpPr>
              <p:cNvPr id="94" name="椭圆 93">
                <a:extLst>
                  <a:ext uri="{FF2B5EF4-FFF2-40B4-BE49-F238E27FC236}">
                    <a16:creationId xmlns:a16="http://schemas.microsoft.com/office/drawing/2014/main" id="{00600EEE-F6CC-DF93-80FC-2A4ED56A334D}"/>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600">
                    <a:solidFill>
                      <a:schemeClr val="tx1"/>
                    </a:solidFill>
                  </a:rPr>
                  <a:t>21.4</a:t>
                </a:r>
                <a:endParaRPr lang="zh-CN" altLang="en-US" sz="1600">
                  <a:solidFill>
                    <a:schemeClr val="tx1"/>
                  </a:solidFill>
                </a:endParaRPr>
              </a:p>
            </p:txBody>
          </p:sp>
        </p:grpSp>
        <p:grpSp>
          <p:nvGrpSpPr>
            <p:cNvPr id="29" name="组合 28">
              <a:extLst>
                <a:ext uri="{FF2B5EF4-FFF2-40B4-BE49-F238E27FC236}">
                  <a16:creationId xmlns:a16="http://schemas.microsoft.com/office/drawing/2014/main" id="{C947BB35-3338-6E59-9DF9-18B5DBD0F1B7}"/>
                </a:ext>
              </a:extLst>
            </p:cNvPr>
            <p:cNvGrpSpPr/>
            <p:nvPr/>
          </p:nvGrpSpPr>
          <p:grpSpPr>
            <a:xfrm>
              <a:off x="7039444" y="2915634"/>
              <a:ext cx="964625" cy="593914"/>
              <a:chOff x="3446256" y="1244886"/>
              <a:chExt cx="1403294" cy="864000"/>
            </a:xfrm>
          </p:grpSpPr>
          <p:sp>
            <p:nvSpPr>
              <p:cNvPr id="91" name="矩形: 圆角 41">
                <a:extLst>
                  <a:ext uri="{FF2B5EF4-FFF2-40B4-BE49-F238E27FC236}">
                    <a16:creationId xmlns:a16="http://schemas.microsoft.com/office/drawing/2014/main" id="{39DA67D9-CCE8-285A-A6C3-DA2C9FF419A4}"/>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en-US" altLang="zh-CN" sz="1600">
                    <a:solidFill>
                      <a:schemeClr val="tx1"/>
                    </a:solidFill>
                  </a:rPr>
                  <a:t>6</a:t>
                </a:r>
                <a:endParaRPr lang="zh-CN" altLang="en-US" sz="1600">
                  <a:solidFill>
                    <a:schemeClr val="tx1"/>
                  </a:solidFill>
                </a:endParaRPr>
              </a:p>
            </p:txBody>
          </p:sp>
          <p:sp>
            <p:nvSpPr>
              <p:cNvPr id="92" name="椭圆 91">
                <a:extLst>
                  <a:ext uri="{FF2B5EF4-FFF2-40B4-BE49-F238E27FC236}">
                    <a16:creationId xmlns:a16="http://schemas.microsoft.com/office/drawing/2014/main" id="{B15140CF-9BBB-5F72-AC98-BCF94BB1CE66}"/>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600">
                    <a:solidFill>
                      <a:schemeClr val="tx1"/>
                    </a:solidFill>
                  </a:rPr>
                  <a:t>19.8</a:t>
                </a:r>
                <a:endParaRPr lang="zh-CN" altLang="en-US" sz="1600">
                  <a:solidFill>
                    <a:schemeClr val="tx1"/>
                  </a:solidFill>
                </a:endParaRPr>
              </a:p>
            </p:txBody>
          </p:sp>
        </p:grpSp>
        <p:grpSp>
          <p:nvGrpSpPr>
            <p:cNvPr id="30" name="组合 29">
              <a:extLst>
                <a:ext uri="{FF2B5EF4-FFF2-40B4-BE49-F238E27FC236}">
                  <a16:creationId xmlns:a16="http://schemas.microsoft.com/office/drawing/2014/main" id="{372A9A35-D7E6-94E2-EBF1-D5A4478A926B}"/>
                </a:ext>
              </a:extLst>
            </p:cNvPr>
            <p:cNvGrpSpPr/>
            <p:nvPr/>
          </p:nvGrpSpPr>
          <p:grpSpPr>
            <a:xfrm>
              <a:off x="1813692" y="4025259"/>
              <a:ext cx="964625" cy="593914"/>
              <a:chOff x="3446256" y="1244886"/>
              <a:chExt cx="1403294" cy="864000"/>
            </a:xfrm>
          </p:grpSpPr>
          <p:sp>
            <p:nvSpPr>
              <p:cNvPr id="89" name="矩形: 圆角 44">
                <a:extLst>
                  <a:ext uri="{FF2B5EF4-FFF2-40B4-BE49-F238E27FC236}">
                    <a16:creationId xmlns:a16="http://schemas.microsoft.com/office/drawing/2014/main" id="{B1A4B1AA-E40C-D48C-48A8-61B40175B3B4}"/>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tlCol="0" anchor="ctr"/>
              <a:lstStyle/>
              <a:p>
                <a:pPr algn="ctr"/>
                <a:r>
                  <a:rPr lang="en-US" altLang="zh-CN" sz="1600">
                    <a:solidFill>
                      <a:schemeClr val="tx1"/>
                    </a:solidFill>
                  </a:rPr>
                  <a:t>7</a:t>
                </a:r>
                <a:endParaRPr lang="zh-CN" altLang="en-US" sz="1600">
                  <a:solidFill>
                    <a:schemeClr val="tx1"/>
                  </a:solidFill>
                </a:endParaRPr>
              </a:p>
            </p:txBody>
          </p:sp>
          <p:sp>
            <p:nvSpPr>
              <p:cNvPr id="90" name="椭圆 89">
                <a:extLst>
                  <a:ext uri="{FF2B5EF4-FFF2-40B4-BE49-F238E27FC236}">
                    <a16:creationId xmlns:a16="http://schemas.microsoft.com/office/drawing/2014/main" id="{64D62E77-95B5-8EC1-929A-D5A7F4C06620}"/>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600">
                    <a:solidFill>
                      <a:schemeClr val="tx1"/>
                    </a:solidFill>
                  </a:rPr>
                  <a:t>18.6</a:t>
                </a:r>
                <a:endParaRPr lang="zh-CN" altLang="en-US" sz="1600">
                  <a:solidFill>
                    <a:schemeClr val="tx1"/>
                  </a:solidFill>
                </a:endParaRPr>
              </a:p>
            </p:txBody>
          </p:sp>
        </p:grpSp>
        <p:grpSp>
          <p:nvGrpSpPr>
            <p:cNvPr id="31" name="组合 30">
              <a:extLst>
                <a:ext uri="{FF2B5EF4-FFF2-40B4-BE49-F238E27FC236}">
                  <a16:creationId xmlns:a16="http://schemas.microsoft.com/office/drawing/2014/main" id="{C87E68AA-8B11-3527-892D-B60BE9E2720B}"/>
                </a:ext>
              </a:extLst>
            </p:cNvPr>
            <p:cNvGrpSpPr/>
            <p:nvPr/>
          </p:nvGrpSpPr>
          <p:grpSpPr>
            <a:xfrm>
              <a:off x="996984" y="5134884"/>
              <a:ext cx="964625" cy="593914"/>
              <a:chOff x="3446256" y="1244886"/>
              <a:chExt cx="1403294" cy="864000"/>
            </a:xfrm>
          </p:grpSpPr>
          <p:sp>
            <p:nvSpPr>
              <p:cNvPr id="87" name="矩形: 圆角 47">
                <a:extLst>
                  <a:ext uri="{FF2B5EF4-FFF2-40B4-BE49-F238E27FC236}">
                    <a16:creationId xmlns:a16="http://schemas.microsoft.com/office/drawing/2014/main" id="{E9B72944-039D-9D90-B697-380B29E6802C}"/>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tlCol="0" anchor="ctr"/>
              <a:lstStyle/>
              <a:p>
                <a:pPr algn="ctr"/>
                <a:r>
                  <a:rPr lang="en-US" altLang="zh-CN" sz="1600">
                    <a:solidFill>
                      <a:schemeClr val="tx1"/>
                    </a:solidFill>
                  </a:rPr>
                  <a:t>9</a:t>
                </a:r>
                <a:endParaRPr lang="zh-CN" altLang="en-US" sz="1600">
                  <a:solidFill>
                    <a:schemeClr val="tx1"/>
                  </a:solidFill>
                </a:endParaRPr>
              </a:p>
            </p:txBody>
          </p:sp>
          <p:sp>
            <p:nvSpPr>
              <p:cNvPr id="88" name="椭圆 87">
                <a:extLst>
                  <a:ext uri="{FF2B5EF4-FFF2-40B4-BE49-F238E27FC236}">
                    <a16:creationId xmlns:a16="http://schemas.microsoft.com/office/drawing/2014/main" id="{801179EB-30AC-582F-AF02-12C83C87AF07}"/>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600">
                    <a:solidFill>
                      <a:schemeClr val="tx1"/>
                    </a:solidFill>
                  </a:rPr>
                  <a:t>63</a:t>
                </a:r>
                <a:endParaRPr lang="zh-CN" altLang="en-US" sz="1600">
                  <a:solidFill>
                    <a:schemeClr val="tx1"/>
                  </a:solidFill>
                </a:endParaRPr>
              </a:p>
            </p:txBody>
          </p:sp>
        </p:grpSp>
        <p:sp>
          <p:nvSpPr>
            <p:cNvPr id="32" name="矩形: 圆角 50">
              <a:extLst>
                <a:ext uri="{FF2B5EF4-FFF2-40B4-BE49-F238E27FC236}">
                  <a16:creationId xmlns:a16="http://schemas.microsoft.com/office/drawing/2014/main" id="{3F980E48-8B6A-2A00-1606-D4A27D9B91BC}"/>
                </a:ext>
              </a:extLst>
            </p:cNvPr>
            <p:cNvSpPr/>
            <p:nvPr/>
          </p:nvSpPr>
          <p:spPr>
            <a:xfrm>
              <a:off x="3048000" y="2941335"/>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8.33%</a:t>
              </a:r>
              <a:endParaRPr lang="zh-CN" altLang="en-US" sz="1600">
                <a:solidFill>
                  <a:schemeClr val="tx1"/>
                </a:solidFill>
              </a:endParaRPr>
            </a:p>
          </p:txBody>
        </p:sp>
        <p:sp>
          <p:nvSpPr>
            <p:cNvPr id="33" name="矩形: 圆角 51">
              <a:extLst>
                <a:ext uri="{FF2B5EF4-FFF2-40B4-BE49-F238E27FC236}">
                  <a16:creationId xmlns:a16="http://schemas.microsoft.com/office/drawing/2014/main" id="{92985759-3A43-7170-AFF7-DEF51B705F80}"/>
                </a:ext>
              </a:extLst>
            </p:cNvPr>
            <p:cNvSpPr/>
            <p:nvPr/>
          </p:nvSpPr>
          <p:spPr>
            <a:xfrm>
              <a:off x="457200" y="4052216"/>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29.1%</a:t>
              </a:r>
              <a:endParaRPr lang="zh-CN" altLang="en-US" sz="1600">
                <a:solidFill>
                  <a:schemeClr val="tx1"/>
                </a:solidFill>
              </a:endParaRPr>
            </a:p>
          </p:txBody>
        </p:sp>
        <p:sp>
          <p:nvSpPr>
            <p:cNvPr id="34" name="矩形: 圆角 52">
              <a:extLst>
                <a:ext uri="{FF2B5EF4-FFF2-40B4-BE49-F238E27FC236}">
                  <a16:creationId xmlns:a16="http://schemas.microsoft.com/office/drawing/2014/main" id="{F9B0C480-255F-B73A-C907-FEBE9EFE1EA9}"/>
                </a:ext>
              </a:extLst>
            </p:cNvPr>
            <p:cNvSpPr/>
            <p:nvPr/>
          </p:nvSpPr>
          <p:spPr>
            <a:xfrm>
              <a:off x="3536067" y="4052216"/>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8.33%</a:t>
              </a:r>
              <a:endParaRPr lang="zh-CN" altLang="en-US" sz="1600">
                <a:solidFill>
                  <a:schemeClr val="tx1"/>
                </a:solidFill>
              </a:endParaRPr>
            </a:p>
          </p:txBody>
        </p:sp>
        <p:sp>
          <p:nvSpPr>
            <p:cNvPr id="35" name="矩形: 圆角 53">
              <a:extLst>
                <a:ext uri="{FF2B5EF4-FFF2-40B4-BE49-F238E27FC236}">
                  <a16:creationId xmlns:a16="http://schemas.microsoft.com/office/drawing/2014/main" id="{0D415C05-C802-4CFA-94F6-0270C5AAACB2}"/>
                </a:ext>
              </a:extLst>
            </p:cNvPr>
            <p:cNvSpPr/>
            <p:nvPr/>
          </p:nvSpPr>
          <p:spPr>
            <a:xfrm>
              <a:off x="5198585" y="4052216"/>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grpSp>
          <p:nvGrpSpPr>
            <p:cNvPr id="36" name="组合 35">
              <a:extLst>
                <a:ext uri="{FF2B5EF4-FFF2-40B4-BE49-F238E27FC236}">
                  <a16:creationId xmlns:a16="http://schemas.microsoft.com/office/drawing/2014/main" id="{9CD41599-57C2-F725-A254-DF4AB084A304}"/>
                </a:ext>
              </a:extLst>
            </p:cNvPr>
            <p:cNvGrpSpPr/>
            <p:nvPr/>
          </p:nvGrpSpPr>
          <p:grpSpPr>
            <a:xfrm>
              <a:off x="6231987" y="4025259"/>
              <a:ext cx="964625" cy="593914"/>
              <a:chOff x="3446256" y="1244886"/>
              <a:chExt cx="1403294" cy="864000"/>
            </a:xfrm>
          </p:grpSpPr>
          <p:sp>
            <p:nvSpPr>
              <p:cNvPr id="85" name="矩形: 圆角 55">
                <a:extLst>
                  <a:ext uri="{FF2B5EF4-FFF2-40B4-BE49-F238E27FC236}">
                    <a16:creationId xmlns:a16="http://schemas.microsoft.com/office/drawing/2014/main" id="{2F45A60C-5212-3963-A743-A09CEDEDFB02}"/>
                  </a:ext>
                </a:extLst>
              </p:cNvPr>
              <p:cNvSpPr/>
              <p:nvPr/>
            </p:nvSpPr>
            <p:spPr>
              <a:xfrm>
                <a:off x="3446256" y="1460886"/>
                <a:ext cx="685800" cy="432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rtlCol="0" anchor="ctr"/>
              <a:lstStyle/>
              <a:p>
                <a:pPr algn="ctr"/>
                <a:r>
                  <a:rPr lang="en-US" altLang="zh-CN" sz="1600">
                    <a:solidFill>
                      <a:schemeClr val="tx1"/>
                    </a:solidFill>
                  </a:rPr>
                  <a:t>8</a:t>
                </a:r>
                <a:endParaRPr lang="zh-CN" altLang="en-US" sz="1600">
                  <a:solidFill>
                    <a:schemeClr val="tx1"/>
                  </a:solidFill>
                </a:endParaRPr>
              </a:p>
            </p:txBody>
          </p:sp>
          <p:sp>
            <p:nvSpPr>
              <p:cNvPr id="86" name="椭圆 85">
                <a:extLst>
                  <a:ext uri="{FF2B5EF4-FFF2-40B4-BE49-F238E27FC236}">
                    <a16:creationId xmlns:a16="http://schemas.microsoft.com/office/drawing/2014/main" id="{E442C12F-6131-9E88-E4E7-B32E69786FA4}"/>
                  </a:ext>
                </a:extLst>
              </p:cNvPr>
              <p:cNvSpPr/>
              <p:nvPr/>
            </p:nvSpPr>
            <p:spPr>
              <a:xfrm>
                <a:off x="3985550" y="124488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600">
                    <a:solidFill>
                      <a:schemeClr val="tx1"/>
                    </a:solidFill>
                  </a:rPr>
                  <a:t>19.4</a:t>
                </a:r>
                <a:endParaRPr lang="zh-CN" altLang="en-US" sz="1600">
                  <a:solidFill>
                    <a:schemeClr val="tx1"/>
                  </a:solidFill>
                </a:endParaRPr>
              </a:p>
            </p:txBody>
          </p:sp>
        </p:grpSp>
        <p:sp>
          <p:nvSpPr>
            <p:cNvPr id="37" name="矩形: 圆角 57">
              <a:extLst>
                <a:ext uri="{FF2B5EF4-FFF2-40B4-BE49-F238E27FC236}">
                  <a16:creationId xmlns:a16="http://schemas.microsoft.com/office/drawing/2014/main" id="{369B5319-D821-0055-57E5-A3E3155C0A80}"/>
                </a:ext>
              </a:extLst>
            </p:cNvPr>
            <p:cNvSpPr/>
            <p:nvPr/>
          </p:nvSpPr>
          <p:spPr>
            <a:xfrm>
              <a:off x="8189072" y="4052216"/>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29.1%</a:t>
              </a:r>
              <a:endParaRPr lang="zh-CN" altLang="en-US" sz="1600">
                <a:solidFill>
                  <a:schemeClr val="tx1"/>
                </a:solidFill>
              </a:endParaRPr>
            </a:p>
          </p:txBody>
        </p:sp>
        <p:sp>
          <p:nvSpPr>
            <p:cNvPr id="38" name="矩形: 圆角 58">
              <a:extLst>
                <a:ext uri="{FF2B5EF4-FFF2-40B4-BE49-F238E27FC236}">
                  <a16:creationId xmlns:a16="http://schemas.microsoft.com/office/drawing/2014/main" id="{2E9717FD-6931-BBD5-00E1-9E5C50F00309}"/>
                </a:ext>
              </a:extLst>
            </p:cNvPr>
            <p:cNvSpPr/>
            <p:nvPr/>
          </p:nvSpPr>
          <p:spPr>
            <a:xfrm>
              <a:off x="2920383" y="5163097"/>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sp>
          <p:nvSpPr>
            <p:cNvPr id="39" name="矩形: 圆角 59">
              <a:extLst>
                <a:ext uri="{FF2B5EF4-FFF2-40B4-BE49-F238E27FC236}">
                  <a16:creationId xmlns:a16="http://schemas.microsoft.com/office/drawing/2014/main" id="{38AE4B76-F69A-93A4-24E7-04E5D1D90866}"/>
                </a:ext>
              </a:extLst>
            </p:cNvPr>
            <p:cNvSpPr/>
            <p:nvPr/>
          </p:nvSpPr>
          <p:spPr>
            <a:xfrm>
              <a:off x="5707686" y="5163097"/>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sp>
          <p:nvSpPr>
            <p:cNvPr id="40" name="矩形: 圆角 60">
              <a:extLst>
                <a:ext uri="{FF2B5EF4-FFF2-40B4-BE49-F238E27FC236}">
                  <a16:creationId xmlns:a16="http://schemas.microsoft.com/office/drawing/2014/main" id="{5A49C90B-0445-212C-8B9A-3BF862A76422}"/>
                </a:ext>
              </a:extLst>
            </p:cNvPr>
            <p:cNvSpPr/>
            <p:nvPr/>
          </p:nvSpPr>
          <p:spPr>
            <a:xfrm>
              <a:off x="7336955" y="5163097"/>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sp>
          <p:nvSpPr>
            <p:cNvPr id="41" name="矩形: 圆角 61">
              <a:extLst>
                <a:ext uri="{FF2B5EF4-FFF2-40B4-BE49-F238E27FC236}">
                  <a16:creationId xmlns:a16="http://schemas.microsoft.com/office/drawing/2014/main" id="{27C96F80-20F7-98F8-66B4-7860194BD931}"/>
                </a:ext>
              </a:extLst>
            </p:cNvPr>
            <p:cNvSpPr/>
            <p:nvPr/>
          </p:nvSpPr>
          <p:spPr>
            <a:xfrm>
              <a:off x="490490" y="6018809"/>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sp>
          <p:nvSpPr>
            <p:cNvPr id="42" name="矩形: 圆角 62">
              <a:extLst>
                <a:ext uri="{FF2B5EF4-FFF2-40B4-BE49-F238E27FC236}">
                  <a16:creationId xmlns:a16="http://schemas.microsoft.com/office/drawing/2014/main" id="{283C9DFB-AC3A-A755-28CA-85103CF4361C}"/>
                </a:ext>
              </a:extLst>
            </p:cNvPr>
            <p:cNvSpPr/>
            <p:nvPr/>
          </p:nvSpPr>
          <p:spPr>
            <a:xfrm>
              <a:off x="2123939" y="6018809"/>
              <a:ext cx="714841" cy="54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chemeClr val="tx1"/>
                  </a:solidFill>
                </a:rPr>
                <a:t>4.16%</a:t>
              </a:r>
              <a:endParaRPr lang="zh-CN" altLang="en-US" sz="1600">
                <a:solidFill>
                  <a:schemeClr val="tx1"/>
                </a:solidFill>
              </a:endParaRPr>
            </a:p>
          </p:txBody>
        </p:sp>
        <p:sp>
          <p:nvSpPr>
            <p:cNvPr id="43" name="矩形 42">
              <a:extLst>
                <a:ext uri="{FF2B5EF4-FFF2-40B4-BE49-F238E27FC236}">
                  <a16:creationId xmlns:a16="http://schemas.microsoft.com/office/drawing/2014/main" id="{3B7E3481-7612-89C6-00FF-6BE642D22419}"/>
                </a:ext>
              </a:extLst>
            </p:cNvPr>
            <p:cNvSpPr/>
            <p:nvPr/>
          </p:nvSpPr>
          <p:spPr>
            <a:xfrm>
              <a:off x="5240813" y="1594775"/>
              <a:ext cx="343873" cy="298627"/>
            </a:xfrm>
            <a:prstGeom prst="rect">
              <a:avLst/>
            </a:prstGeom>
          </p:spPr>
          <p:txBody>
            <a:bodyPr wrap="none">
              <a:spAutoFit/>
            </a:bodyPr>
            <a:lstStyle/>
            <a:p>
              <a:pPr lvl="0" algn="ctr"/>
              <a:r>
                <a:rPr lang="en-US" altLang="zh-CN" sz="1600">
                  <a:solidFill>
                    <a:prstClr val="black"/>
                  </a:solidFill>
                  <a:latin typeface="Times New Roman"/>
                </a:rPr>
                <a:t>12</a:t>
              </a:r>
            </a:p>
          </p:txBody>
        </p:sp>
        <p:sp>
          <p:nvSpPr>
            <p:cNvPr id="44" name="矩形 43">
              <a:extLst>
                <a:ext uri="{FF2B5EF4-FFF2-40B4-BE49-F238E27FC236}">
                  <a16:creationId xmlns:a16="http://schemas.microsoft.com/office/drawing/2014/main" id="{BCF31495-178A-F46D-4759-DD15BC30B3CE}"/>
                </a:ext>
              </a:extLst>
            </p:cNvPr>
            <p:cNvSpPr/>
            <p:nvPr/>
          </p:nvSpPr>
          <p:spPr>
            <a:xfrm>
              <a:off x="1196815" y="3568636"/>
              <a:ext cx="886830" cy="328490"/>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cxnSp>
          <p:nvCxnSpPr>
            <p:cNvPr id="45" name="直接连接符 69">
              <a:extLst>
                <a:ext uri="{FF2B5EF4-FFF2-40B4-BE49-F238E27FC236}">
                  <a16:creationId xmlns:a16="http://schemas.microsoft.com/office/drawing/2014/main" id="{ABFD90DA-88CF-97E9-75E2-C5E178E94E22}"/>
                </a:ext>
              </a:extLst>
            </p:cNvPr>
            <p:cNvCxnSpPr>
              <a:cxnSpLocks/>
              <a:stCxn id="96" idx="3"/>
              <a:endCxn id="33" idx="0"/>
            </p:cNvCxnSpPr>
            <p:nvPr/>
          </p:nvCxnSpPr>
          <p:spPr>
            <a:xfrm flipH="1">
              <a:off x="814621" y="3422918"/>
              <a:ext cx="612689" cy="6292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72">
              <a:extLst>
                <a:ext uri="{FF2B5EF4-FFF2-40B4-BE49-F238E27FC236}">
                  <a16:creationId xmlns:a16="http://schemas.microsoft.com/office/drawing/2014/main" id="{1D2D3BC9-4EFA-BCBE-AD3B-DE71C87B8B86}"/>
                </a:ext>
              </a:extLst>
            </p:cNvPr>
            <p:cNvCxnSpPr>
              <a:cxnSpLocks/>
              <a:stCxn id="96" idx="5"/>
              <a:endCxn id="90" idx="0"/>
            </p:cNvCxnSpPr>
            <p:nvPr/>
          </p:nvCxnSpPr>
          <p:spPr>
            <a:xfrm>
              <a:off x="1847270" y="3422918"/>
              <a:ext cx="634090" cy="6023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B0F7757F-2E62-92B1-30E3-1886939A87BA}"/>
                </a:ext>
              </a:extLst>
            </p:cNvPr>
            <p:cNvSpPr/>
            <p:nvPr/>
          </p:nvSpPr>
          <p:spPr>
            <a:xfrm>
              <a:off x="941649" y="3737665"/>
              <a:ext cx="390152" cy="338554"/>
            </a:xfrm>
            <a:prstGeom prst="rect">
              <a:avLst/>
            </a:prstGeom>
          </p:spPr>
          <p:txBody>
            <a:bodyPr wrap="square">
              <a:spAutoFit/>
            </a:bodyPr>
            <a:lstStyle/>
            <a:p>
              <a:pPr lvl="0" algn="ctr"/>
              <a:r>
                <a:rPr lang="en-US" altLang="zh-CN" sz="1600">
                  <a:solidFill>
                    <a:prstClr val="black"/>
                  </a:solidFill>
                  <a:latin typeface="Times New Roman"/>
                </a:rPr>
                <a:t>7</a:t>
              </a:r>
            </a:p>
          </p:txBody>
        </p:sp>
        <p:sp>
          <p:nvSpPr>
            <p:cNvPr id="48" name="矩形 47">
              <a:extLst>
                <a:ext uri="{FF2B5EF4-FFF2-40B4-BE49-F238E27FC236}">
                  <a16:creationId xmlns:a16="http://schemas.microsoft.com/office/drawing/2014/main" id="{182ED7B7-226E-0E50-4340-DFD8C711AF29}"/>
                </a:ext>
              </a:extLst>
            </p:cNvPr>
            <p:cNvSpPr/>
            <p:nvPr/>
          </p:nvSpPr>
          <p:spPr>
            <a:xfrm>
              <a:off x="2018095" y="3737665"/>
              <a:ext cx="390152" cy="338554"/>
            </a:xfrm>
            <a:prstGeom prst="rect">
              <a:avLst/>
            </a:prstGeom>
          </p:spPr>
          <p:txBody>
            <a:bodyPr wrap="square">
              <a:spAutoFit/>
            </a:bodyPr>
            <a:lstStyle/>
            <a:p>
              <a:pPr lvl="0" algn="ctr"/>
              <a:r>
                <a:rPr lang="en-US" altLang="zh-CN" sz="1600">
                  <a:solidFill>
                    <a:prstClr val="black"/>
                  </a:solidFill>
                  <a:latin typeface="Times New Roman"/>
                </a:rPr>
                <a:t>3</a:t>
              </a:r>
            </a:p>
          </p:txBody>
        </p:sp>
        <p:sp>
          <p:nvSpPr>
            <p:cNvPr id="49" name="矩形 48">
              <a:extLst>
                <a:ext uri="{FF2B5EF4-FFF2-40B4-BE49-F238E27FC236}">
                  <a16:creationId xmlns:a16="http://schemas.microsoft.com/office/drawing/2014/main" id="{9631D6A6-DAC4-8CDB-868B-7DF42158D4C3}"/>
                </a:ext>
              </a:extLst>
            </p:cNvPr>
            <p:cNvSpPr/>
            <p:nvPr/>
          </p:nvSpPr>
          <p:spPr>
            <a:xfrm>
              <a:off x="623597" y="4576828"/>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50" name="矩形 49">
              <a:extLst>
                <a:ext uri="{FF2B5EF4-FFF2-40B4-BE49-F238E27FC236}">
                  <a16:creationId xmlns:a16="http://schemas.microsoft.com/office/drawing/2014/main" id="{38004924-D2DA-00FC-90E3-1C7DA517A5FC}"/>
                </a:ext>
              </a:extLst>
            </p:cNvPr>
            <p:cNvSpPr/>
            <p:nvPr/>
          </p:nvSpPr>
          <p:spPr>
            <a:xfrm>
              <a:off x="4275680" y="3568636"/>
              <a:ext cx="886830" cy="328490"/>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cxnSp>
          <p:nvCxnSpPr>
            <p:cNvPr id="51" name="直接连接符 80">
              <a:extLst>
                <a:ext uri="{FF2B5EF4-FFF2-40B4-BE49-F238E27FC236}">
                  <a16:creationId xmlns:a16="http://schemas.microsoft.com/office/drawing/2014/main" id="{63908256-6AFA-7456-79DC-E484508376CA}"/>
                </a:ext>
              </a:extLst>
            </p:cNvPr>
            <p:cNvCxnSpPr>
              <a:cxnSpLocks/>
              <a:stCxn id="94" idx="3"/>
              <a:endCxn id="34" idx="0"/>
            </p:cNvCxnSpPr>
            <p:nvPr/>
          </p:nvCxnSpPr>
          <p:spPr>
            <a:xfrm flipH="1">
              <a:off x="3893488" y="3422571"/>
              <a:ext cx="630012" cy="6296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81">
              <a:extLst>
                <a:ext uri="{FF2B5EF4-FFF2-40B4-BE49-F238E27FC236}">
                  <a16:creationId xmlns:a16="http://schemas.microsoft.com/office/drawing/2014/main" id="{99EFCAB0-A968-6ADE-8CE7-1727CB29C5CF}"/>
                </a:ext>
              </a:extLst>
            </p:cNvPr>
            <p:cNvCxnSpPr>
              <a:cxnSpLocks/>
              <a:stCxn id="94" idx="5"/>
              <a:endCxn id="35" idx="0"/>
            </p:cNvCxnSpPr>
            <p:nvPr/>
          </p:nvCxnSpPr>
          <p:spPr>
            <a:xfrm>
              <a:off x="4943460" y="3422571"/>
              <a:ext cx="612546" cy="6296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97DE1A02-1556-FE09-5093-555285EAEFCB}"/>
                </a:ext>
              </a:extLst>
            </p:cNvPr>
            <p:cNvSpPr/>
            <p:nvPr/>
          </p:nvSpPr>
          <p:spPr>
            <a:xfrm>
              <a:off x="4020514" y="3737665"/>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54" name="矩形 53">
              <a:extLst>
                <a:ext uri="{FF2B5EF4-FFF2-40B4-BE49-F238E27FC236}">
                  <a16:creationId xmlns:a16="http://schemas.microsoft.com/office/drawing/2014/main" id="{E21D498A-22B0-5AA2-5636-74130A0CD7E5}"/>
                </a:ext>
              </a:extLst>
            </p:cNvPr>
            <p:cNvSpPr/>
            <p:nvPr/>
          </p:nvSpPr>
          <p:spPr>
            <a:xfrm>
              <a:off x="5096960" y="3737665"/>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55" name="矩形 54">
              <a:extLst>
                <a:ext uri="{FF2B5EF4-FFF2-40B4-BE49-F238E27FC236}">
                  <a16:creationId xmlns:a16="http://schemas.microsoft.com/office/drawing/2014/main" id="{3B3741CE-AE40-2ECC-7B4D-0594EC14A78D}"/>
                </a:ext>
              </a:extLst>
            </p:cNvPr>
            <p:cNvSpPr/>
            <p:nvPr/>
          </p:nvSpPr>
          <p:spPr>
            <a:xfrm>
              <a:off x="7261948" y="3568636"/>
              <a:ext cx="886830" cy="328490"/>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cxnSp>
          <p:nvCxnSpPr>
            <p:cNvPr id="56" name="直接连接符 85">
              <a:extLst>
                <a:ext uri="{FF2B5EF4-FFF2-40B4-BE49-F238E27FC236}">
                  <a16:creationId xmlns:a16="http://schemas.microsoft.com/office/drawing/2014/main" id="{C0BBAEA2-9CFF-92B3-C687-AA0D76031F52}"/>
                </a:ext>
              </a:extLst>
            </p:cNvPr>
            <p:cNvCxnSpPr>
              <a:cxnSpLocks/>
              <a:stCxn id="92" idx="3"/>
              <a:endCxn id="86" idx="0"/>
            </p:cNvCxnSpPr>
            <p:nvPr/>
          </p:nvCxnSpPr>
          <p:spPr>
            <a:xfrm flipH="1">
              <a:off x="6899655" y="3422571"/>
              <a:ext cx="597477" cy="602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86">
              <a:extLst>
                <a:ext uri="{FF2B5EF4-FFF2-40B4-BE49-F238E27FC236}">
                  <a16:creationId xmlns:a16="http://schemas.microsoft.com/office/drawing/2014/main" id="{8E632010-345D-3E59-2D48-C824D44AD4A1}"/>
                </a:ext>
              </a:extLst>
            </p:cNvPr>
            <p:cNvCxnSpPr>
              <a:cxnSpLocks/>
              <a:stCxn id="92" idx="5"/>
              <a:endCxn id="37" idx="0"/>
            </p:cNvCxnSpPr>
            <p:nvPr/>
          </p:nvCxnSpPr>
          <p:spPr>
            <a:xfrm>
              <a:off x="7917092" y="3422571"/>
              <a:ext cx="629401" cy="6296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E124E75F-60A3-4F51-193A-6D5D1CA15E74}"/>
                </a:ext>
              </a:extLst>
            </p:cNvPr>
            <p:cNvSpPr/>
            <p:nvPr/>
          </p:nvSpPr>
          <p:spPr>
            <a:xfrm>
              <a:off x="7006782" y="3737665"/>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59" name="矩形 58">
              <a:extLst>
                <a:ext uri="{FF2B5EF4-FFF2-40B4-BE49-F238E27FC236}">
                  <a16:creationId xmlns:a16="http://schemas.microsoft.com/office/drawing/2014/main" id="{CDB2C0C8-FBDE-5262-8565-C804FAFD696C}"/>
                </a:ext>
              </a:extLst>
            </p:cNvPr>
            <p:cNvSpPr/>
            <p:nvPr/>
          </p:nvSpPr>
          <p:spPr>
            <a:xfrm>
              <a:off x="8013778" y="3737665"/>
              <a:ext cx="390152" cy="338554"/>
            </a:xfrm>
            <a:prstGeom prst="rect">
              <a:avLst/>
            </a:prstGeom>
          </p:spPr>
          <p:txBody>
            <a:bodyPr wrap="square">
              <a:spAutoFit/>
            </a:bodyPr>
            <a:lstStyle/>
            <a:p>
              <a:pPr lvl="0" algn="ctr"/>
              <a:r>
                <a:rPr lang="en-US" altLang="zh-CN" sz="1600">
                  <a:solidFill>
                    <a:prstClr val="black"/>
                  </a:solidFill>
                  <a:latin typeface="Times New Roman"/>
                </a:rPr>
                <a:t>7</a:t>
              </a:r>
            </a:p>
          </p:txBody>
        </p:sp>
        <p:sp>
          <p:nvSpPr>
            <p:cNvPr id="60" name="矩形 59">
              <a:extLst>
                <a:ext uri="{FF2B5EF4-FFF2-40B4-BE49-F238E27FC236}">
                  <a16:creationId xmlns:a16="http://schemas.microsoft.com/office/drawing/2014/main" id="{52E6AFD2-EEC0-C19B-7321-54D0858E6EF0}"/>
                </a:ext>
              </a:extLst>
            </p:cNvPr>
            <p:cNvSpPr/>
            <p:nvPr/>
          </p:nvSpPr>
          <p:spPr>
            <a:xfrm>
              <a:off x="8351416" y="4576828"/>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61" name="矩形 60">
              <a:extLst>
                <a:ext uri="{FF2B5EF4-FFF2-40B4-BE49-F238E27FC236}">
                  <a16:creationId xmlns:a16="http://schemas.microsoft.com/office/drawing/2014/main" id="{2AEB79D5-E490-87A8-0E8C-1F7614AF7E53}"/>
                </a:ext>
              </a:extLst>
            </p:cNvPr>
            <p:cNvSpPr/>
            <p:nvPr/>
          </p:nvSpPr>
          <p:spPr>
            <a:xfrm>
              <a:off x="3223806" y="3471446"/>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62" name="矩形 61">
              <a:extLst>
                <a:ext uri="{FF2B5EF4-FFF2-40B4-BE49-F238E27FC236}">
                  <a16:creationId xmlns:a16="http://schemas.microsoft.com/office/drawing/2014/main" id="{3FE47D0E-1879-651C-7CBE-7235451CEDF4}"/>
                </a:ext>
              </a:extLst>
            </p:cNvPr>
            <p:cNvSpPr/>
            <p:nvPr/>
          </p:nvSpPr>
          <p:spPr>
            <a:xfrm>
              <a:off x="5365121" y="4576828"/>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63" name="矩形 62">
              <a:extLst>
                <a:ext uri="{FF2B5EF4-FFF2-40B4-BE49-F238E27FC236}">
                  <a16:creationId xmlns:a16="http://schemas.microsoft.com/office/drawing/2014/main" id="{DD86B8BA-ED2B-AFE6-4833-B620FFDB8D94}"/>
                </a:ext>
              </a:extLst>
            </p:cNvPr>
            <p:cNvSpPr/>
            <p:nvPr/>
          </p:nvSpPr>
          <p:spPr>
            <a:xfrm>
              <a:off x="3690888" y="4576828"/>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64" name="矩形 63">
              <a:extLst>
                <a:ext uri="{FF2B5EF4-FFF2-40B4-BE49-F238E27FC236}">
                  <a16:creationId xmlns:a16="http://schemas.microsoft.com/office/drawing/2014/main" id="{DE13BD29-1022-9A1C-47B0-C30243B1B5A3}"/>
                </a:ext>
              </a:extLst>
            </p:cNvPr>
            <p:cNvSpPr/>
            <p:nvPr/>
          </p:nvSpPr>
          <p:spPr>
            <a:xfrm>
              <a:off x="2018617" y="4679805"/>
              <a:ext cx="886830" cy="328490"/>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cxnSp>
          <p:nvCxnSpPr>
            <p:cNvPr id="65" name="直接连接符 103">
              <a:extLst>
                <a:ext uri="{FF2B5EF4-FFF2-40B4-BE49-F238E27FC236}">
                  <a16:creationId xmlns:a16="http://schemas.microsoft.com/office/drawing/2014/main" id="{03A75C63-64E5-CB6D-1740-D3F641EA539E}"/>
                </a:ext>
              </a:extLst>
            </p:cNvPr>
            <p:cNvCxnSpPr>
              <a:cxnSpLocks/>
              <a:stCxn id="90" idx="3"/>
              <a:endCxn id="88" idx="0"/>
            </p:cNvCxnSpPr>
            <p:nvPr/>
          </p:nvCxnSpPr>
          <p:spPr>
            <a:xfrm flipH="1">
              <a:off x="1664652" y="4532196"/>
              <a:ext cx="606728" cy="602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104">
              <a:extLst>
                <a:ext uri="{FF2B5EF4-FFF2-40B4-BE49-F238E27FC236}">
                  <a16:creationId xmlns:a16="http://schemas.microsoft.com/office/drawing/2014/main" id="{1D010A23-3C2E-F446-8571-70D881BAB99F}"/>
                </a:ext>
              </a:extLst>
            </p:cNvPr>
            <p:cNvCxnSpPr>
              <a:cxnSpLocks/>
              <a:stCxn id="90" idx="5"/>
              <a:endCxn id="38" idx="0"/>
            </p:cNvCxnSpPr>
            <p:nvPr/>
          </p:nvCxnSpPr>
          <p:spPr>
            <a:xfrm>
              <a:off x="2691340" y="4532196"/>
              <a:ext cx="586464" cy="630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EE9FCC84-DA05-E26E-190E-955655EE896F}"/>
                </a:ext>
              </a:extLst>
            </p:cNvPr>
            <p:cNvSpPr/>
            <p:nvPr/>
          </p:nvSpPr>
          <p:spPr>
            <a:xfrm>
              <a:off x="1763451" y="4848834"/>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68" name="矩形 67">
              <a:extLst>
                <a:ext uri="{FF2B5EF4-FFF2-40B4-BE49-F238E27FC236}">
                  <a16:creationId xmlns:a16="http://schemas.microsoft.com/office/drawing/2014/main" id="{525277F5-F0D3-7360-A2B8-F79B1CA2B92E}"/>
                </a:ext>
              </a:extLst>
            </p:cNvPr>
            <p:cNvSpPr/>
            <p:nvPr/>
          </p:nvSpPr>
          <p:spPr>
            <a:xfrm>
              <a:off x="2793597" y="4848834"/>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69" name="矩形 68">
              <a:extLst>
                <a:ext uri="{FF2B5EF4-FFF2-40B4-BE49-F238E27FC236}">
                  <a16:creationId xmlns:a16="http://schemas.microsoft.com/office/drawing/2014/main" id="{2091496E-B354-6684-7750-104D3A7F3885}"/>
                </a:ext>
              </a:extLst>
            </p:cNvPr>
            <p:cNvSpPr/>
            <p:nvPr/>
          </p:nvSpPr>
          <p:spPr>
            <a:xfrm>
              <a:off x="6451721" y="4679805"/>
              <a:ext cx="886830" cy="328490"/>
            </a:xfrm>
            <a:prstGeom prst="rect">
              <a:avLst/>
            </a:prstGeom>
          </p:spPr>
          <p:txBody>
            <a:bodyPr wrap="none">
              <a:spAutoFit/>
            </a:bodyPr>
            <a:lstStyle/>
            <a:p>
              <a:pPr lvl="0" algn="ctr"/>
              <a:r>
                <a:rPr lang="zh-CN" altLang="en-US" sz="1600" b="0">
                  <a:latin typeface="Times New Roman"/>
                </a:rPr>
                <a:t>草地面积</a:t>
              </a:r>
              <a:endParaRPr lang="en-US" altLang="zh-CN" sz="1600" b="0">
                <a:latin typeface="Times New Roman"/>
              </a:endParaRPr>
            </a:p>
          </p:txBody>
        </p:sp>
        <p:cxnSp>
          <p:nvCxnSpPr>
            <p:cNvPr id="70" name="直接连接符 108">
              <a:extLst>
                <a:ext uri="{FF2B5EF4-FFF2-40B4-BE49-F238E27FC236}">
                  <a16:creationId xmlns:a16="http://schemas.microsoft.com/office/drawing/2014/main" id="{CE3884D3-AEA5-0E26-227C-DE0201FE5779}"/>
                </a:ext>
              </a:extLst>
            </p:cNvPr>
            <p:cNvCxnSpPr>
              <a:cxnSpLocks/>
              <a:stCxn id="86" idx="3"/>
              <a:endCxn id="39" idx="0"/>
            </p:cNvCxnSpPr>
            <p:nvPr/>
          </p:nvCxnSpPr>
          <p:spPr>
            <a:xfrm flipH="1">
              <a:off x="6065107" y="4532196"/>
              <a:ext cx="624568" cy="630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109">
              <a:extLst>
                <a:ext uri="{FF2B5EF4-FFF2-40B4-BE49-F238E27FC236}">
                  <a16:creationId xmlns:a16="http://schemas.microsoft.com/office/drawing/2014/main" id="{66C25590-F1B6-A61E-E765-B7DBC8D4C254}"/>
                </a:ext>
              </a:extLst>
            </p:cNvPr>
            <p:cNvCxnSpPr>
              <a:cxnSpLocks/>
              <a:stCxn id="86" idx="5"/>
              <a:endCxn id="40" idx="0"/>
            </p:cNvCxnSpPr>
            <p:nvPr/>
          </p:nvCxnSpPr>
          <p:spPr>
            <a:xfrm>
              <a:off x="7109635" y="4532196"/>
              <a:ext cx="584741" cy="630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矩形 71">
              <a:extLst>
                <a:ext uri="{FF2B5EF4-FFF2-40B4-BE49-F238E27FC236}">
                  <a16:creationId xmlns:a16="http://schemas.microsoft.com/office/drawing/2014/main" id="{6AB525FC-CBAF-427E-8DB8-591A1D7DAD2A}"/>
                </a:ext>
              </a:extLst>
            </p:cNvPr>
            <p:cNvSpPr/>
            <p:nvPr/>
          </p:nvSpPr>
          <p:spPr>
            <a:xfrm>
              <a:off x="6196555" y="4848834"/>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73" name="矩形 72">
              <a:extLst>
                <a:ext uri="{FF2B5EF4-FFF2-40B4-BE49-F238E27FC236}">
                  <a16:creationId xmlns:a16="http://schemas.microsoft.com/office/drawing/2014/main" id="{54367720-01C4-496E-96C3-BB9F739F9AC8}"/>
                </a:ext>
              </a:extLst>
            </p:cNvPr>
            <p:cNvSpPr/>
            <p:nvPr/>
          </p:nvSpPr>
          <p:spPr>
            <a:xfrm>
              <a:off x="7233987" y="4848834"/>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74" name="矩形 73">
              <a:extLst>
                <a:ext uri="{FF2B5EF4-FFF2-40B4-BE49-F238E27FC236}">
                  <a16:creationId xmlns:a16="http://schemas.microsoft.com/office/drawing/2014/main" id="{E512CBE5-4E23-BEFA-B99A-81C827E36722}"/>
                </a:ext>
              </a:extLst>
            </p:cNvPr>
            <p:cNvSpPr/>
            <p:nvPr/>
          </p:nvSpPr>
          <p:spPr>
            <a:xfrm>
              <a:off x="3065854" y="5711147"/>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75" name="矩形 74">
              <a:extLst>
                <a:ext uri="{FF2B5EF4-FFF2-40B4-BE49-F238E27FC236}">
                  <a16:creationId xmlns:a16="http://schemas.microsoft.com/office/drawing/2014/main" id="{0E7BFBD4-AE66-1709-3266-9FB979B26249}"/>
                </a:ext>
              </a:extLst>
            </p:cNvPr>
            <p:cNvSpPr/>
            <p:nvPr/>
          </p:nvSpPr>
          <p:spPr>
            <a:xfrm>
              <a:off x="5890077" y="5711147"/>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76" name="矩形 75">
              <a:extLst>
                <a:ext uri="{FF2B5EF4-FFF2-40B4-BE49-F238E27FC236}">
                  <a16:creationId xmlns:a16="http://schemas.microsoft.com/office/drawing/2014/main" id="{21440BD5-E0BE-22DA-D5F2-1C6FB681CCD2}"/>
                </a:ext>
              </a:extLst>
            </p:cNvPr>
            <p:cNvSpPr/>
            <p:nvPr/>
          </p:nvSpPr>
          <p:spPr>
            <a:xfrm>
              <a:off x="7510532" y="5711147"/>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77" name="矩形 76">
              <a:extLst>
                <a:ext uri="{FF2B5EF4-FFF2-40B4-BE49-F238E27FC236}">
                  <a16:creationId xmlns:a16="http://schemas.microsoft.com/office/drawing/2014/main" id="{26D89FC0-6FD7-AF9E-F39D-4D0B6D121362}"/>
                </a:ext>
              </a:extLst>
            </p:cNvPr>
            <p:cNvSpPr/>
            <p:nvPr/>
          </p:nvSpPr>
          <p:spPr>
            <a:xfrm>
              <a:off x="1399119" y="5758225"/>
              <a:ext cx="595035" cy="338554"/>
            </a:xfrm>
            <a:prstGeom prst="rect">
              <a:avLst/>
            </a:prstGeom>
          </p:spPr>
          <p:txBody>
            <a:bodyPr wrap="none">
              <a:spAutoFit/>
            </a:bodyPr>
            <a:lstStyle/>
            <a:p>
              <a:pPr lvl="0" algn="ctr"/>
              <a:r>
                <a:rPr lang="zh-CN" altLang="en-US" sz="1600" b="0">
                  <a:latin typeface="Times New Roman"/>
                </a:rPr>
                <a:t>收入</a:t>
              </a:r>
              <a:endParaRPr lang="en-US" altLang="zh-CN" sz="1600" b="0">
                <a:latin typeface="Times New Roman"/>
              </a:endParaRPr>
            </a:p>
          </p:txBody>
        </p:sp>
        <p:cxnSp>
          <p:nvCxnSpPr>
            <p:cNvPr id="78" name="直接连接符 124">
              <a:extLst>
                <a:ext uri="{FF2B5EF4-FFF2-40B4-BE49-F238E27FC236}">
                  <a16:creationId xmlns:a16="http://schemas.microsoft.com/office/drawing/2014/main" id="{53614264-D95D-5FA6-8FA6-CDFEED5BF6BB}"/>
                </a:ext>
              </a:extLst>
            </p:cNvPr>
            <p:cNvCxnSpPr>
              <a:cxnSpLocks/>
              <a:stCxn id="88" idx="3"/>
              <a:endCxn id="41" idx="0"/>
            </p:cNvCxnSpPr>
            <p:nvPr/>
          </p:nvCxnSpPr>
          <p:spPr>
            <a:xfrm flipH="1">
              <a:off x="847911" y="5641821"/>
              <a:ext cx="606761" cy="376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125">
              <a:extLst>
                <a:ext uri="{FF2B5EF4-FFF2-40B4-BE49-F238E27FC236}">
                  <a16:creationId xmlns:a16="http://schemas.microsoft.com/office/drawing/2014/main" id="{48AF9634-AC28-57E0-DFB7-FD5963BAA325}"/>
                </a:ext>
              </a:extLst>
            </p:cNvPr>
            <p:cNvCxnSpPr>
              <a:cxnSpLocks/>
              <a:stCxn id="88" idx="5"/>
              <a:endCxn id="42" idx="0"/>
            </p:cNvCxnSpPr>
            <p:nvPr/>
          </p:nvCxnSpPr>
          <p:spPr>
            <a:xfrm>
              <a:off x="1874632" y="5641821"/>
              <a:ext cx="606728" cy="376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E1649492-0A5C-478A-0857-81B067FD8AF3}"/>
                </a:ext>
              </a:extLst>
            </p:cNvPr>
            <p:cNvSpPr/>
            <p:nvPr/>
          </p:nvSpPr>
          <p:spPr>
            <a:xfrm>
              <a:off x="1046073" y="5774804"/>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81" name="矩形 80">
              <a:extLst>
                <a:ext uri="{FF2B5EF4-FFF2-40B4-BE49-F238E27FC236}">
                  <a16:creationId xmlns:a16="http://schemas.microsoft.com/office/drawing/2014/main" id="{5CC632E2-5C5A-3F16-EB9B-EB179F2C7914}"/>
                </a:ext>
              </a:extLst>
            </p:cNvPr>
            <p:cNvSpPr/>
            <p:nvPr/>
          </p:nvSpPr>
          <p:spPr>
            <a:xfrm>
              <a:off x="1971795" y="5774804"/>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82" name="矩形 81">
              <a:extLst>
                <a:ext uri="{FF2B5EF4-FFF2-40B4-BE49-F238E27FC236}">
                  <a16:creationId xmlns:a16="http://schemas.microsoft.com/office/drawing/2014/main" id="{1DAFCA54-88E2-7B52-80D4-36CC710D99CD}"/>
                </a:ext>
              </a:extLst>
            </p:cNvPr>
            <p:cNvSpPr/>
            <p:nvPr/>
          </p:nvSpPr>
          <p:spPr>
            <a:xfrm>
              <a:off x="646746" y="6560921"/>
              <a:ext cx="390152" cy="338554"/>
            </a:xfrm>
            <a:prstGeom prst="rect">
              <a:avLst/>
            </a:prstGeom>
          </p:spPr>
          <p:txBody>
            <a:bodyPr wrap="square">
              <a:spAutoFit/>
            </a:bodyPr>
            <a:lstStyle/>
            <a:p>
              <a:pPr lvl="0" algn="ctr"/>
              <a:r>
                <a:rPr lang="en-US" altLang="zh-CN" sz="1600">
                  <a:solidFill>
                    <a:prstClr val="black"/>
                  </a:solidFill>
                  <a:latin typeface="Times New Roman"/>
                </a:rPr>
                <a:t>1</a:t>
              </a:r>
            </a:p>
          </p:txBody>
        </p:sp>
        <p:sp>
          <p:nvSpPr>
            <p:cNvPr id="83" name="矩形 82">
              <a:extLst>
                <a:ext uri="{FF2B5EF4-FFF2-40B4-BE49-F238E27FC236}">
                  <a16:creationId xmlns:a16="http://schemas.microsoft.com/office/drawing/2014/main" id="{8BEC6CAE-B44A-F7C3-651B-6596902940EB}"/>
                </a:ext>
              </a:extLst>
            </p:cNvPr>
            <p:cNvSpPr/>
            <p:nvPr/>
          </p:nvSpPr>
          <p:spPr>
            <a:xfrm>
              <a:off x="2267201" y="6560921"/>
              <a:ext cx="390152" cy="338554"/>
            </a:xfrm>
            <a:prstGeom prst="rect">
              <a:avLst/>
            </a:prstGeom>
          </p:spPr>
          <p:txBody>
            <a:bodyPr wrap="square">
              <a:spAutoFit/>
            </a:bodyPr>
            <a:lstStyle/>
            <a:p>
              <a:pPr lvl="0" algn="ctr"/>
              <a:r>
                <a:rPr lang="en-US" altLang="zh-CN" sz="1600">
                  <a:solidFill>
                    <a:prstClr val="black"/>
                  </a:solidFill>
                  <a:latin typeface="Times New Roman"/>
                </a:rPr>
                <a:t>2</a:t>
              </a:r>
            </a:p>
          </p:txBody>
        </p:sp>
        <p:sp>
          <p:nvSpPr>
            <p:cNvPr id="84" name="TextBox 1">
              <a:extLst>
                <a:ext uri="{FF2B5EF4-FFF2-40B4-BE49-F238E27FC236}">
                  <a16:creationId xmlns:a16="http://schemas.microsoft.com/office/drawing/2014/main" id="{A4E10174-F275-A697-E034-112BA2DA4CAD}"/>
                </a:ext>
              </a:extLst>
            </p:cNvPr>
            <p:cNvSpPr txBox="1"/>
            <p:nvPr/>
          </p:nvSpPr>
          <p:spPr>
            <a:xfrm>
              <a:off x="3260930" y="6211993"/>
              <a:ext cx="5713796" cy="461665"/>
            </a:xfrm>
            <a:prstGeom prst="rect">
              <a:avLst/>
            </a:prstGeom>
            <a:noFill/>
          </p:spPr>
          <p:txBody>
            <a:bodyPr wrap="square" rtlCol="0">
              <a:spAutoFit/>
            </a:bodyPr>
            <a:lstStyle/>
            <a:p>
              <a:r>
                <a:rPr lang="zh-CN" altLang="en-US" sz="2400" dirty="0">
                  <a:solidFill>
                    <a:srgbClr val="FF6600"/>
                  </a:solidFill>
                  <a:latin typeface="Times New Roman" panose="02020603050405020304" pitchFamily="18" charset="0"/>
                  <a:ea typeface="微软雅黑" panose="020B0503020204020204" pitchFamily="34" charset="-122"/>
                  <a:sym typeface="Times New Roman" panose="02020603050405020304" pitchFamily="18" charset="0"/>
                </a:rPr>
                <a:t>训练集不大，但是决策树已经很复杂了</a:t>
              </a:r>
            </a:p>
          </p:txBody>
        </p:sp>
      </p:grpSp>
      <p:sp>
        <p:nvSpPr>
          <p:cNvPr id="104" name="文本框 103">
            <a:extLst>
              <a:ext uri="{FF2B5EF4-FFF2-40B4-BE49-F238E27FC236}">
                <a16:creationId xmlns:a16="http://schemas.microsoft.com/office/drawing/2014/main" id="{3D39AF8F-E7F8-C5F3-A380-8F276F8C2679}"/>
              </a:ext>
            </a:extLst>
          </p:cNvPr>
          <p:cNvSpPr txBox="1"/>
          <p:nvPr/>
        </p:nvSpPr>
        <p:spPr>
          <a:xfrm>
            <a:off x="10447867" y="3672178"/>
            <a:ext cx="1266104" cy="373605"/>
          </a:xfrm>
          <a:prstGeom prst="rect">
            <a:avLst/>
          </a:prstGeom>
          <a:noFill/>
        </p:spPr>
        <p:txBody>
          <a:bodyPr wrap="square">
            <a:spAutoFit/>
          </a:bodyPr>
          <a:lstStyle/>
          <a:p>
            <a:r>
              <a:rPr lang="zh-CN" altLang="en-US" sz="1800"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过拟合</a:t>
            </a:r>
            <a:endParaRPr lang="zh-CN" altLang="en-US" dirty="0">
              <a:solidFill>
                <a:srgbClr val="FF0000"/>
              </a:solidFill>
            </a:endParaRPr>
          </a:p>
        </p:txBody>
      </p:sp>
    </p:spTree>
    <p:extLst>
      <p:ext uri="{BB962C8B-B14F-4D97-AF65-F5344CB8AC3E}">
        <p14:creationId xmlns:p14="http://schemas.microsoft.com/office/powerpoint/2010/main" val="3445338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6CB13-6361-5B82-1EC4-22DE8DEB3C5E}"/>
              </a:ext>
            </a:extLst>
          </p:cNvPr>
          <p:cNvSpPr>
            <a:spLocks noGrp="1"/>
          </p:cNvSpPr>
          <p:nvPr>
            <p:ph type="title"/>
          </p:nvPr>
        </p:nvSpPr>
        <p:spPr/>
        <p:txBody>
          <a:bodyPr>
            <a:normAutofit fontScale="90000"/>
          </a:bodyPr>
          <a:lstStyle/>
          <a:p>
            <a:r>
              <a:rPr lang="zh-CN" altLang="en-US" sz="4400" spc="50" dirty="0">
                <a:latin typeface="Times New Roman" panose="02020603050405020304" pitchFamily="18" charset="0"/>
                <a:ea typeface="微软雅黑" panose="020B0503020204020204" pitchFamily="34" charset="-122"/>
                <a:cs typeface="+mn-ea"/>
                <a:sym typeface="Times New Roman" panose="02020603050405020304" pitchFamily="18" charset="0"/>
              </a:rPr>
              <a:t>剪枝方法解决过拟合问题</a:t>
            </a:r>
            <a:endParaRPr kumimoji="1" lang="zh-CN" altLang="en-US" dirty="0"/>
          </a:p>
        </p:txBody>
      </p:sp>
      <p:sp>
        <p:nvSpPr>
          <p:cNvPr id="3" name="Rectangle 3">
            <a:extLst>
              <a:ext uri="{FF2B5EF4-FFF2-40B4-BE49-F238E27FC236}">
                <a16:creationId xmlns:a16="http://schemas.microsoft.com/office/drawing/2014/main" id="{214ADF17-D6F3-9B6D-DB28-C5B1B1C745D0}"/>
              </a:ext>
            </a:extLst>
          </p:cNvPr>
          <p:cNvSpPr txBox="1">
            <a:spLocks noChangeArrowheads="1"/>
          </p:cNvSpPr>
          <p:nvPr/>
        </p:nvSpPr>
        <p:spPr>
          <a:xfrm>
            <a:off x="1301867" y="949875"/>
            <a:ext cx="8640000" cy="2279855"/>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fontAlgn="base">
              <a:lnSpc>
                <a:spcPct val="120000"/>
              </a:lnSpc>
              <a:spcBef>
                <a:spcPts val="600"/>
              </a:spcBef>
              <a:spcAft>
                <a:spcPct val="0"/>
              </a:spcAft>
              <a:buClr>
                <a:srgbClr val="FF6600"/>
              </a:buClr>
              <a:buSzPct val="80000"/>
              <a:buFont typeface="Wingdings" panose="05000000000000000000" pitchFamily="2" charset="2"/>
              <a:buChar char="l"/>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Two approaches to avoid overfitting </a:t>
            </a:r>
          </a:p>
          <a:p>
            <a:pPr marL="817200" lvl="1" indent="-360000" algn="just" fontAlgn="base">
              <a:lnSpc>
                <a:spcPct val="120000"/>
              </a:lnSpc>
              <a:spcBef>
                <a:spcPts val="600"/>
              </a:spcBef>
              <a:spcAft>
                <a:spcPct val="0"/>
              </a:spcAft>
              <a:buClr>
                <a:srgbClr val="FF6600"/>
              </a:buClr>
              <a:buSzPct val="80000"/>
              <a:buFont typeface="Wingdings" panose="05000000000000000000" pitchFamily="2" charset="2"/>
              <a:buChar char="l"/>
            </a:pPr>
            <a:r>
              <a:rPr lang="en-US" altLang="zh-CN" sz="2200" dirty="0" err="1">
                <a:latin typeface="Times New Roman" panose="02020603050405020304" pitchFamily="18" charset="0"/>
                <a:ea typeface="微软雅黑" panose="020B0503020204020204" pitchFamily="34" charset="-122"/>
                <a:cs typeface="+mn-ea"/>
                <a:sym typeface="Times New Roman" panose="02020603050405020304" pitchFamily="18" charset="0"/>
              </a:rPr>
              <a:t>Prepruning</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如果划分带来的信息增益、</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Gini</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指标等</a:t>
            </a:r>
            <a:r>
              <a:rPr lang="zh-CN" altLang="en-US" sz="22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低于阈值</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，或元组数目</a:t>
            </a:r>
            <a:r>
              <a:rPr lang="zh-CN" altLang="en-US" sz="22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低于阈值</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，则停止这次划分</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00" lvl="1" indent="-360000" algn="just" fontAlgn="base">
              <a:lnSpc>
                <a:spcPct val="120000"/>
              </a:lnSpc>
              <a:spcBef>
                <a:spcPts val="600"/>
              </a:spcBef>
              <a:spcAft>
                <a:spcPct val="0"/>
              </a:spcAft>
              <a:buClr>
                <a:srgbClr val="FF6600"/>
              </a:buClr>
              <a:buSzPct val="80000"/>
              <a:buFont typeface="Wingdings" panose="05000000000000000000" pitchFamily="2" charset="2"/>
              <a:buChar char="l"/>
            </a:pPr>
            <a:r>
              <a:rPr lang="en-US" altLang="zh-CN" sz="2200" dirty="0" err="1">
                <a:latin typeface="Times New Roman" panose="02020603050405020304" pitchFamily="18" charset="0"/>
                <a:ea typeface="微软雅黑" panose="020B0503020204020204" pitchFamily="34" charset="-122"/>
                <a:cs typeface="+mn-ea"/>
                <a:sym typeface="Times New Roman" panose="02020603050405020304" pitchFamily="18" charset="0"/>
              </a:rPr>
              <a:t>Postpruning</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从完全生长的树中剪去树枝</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得到一个逐步修剪树</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提示：度量分类器性能</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pic>
        <p:nvPicPr>
          <p:cNvPr id="4" name="Picture 2">
            <a:extLst>
              <a:ext uri="{FF2B5EF4-FFF2-40B4-BE49-F238E27FC236}">
                <a16:creationId xmlns:a16="http://schemas.microsoft.com/office/drawing/2014/main" id="{E2D0A364-4200-3A07-FBF6-CD1A611131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966"/>
          <a:stretch/>
        </p:blipFill>
        <p:spPr bwMode="auto">
          <a:xfrm>
            <a:off x="2126192" y="3318075"/>
            <a:ext cx="6991350" cy="3086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a:extLst>
              <a:ext uri="{FF2B5EF4-FFF2-40B4-BE49-F238E27FC236}">
                <a16:creationId xmlns:a16="http://schemas.microsoft.com/office/drawing/2014/main" id="{8A3EF900-1D4B-6F3D-32DD-3A3EA7ABB150}"/>
              </a:ext>
            </a:extLst>
          </p:cNvPr>
          <p:cNvSpPr/>
          <p:nvPr/>
        </p:nvSpPr>
        <p:spPr>
          <a:xfrm>
            <a:off x="3349450" y="6457890"/>
            <a:ext cx="4544834" cy="400110"/>
          </a:xfrm>
          <a:prstGeom prst="rect">
            <a:avLst/>
          </a:prstGeom>
          <a:solidFill>
            <a:srgbClr val="13548C"/>
          </a:solidFill>
        </p:spPr>
        <p:txBody>
          <a:bodyPr wrap="none">
            <a:spAutoFit/>
          </a:bodyPr>
          <a:lstStyle/>
          <a:p>
            <a:pPr algn="ctr"/>
            <a:r>
              <a:rPr lang="zh-CN" altLang="en-US" sz="2000" b="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一棵未剪枝的决策树和它剪枝后的版本</a:t>
            </a:r>
            <a:endParaRPr lang="zh-CN" altLang="en-US" sz="2000" b="0">
              <a:solidFill>
                <a:schemeClr val="bg1"/>
              </a:solidFill>
            </a:endParaRPr>
          </a:p>
        </p:txBody>
      </p:sp>
    </p:spTree>
    <p:extLst>
      <p:ext uri="{BB962C8B-B14F-4D97-AF65-F5344CB8AC3E}">
        <p14:creationId xmlns:p14="http://schemas.microsoft.com/office/powerpoint/2010/main" val="612332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0E3C0872-64D7-4B76-9B19-E1DAFDFDD242}"/>
              </a:ext>
            </a:extLst>
          </p:cNvPr>
          <p:cNvCxnSpPr>
            <a:cxnSpLocks/>
          </p:cNvCxnSpPr>
          <p:nvPr/>
        </p:nvCxnSpPr>
        <p:spPr>
          <a:xfrm>
            <a:off x="1422400" y="6113732"/>
            <a:ext cx="9093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1B39824-60B1-4087-9654-852D1F012284}"/>
              </a:ext>
            </a:extLst>
          </p:cNvPr>
          <p:cNvCxnSpPr>
            <a:cxnSpLocks/>
          </p:cNvCxnSpPr>
          <p:nvPr/>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80355FC-FEB3-439F-8098-5C06013AAE42}"/>
              </a:ext>
            </a:extLst>
          </p:cNvPr>
          <p:cNvSpPr/>
          <p:nvPr/>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1D4805B-0FE8-4E82-B102-EE270173D087}"/>
              </a:ext>
            </a:extLst>
          </p:cNvPr>
          <p:cNvSpPr txBox="1"/>
          <p:nvPr/>
        </p:nvSpPr>
        <p:spPr>
          <a:xfrm>
            <a:off x="4770069" y="2552789"/>
            <a:ext cx="2488182" cy="769441"/>
          </a:xfrm>
          <a:prstGeom prst="rect">
            <a:avLst/>
          </a:prstGeom>
          <a:noFill/>
        </p:spPr>
        <p:txBody>
          <a:bodyPr wrap="none" rtlCol="0">
            <a:spAutoFit/>
          </a:bodyPr>
          <a:lstStyle/>
          <a:p>
            <a:pPr algn="ctr"/>
            <a:r>
              <a:rPr lang="zh-CN" altLang="en-US" sz="4400" b="1" dirty="0">
                <a:solidFill>
                  <a:schemeClr val="accent1">
                    <a:lumMod val="75000"/>
                  </a:schemeClr>
                </a:solidFill>
              </a:rPr>
              <a:t>随机森林</a:t>
            </a:r>
          </a:p>
        </p:txBody>
      </p:sp>
    </p:spTree>
    <p:extLst>
      <p:ext uri="{BB962C8B-B14F-4D97-AF65-F5344CB8AC3E}">
        <p14:creationId xmlns:p14="http://schemas.microsoft.com/office/powerpoint/2010/main" val="2942024762"/>
      </p:ext>
    </p:extLst>
  </p:cSld>
  <p:clrMapOvr>
    <a:masterClrMapping/>
  </p:clrMapOvr>
  <mc:AlternateContent xmlns:mc="http://schemas.openxmlformats.org/markup-compatibility/2006" xmlns:p14="http://schemas.microsoft.com/office/powerpoint/2010/main">
    <mc:Choice Requires="p14">
      <p:transition spd="slow" p14:dur="2000" advTm="10176"/>
    </mc:Choice>
    <mc:Fallback xmlns="">
      <p:transition spd="slow" advTm="10176"/>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21ABE7-5A8A-DE70-1252-5471B0EE8932}"/>
              </a:ext>
            </a:extLst>
          </p:cNvPr>
          <p:cNvSpPr>
            <a:spLocks noGrp="1"/>
          </p:cNvSpPr>
          <p:nvPr>
            <p:ph type="title"/>
          </p:nvPr>
        </p:nvSpPr>
        <p:spPr/>
        <p:txBody>
          <a:bodyPr>
            <a:normAutofit fontScale="90000"/>
          </a:bodyPr>
          <a:lstStyle/>
          <a:p>
            <a:r>
              <a:rPr kumimoji="1" lang="zh-CN" altLang="en-US" dirty="0"/>
              <a:t>随机森林</a:t>
            </a:r>
          </a:p>
        </p:txBody>
      </p:sp>
      <p:sp>
        <p:nvSpPr>
          <p:cNvPr id="4" name="文本框 3">
            <a:extLst>
              <a:ext uri="{FF2B5EF4-FFF2-40B4-BE49-F238E27FC236}">
                <a16:creationId xmlns:a16="http://schemas.microsoft.com/office/drawing/2014/main" id="{0B30241F-EA3B-99E0-8CCC-23118E917C07}"/>
              </a:ext>
            </a:extLst>
          </p:cNvPr>
          <p:cNvSpPr txBox="1"/>
          <p:nvPr/>
        </p:nvSpPr>
        <p:spPr>
          <a:xfrm>
            <a:off x="846437" y="1613242"/>
            <a:ext cx="9803104" cy="954107"/>
          </a:xfrm>
          <a:prstGeom prst="rect">
            <a:avLst/>
          </a:prstGeom>
          <a:noFill/>
        </p:spPr>
        <p:txBody>
          <a:bodyPr wrap="square">
            <a:spAutoFit/>
          </a:bodyPr>
          <a:lstStyle/>
          <a:p>
            <a:r>
              <a:rPr lang="zh-CN" altLang="en-US" sz="2800" dirty="0"/>
              <a:t>集成学习</a:t>
            </a:r>
            <a:r>
              <a:rPr lang="en-US" altLang="zh-CN" sz="2800" dirty="0"/>
              <a:t>(</a:t>
            </a:r>
            <a:r>
              <a:rPr lang="en-US" altLang="zh-CN" sz="2800" b="1" dirty="0">
                <a:solidFill>
                  <a:srgbClr val="C00000"/>
                </a:solidFill>
              </a:rPr>
              <a:t>ensemble</a:t>
            </a:r>
            <a:r>
              <a:rPr lang="zh-CN" altLang="en-US" sz="2800" b="1" dirty="0">
                <a:solidFill>
                  <a:srgbClr val="C00000"/>
                </a:solidFill>
              </a:rPr>
              <a:t> </a:t>
            </a:r>
            <a:r>
              <a:rPr lang="en-US" altLang="zh-CN" sz="2800" b="1" dirty="0">
                <a:solidFill>
                  <a:srgbClr val="C00000"/>
                </a:solidFill>
              </a:rPr>
              <a:t>learning</a:t>
            </a:r>
            <a:r>
              <a:rPr lang="en-US" altLang="zh-CN" sz="2800" dirty="0"/>
              <a:t>)</a:t>
            </a:r>
            <a:r>
              <a:rPr lang="zh-CN" altLang="en-US" sz="2800" dirty="0"/>
              <a:t>通过</a:t>
            </a:r>
            <a:r>
              <a:rPr lang="zh-CN" altLang="en-US" sz="2800" dirty="0">
                <a:solidFill>
                  <a:srgbClr val="FF0000"/>
                </a:solidFill>
              </a:rPr>
              <a:t>构建</a:t>
            </a:r>
            <a:r>
              <a:rPr lang="zh-CN" altLang="en-US" sz="2800" dirty="0"/>
              <a:t>并</a:t>
            </a:r>
            <a:r>
              <a:rPr lang="zh-CN" altLang="en-US" sz="2800" dirty="0">
                <a:solidFill>
                  <a:srgbClr val="0000FF"/>
                </a:solidFill>
              </a:rPr>
              <a:t>结合</a:t>
            </a:r>
            <a:r>
              <a:rPr lang="zh-CN" altLang="en-US" sz="2800" b="1" u="sng" dirty="0">
                <a:solidFill>
                  <a:srgbClr val="FF0000"/>
                </a:solidFill>
              </a:rPr>
              <a:t>多个学习器</a:t>
            </a:r>
            <a:r>
              <a:rPr lang="zh-CN" altLang="en-US" sz="2800" dirty="0"/>
              <a:t>来提升性能</a:t>
            </a:r>
            <a:endParaRPr lang="en-US" altLang="zh-CN" sz="2800" dirty="0"/>
          </a:p>
        </p:txBody>
      </p:sp>
      <p:sp>
        <p:nvSpPr>
          <p:cNvPr id="6" name="文本框 5">
            <a:extLst>
              <a:ext uri="{FF2B5EF4-FFF2-40B4-BE49-F238E27FC236}">
                <a16:creationId xmlns:a16="http://schemas.microsoft.com/office/drawing/2014/main" id="{477D2F94-BE31-E462-FB00-C2EECB39DC16}"/>
              </a:ext>
            </a:extLst>
          </p:cNvPr>
          <p:cNvSpPr txBox="1"/>
          <p:nvPr/>
        </p:nvSpPr>
        <p:spPr>
          <a:xfrm>
            <a:off x="846436" y="2700690"/>
            <a:ext cx="9928655" cy="3323987"/>
          </a:xfrm>
          <a:prstGeom prst="rect">
            <a:avLst/>
          </a:prstGeom>
          <a:noFill/>
        </p:spPr>
        <p:txBody>
          <a:bodyPr wrap="square">
            <a:spAutoFit/>
          </a:bodyPr>
          <a:lstStyle/>
          <a:p>
            <a:pPr marL="457200" indent="-457200">
              <a:buFont typeface="Wingdings" pitchFamily="2" charset="2"/>
              <a:buChar char="ü"/>
            </a:pPr>
            <a:r>
              <a:rPr lang="zh-CN" altLang="en-US" sz="2800" dirty="0">
                <a:solidFill>
                  <a:srgbClr val="C00000"/>
                </a:solidFill>
                <a:sym typeface="Times New Roman" panose="02020603050405020304" pitchFamily="18" charset="0"/>
              </a:rPr>
              <a:t>随机森林</a:t>
            </a:r>
            <a:r>
              <a:rPr lang="zh-CN" altLang="en-US" sz="2800" dirty="0">
                <a:sym typeface="Times New Roman" panose="02020603050405020304" pitchFamily="18" charset="0"/>
              </a:rPr>
              <a:t>（</a:t>
            </a:r>
            <a:r>
              <a:rPr lang="en-US" altLang="zh-CN" sz="2800" dirty="0">
                <a:sym typeface="Times New Roman" panose="02020603050405020304" pitchFamily="18" charset="0"/>
              </a:rPr>
              <a:t>Random</a:t>
            </a:r>
            <a:r>
              <a:rPr lang="zh-CN" altLang="en-US" sz="2800" dirty="0">
                <a:sym typeface="Times New Roman" panose="02020603050405020304" pitchFamily="18" charset="0"/>
              </a:rPr>
              <a:t> </a:t>
            </a:r>
            <a:r>
              <a:rPr lang="en-US" altLang="zh-CN" sz="2800" dirty="0">
                <a:sym typeface="Times New Roman" panose="02020603050405020304" pitchFamily="18" charset="0"/>
              </a:rPr>
              <a:t>Forest</a:t>
            </a:r>
            <a:r>
              <a:rPr lang="zh-CN" altLang="en-US" sz="2800" dirty="0">
                <a:sym typeface="Times New Roman" panose="02020603050405020304" pitchFamily="18" charset="0"/>
              </a:rPr>
              <a:t>）是集成学习（</a:t>
            </a:r>
            <a:r>
              <a:rPr lang="en-US" altLang="zh-CN" sz="2800" dirty="0">
                <a:sym typeface="Times New Roman" panose="02020603050405020304" pitchFamily="18" charset="0"/>
              </a:rPr>
              <a:t>Ensemble</a:t>
            </a:r>
            <a:r>
              <a:rPr lang="zh-CN" altLang="en-US" sz="2800" dirty="0">
                <a:sym typeface="Times New Roman" panose="02020603050405020304" pitchFamily="18" charset="0"/>
              </a:rPr>
              <a:t> </a:t>
            </a:r>
            <a:r>
              <a:rPr lang="en-US" altLang="zh-CN" sz="2800" dirty="0">
                <a:sym typeface="Times New Roman" panose="02020603050405020304" pitchFamily="18" charset="0"/>
              </a:rPr>
              <a:t>learning</a:t>
            </a:r>
            <a:r>
              <a:rPr lang="zh-CN" altLang="en-US" sz="2800" dirty="0">
                <a:sym typeface="Times New Roman" panose="02020603050405020304" pitchFamily="18" charset="0"/>
              </a:rPr>
              <a:t>）中典型的</a:t>
            </a:r>
            <a:r>
              <a:rPr lang="en-US" altLang="zh-CN" sz="2800" dirty="0">
                <a:sym typeface="Times New Roman" panose="02020603050405020304" pitchFamily="18" charset="0"/>
              </a:rPr>
              <a:t>Bagging</a:t>
            </a:r>
            <a:r>
              <a:rPr lang="zh-CN" altLang="en-US" sz="2800" dirty="0">
                <a:sym typeface="Times New Roman" panose="02020603050405020304" pitchFamily="18" charset="0"/>
              </a:rPr>
              <a:t>类型算法。</a:t>
            </a:r>
            <a:endParaRPr lang="en-US" altLang="zh-CN" sz="2800" dirty="0">
              <a:sym typeface="Times New Roman" panose="02020603050405020304" pitchFamily="18" charset="0"/>
            </a:endParaRPr>
          </a:p>
          <a:p>
            <a:pPr marL="457200" indent="-457200" eaLnBrk="1" hangingPunct="1">
              <a:lnSpc>
                <a:spcPct val="90000"/>
              </a:lnSpc>
              <a:buFont typeface="Wingdings" pitchFamily="2" charset="2"/>
              <a:buChar char="ü"/>
            </a:pPr>
            <a:r>
              <a:rPr lang="zh-CN" altLang="en-US" sz="2800" dirty="0"/>
              <a:t>随机森林算法是</a:t>
            </a:r>
            <a:r>
              <a:rPr lang="en-US" altLang="zh-CN" sz="2800" dirty="0"/>
              <a:t>Leo </a:t>
            </a:r>
            <a:r>
              <a:rPr lang="en-US" altLang="zh-CN" sz="2800" dirty="0" err="1"/>
              <a:t>Breiman</a:t>
            </a:r>
            <a:r>
              <a:rPr lang="zh-CN" altLang="en-US" sz="2800" dirty="0"/>
              <a:t>于</a:t>
            </a:r>
            <a:r>
              <a:rPr lang="en-US" altLang="zh-CN" sz="2800" dirty="0"/>
              <a:t>2001</a:t>
            </a:r>
            <a:r>
              <a:rPr lang="zh-CN" altLang="en-US" sz="2800" dirty="0"/>
              <a:t>年提出的一种新型分类和预测模型</a:t>
            </a:r>
            <a:r>
              <a:rPr lang="en-US" altLang="zh-CN" sz="2800" dirty="0"/>
              <a:t>,</a:t>
            </a:r>
            <a:r>
              <a:rPr lang="zh-CN" altLang="en-US" sz="2800" dirty="0"/>
              <a:t>它具有需要调整的参数较少、不必担心过度拟合、分类速度很快</a:t>
            </a:r>
            <a:r>
              <a:rPr lang="en-US" altLang="zh-CN" sz="2800" dirty="0"/>
              <a:t>, </a:t>
            </a:r>
            <a:r>
              <a:rPr lang="zh-CN" altLang="en-US" sz="2800" dirty="0"/>
              <a:t>能高效处理大样本数据、能估计哪个特征在分类中更重要以及较强的抗噪音能力等特点</a:t>
            </a:r>
            <a:endParaRPr lang="en-US" altLang="zh-CN" sz="2800" dirty="0"/>
          </a:p>
          <a:p>
            <a:pPr marL="457200" indent="-457200" eaLnBrk="1" hangingPunct="1">
              <a:lnSpc>
                <a:spcPct val="90000"/>
              </a:lnSpc>
              <a:buFont typeface="Wingdings" pitchFamily="2" charset="2"/>
              <a:buChar char="ü"/>
            </a:pPr>
            <a:r>
              <a:rPr lang="zh-CN" altLang="en-US" sz="2800" dirty="0"/>
              <a:t>该方法是基于决策树（</a:t>
            </a:r>
            <a:r>
              <a:rPr lang="en-US" altLang="zh-CN" sz="2800" dirty="0"/>
              <a:t>decision tree</a:t>
            </a:r>
            <a:r>
              <a:rPr lang="zh-CN" altLang="en-US" sz="2800" dirty="0"/>
              <a:t>） 的分类器集成算法。</a:t>
            </a:r>
          </a:p>
          <a:p>
            <a:endParaRPr lang="en-US" altLang="zh-CN" sz="2800" dirty="0">
              <a:sym typeface="Times New Roman" panose="02020603050405020304" pitchFamily="18" charset="0"/>
            </a:endParaRPr>
          </a:p>
        </p:txBody>
      </p:sp>
    </p:spTree>
    <p:extLst>
      <p:ext uri="{BB962C8B-B14F-4D97-AF65-F5344CB8AC3E}">
        <p14:creationId xmlns:p14="http://schemas.microsoft.com/office/powerpoint/2010/main" val="348289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7" name="Group 6"/>
          <p:cNvGrpSpPr>
            <a:grpSpLocks noChangeAspect="1"/>
          </p:cNvGrpSpPr>
          <p:nvPr/>
        </p:nvGrpSpPr>
        <p:grpSpPr bwMode="auto">
          <a:xfrm>
            <a:off x="150812" y="1707886"/>
            <a:ext cx="11139488" cy="3810000"/>
            <a:chOff x="-477" y="1162"/>
            <a:chExt cx="6426" cy="2637"/>
          </a:xfrm>
        </p:grpSpPr>
        <p:sp>
          <p:nvSpPr>
            <p:cNvPr id="26628" name="AutoShape 5"/>
            <p:cNvSpPr>
              <a:spLocks noChangeAspect="1" noChangeArrowheads="1" noTextEdit="1"/>
            </p:cNvSpPr>
            <p:nvPr/>
          </p:nvSpPr>
          <p:spPr bwMode="auto">
            <a:xfrm>
              <a:off x="-477" y="1162"/>
              <a:ext cx="6426" cy="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zh-CN" altLang="en-US">
                <a:solidFill>
                  <a:srgbClr val="006699"/>
                </a:solidFill>
                <a:latin typeface="Verdana" pitchFamily="34" charset="0"/>
                <a:ea typeface="宋体" pitchFamily="2" charset="-122"/>
              </a:endParaRPr>
            </a:p>
          </p:txBody>
        </p:sp>
        <p:sp>
          <p:nvSpPr>
            <p:cNvPr id="26629" name="Rectangle 7"/>
            <p:cNvSpPr>
              <a:spLocks noChangeArrowheads="1"/>
            </p:cNvSpPr>
            <p:nvPr/>
          </p:nvSpPr>
          <p:spPr bwMode="auto">
            <a:xfrm>
              <a:off x="5506" y="3389"/>
              <a:ext cx="3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Verdana" pitchFamily="34" charset="0"/>
                  <a:ea typeface="宋体" pitchFamily="2" charset="-122"/>
                </a:defRPr>
              </a:lvl1pPr>
              <a:lvl2pPr marL="742950" indent="-285750" eaLnBrk="0" hangingPunct="0">
                <a:spcBef>
                  <a:spcPct val="20000"/>
                </a:spcBef>
                <a:buChar char="–"/>
                <a:defRPr sz="2800">
                  <a:solidFill>
                    <a:schemeClr val="tx1"/>
                  </a:solidFill>
                  <a:latin typeface="Verdana" pitchFamily="34" charset="0"/>
                  <a:ea typeface="宋体" pitchFamily="2" charset="-122"/>
                </a:defRPr>
              </a:lvl2pPr>
              <a:lvl3pPr marL="1143000" indent="-228600" eaLnBrk="0" hangingPunct="0">
                <a:spcBef>
                  <a:spcPct val="20000"/>
                </a:spcBef>
                <a:buChar char="•"/>
                <a:defRPr sz="2400">
                  <a:solidFill>
                    <a:schemeClr val="tx1"/>
                  </a:solidFill>
                  <a:latin typeface="Verdana" pitchFamily="34" charset="0"/>
                  <a:ea typeface="宋体" pitchFamily="2" charset="-122"/>
                </a:defRPr>
              </a:lvl3pPr>
              <a:lvl4pPr marL="1600200" indent="-228600" eaLnBrk="0" hangingPunct="0">
                <a:spcBef>
                  <a:spcPct val="20000"/>
                </a:spcBef>
                <a:buChar char="–"/>
                <a:defRPr sz="2000">
                  <a:solidFill>
                    <a:schemeClr val="tx1"/>
                  </a:solidFill>
                  <a:latin typeface="Verdana" pitchFamily="34" charset="0"/>
                  <a:ea typeface="宋体" pitchFamily="2" charset="-122"/>
                </a:defRPr>
              </a:lvl4pPr>
              <a:lvl5pPr marL="2057400" indent="-228600" eaLnBrk="0" hangingPunct="0">
                <a:spcBef>
                  <a:spcPct val="20000"/>
                </a:spcBef>
                <a:buChar char="»"/>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9pPr>
            </a:lstStyle>
            <a:p>
              <a:pPr eaLnBrk="1" fontAlgn="base" hangingPunct="1">
                <a:spcBef>
                  <a:spcPct val="0"/>
                </a:spcBef>
                <a:spcAft>
                  <a:spcPct val="0"/>
                </a:spcAft>
                <a:buNone/>
              </a:pPr>
              <a:r>
                <a:rPr lang="zh-CN" altLang="zh-CN" sz="2000">
                  <a:solidFill>
                    <a:srgbClr val="000000"/>
                  </a:solidFill>
                  <a:latin typeface="Times New Roman" pitchFamily="18" charset="0"/>
                </a:rPr>
                <a:t> </a:t>
              </a:r>
              <a:endParaRPr lang="zh-CN" altLang="zh-CN" sz="1800">
                <a:solidFill>
                  <a:srgbClr val="006699"/>
                </a:solidFill>
              </a:endParaRPr>
            </a:p>
          </p:txBody>
        </p:sp>
        <p:sp>
          <p:nvSpPr>
            <p:cNvPr id="26633" name="Rectangle 11"/>
            <p:cNvSpPr>
              <a:spLocks noChangeArrowheads="1"/>
            </p:cNvSpPr>
            <p:nvPr/>
          </p:nvSpPr>
          <p:spPr bwMode="auto">
            <a:xfrm>
              <a:off x="2492" y="3602"/>
              <a:ext cx="19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Verdana" pitchFamily="34" charset="0"/>
                  <a:ea typeface="宋体" pitchFamily="2" charset="-122"/>
                </a:defRPr>
              </a:lvl1pPr>
              <a:lvl2pPr marL="742950" indent="-285750" eaLnBrk="0" hangingPunct="0">
                <a:spcBef>
                  <a:spcPct val="20000"/>
                </a:spcBef>
                <a:buChar char="–"/>
                <a:defRPr sz="2800">
                  <a:solidFill>
                    <a:schemeClr val="tx1"/>
                  </a:solidFill>
                  <a:latin typeface="Verdana" pitchFamily="34" charset="0"/>
                  <a:ea typeface="宋体" pitchFamily="2" charset="-122"/>
                </a:defRPr>
              </a:lvl2pPr>
              <a:lvl3pPr marL="1143000" indent="-228600" eaLnBrk="0" hangingPunct="0">
                <a:spcBef>
                  <a:spcPct val="20000"/>
                </a:spcBef>
                <a:buChar char="•"/>
                <a:defRPr sz="2400">
                  <a:solidFill>
                    <a:schemeClr val="tx1"/>
                  </a:solidFill>
                  <a:latin typeface="Verdana" pitchFamily="34" charset="0"/>
                  <a:ea typeface="宋体" pitchFamily="2" charset="-122"/>
                </a:defRPr>
              </a:lvl3pPr>
              <a:lvl4pPr marL="1600200" indent="-228600" eaLnBrk="0" hangingPunct="0">
                <a:spcBef>
                  <a:spcPct val="20000"/>
                </a:spcBef>
                <a:buChar char="–"/>
                <a:defRPr sz="2000">
                  <a:solidFill>
                    <a:schemeClr val="tx1"/>
                  </a:solidFill>
                  <a:latin typeface="Verdana" pitchFamily="34" charset="0"/>
                  <a:ea typeface="宋体" pitchFamily="2" charset="-122"/>
                </a:defRPr>
              </a:lvl4pPr>
              <a:lvl5pPr marL="2057400" indent="-228600" eaLnBrk="0" hangingPunct="0">
                <a:spcBef>
                  <a:spcPct val="20000"/>
                </a:spcBef>
                <a:buChar char="»"/>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9pPr>
            </a:lstStyle>
            <a:p>
              <a:pPr eaLnBrk="1" fontAlgn="base" hangingPunct="1">
                <a:spcBef>
                  <a:spcPct val="0"/>
                </a:spcBef>
                <a:spcAft>
                  <a:spcPct val="0"/>
                </a:spcAft>
                <a:buNone/>
              </a:pPr>
              <a:r>
                <a:rPr lang="zh-CN" altLang="zh-CN" sz="1700" b="1" dirty="0">
                  <a:solidFill>
                    <a:srgbClr val="000000"/>
                  </a:solidFill>
                  <a:latin typeface="Times New Roman" pitchFamily="18" charset="0"/>
                </a:rPr>
                <a:t> RF</a:t>
              </a:r>
              <a:endParaRPr lang="zh-CN" altLang="zh-CN" sz="1800" dirty="0">
                <a:solidFill>
                  <a:srgbClr val="006699"/>
                </a:solidFill>
              </a:endParaRPr>
            </a:p>
          </p:txBody>
        </p:sp>
        <p:sp>
          <p:nvSpPr>
            <p:cNvPr id="26634" name="Rectangle 12"/>
            <p:cNvSpPr>
              <a:spLocks noChangeArrowheads="1"/>
            </p:cNvSpPr>
            <p:nvPr/>
          </p:nvSpPr>
          <p:spPr bwMode="auto">
            <a:xfrm>
              <a:off x="2815" y="3607"/>
              <a:ext cx="64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Verdana" pitchFamily="34" charset="0"/>
                  <a:ea typeface="宋体" pitchFamily="2" charset="-122"/>
                </a:defRPr>
              </a:lvl1pPr>
              <a:lvl2pPr marL="742950" indent="-285750" eaLnBrk="0" hangingPunct="0">
                <a:spcBef>
                  <a:spcPct val="20000"/>
                </a:spcBef>
                <a:buChar char="–"/>
                <a:defRPr sz="2800">
                  <a:solidFill>
                    <a:schemeClr val="tx1"/>
                  </a:solidFill>
                  <a:latin typeface="Verdana" pitchFamily="34" charset="0"/>
                  <a:ea typeface="宋体" pitchFamily="2" charset="-122"/>
                </a:defRPr>
              </a:lvl2pPr>
              <a:lvl3pPr marL="1143000" indent="-228600" eaLnBrk="0" hangingPunct="0">
                <a:spcBef>
                  <a:spcPct val="20000"/>
                </a:spcBef>
                <a:buChar char="•"/>
                <a:defRPr sz="2400">
                  <a:solidFill>
                    <a:schemeClr val="tx1"/>
                  </a:solidFill>
                  <a:latin typeface="Verdana" pitchFamily="34" charset="0"/>
                  <a:ea typeface="宋体" pitchFamily="2" charset="-122"/>
                </a:defRPr>
              </a:lvl3pPr>
              <a:lvl4pPr marL="1600200" indent="-228600" eaLnBrk="0" hangingPunct="0">
                <a:spcBef>
                  <a:spcPct val="20000"/>
                </a:spcBef>
                <a:buChar char="–"/>
                <a:defRPr sz="2000">
                  <a:solidFill>
                    <a:schemeClr val="tx1"/>
                  </a:solidFill>
                  <a:latin typeface="Verdana" pitchFamily="34" charset="0"/>
                  <a:ea typeface="宋体" pitchFamily="2" charset="-122"/>
                </a:defRPr>
              </a:lvl4pPr>
              <a:lvl5pPr marL="2057400" indent="-228600" eaLnBrk="0" hangingPunct="0">
                <a:spcBef>
                  <a:spcPct val="20000"/>
                </a:spcBef>
                <a:buChar char="»"/>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9pPr>
            </a:lstStyle>
            <a:p>
              <a:pPr eaLnBrk="1" fontAlgn="base" hangingPunct="1">
                <a:spcBef>
                  <a:spcPct val="0"/>
                </a:spcBef>
                <a:spcAft>
                  <a:spcPct val="0"/>
                </a:spcAft>
                <a:buNone/>
              </a:pPr>
              <a:r>
                <a:rPr lang="zh-CN" altLang="zh-CN" sz="1700" b="1">
                  <a:solidFill>
                    <a:srgbClr val="000000"/>
                  </a:solidFill>
                  <a:latin typeface="宋体" pitchFamily="2" charset="-122"/>
                </a:rPr>
                <a:t>算法原理图</a:t>
              </a:r>
              <a:endParaRPr lang="zh-CN" altLang="zh-CN" sz="1800">
                <a:solidFill>
                  <a:srgbClr val="006699"/>
                </a:solidFill>
              </a:endParaRPr>
            </a:p>
          </p:txBody>
        </p:sp>
        <p:sp>
          <p:nvSpPr>
            <p:cNvPr id="26635" name="Rectangle 13"/>
            <p:cNvSpPr>
              <a:spLocks noChangeArrowheads="1"/>
            </p:cNvSpPr>
            <p:nvPr/>
          </p:nvSpPr>
          <p:spPr bwMode="auto">
            <a:xfrm>
              <a:off x="3508" y="3602"/>
              <a:ext cx="3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Verdana" pitchFamily="34" charset="0"/>
                  <a:ea typeface="宋体" pitchFamily="2" charset="-122"/>
                </a:defRPr>
              </a:lvl1pPr>
              <a:lvl2pPr marL="742950" indent="-285750" eaLnBrk="0" hangingPunct="0">
                <a:spcBef>
                  <a:spcPct val="20000"/>
                </a:spcBef>
                <a:buChar char="–"/>
                <a:defRPr sz="2800">
                  <a:solidFill>
                    <a:schemeClr val="tx1"/>
                  </a:solidFill>
                  <a:latin typeface="Verdana" pitchFamily="34" charset="0"/>
                  <a:ea typeface="宋体" pitchFamily="2" charset="-122"/>
                </a:defRPr>
              </a:lvl2pPr>
              <a:lvl3pPr marL="1143000" indent="-228600" eaLnBrk="0" hangingPunct="0">
                <a:spcBef>
                  <a:spcPct val="20000"/>
                </a:spcBef>
                <a:buChar char="•"/>
                <a:defRPr sz="2400">
                  <a:solidFill>
                    <a:schemeClr val="tx1"/>
                  </a:solidFill>
                  <a:latin typeface="Verdana" pitchFamily="34" charset="0"/>
                  <a:ea typeface="宋体" pitchFamily="2" charset="-122"/>
                </a:defRPr>
              </a:lvl3pPr>
              <a:lvl4pPr marL="1600200" indent="-228600" eaLnBrk="0" hangingPunct="0">
                <a:spcBef>
                  <a:spcPct val="20000"/>
                </a:spcBef>
                <a:buChar char="–"/>
                <a:defRPr sz="2000">
                  <a:solidFill>
                    <a:schemeClr val="tx1"/>
                  </a:solidFill>
                  <a:latin typeface="Verdana" pitchFamily="34" charset="0"/>
                  <a:ea typeface="宋体" pitchFamily="2" charset="-122"/>
                </a:defRPr>
              </a:lvl4pPr>
              <a:lvl5pPr marL="2057400" indent="-228600" eaLnBrk="0" hangingPunct="0">
                <a:spcBef>
                  <a:spcPct val="20000"/>
                </a:spcBef>
                <a:buChar char="»"/>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9pPr>
            </a:lstStyle>
            <a:p>
              <a:pPr eaLnBrk="1" fontAlgn="base" hangingPunct="1">
                <a:spcBef>
                  <a:spcPct val="0"/>
                </a:spcBef>
                <a:spcAft>
                  <a:spcPct val="0"/>
                </a:spcAft>
                <a:buNone/>
              </a:pPr>
              <a:r>
                <a:rPr lang="zh-CN" altLang="zh-CN" sz="1700" b="1">
                  <a:solidFill>
                    <a:srgbClr val="000000"/>
                  </a:solidFill>
                  <a:latin typeface="Times New Roman" pitchFamily="18" charset="0"/>
                </a:rPr>
                <a:t> </a:t>
              </a:r>
              <a:endParaRPr lang="zh-CN" altLang="zh-CN" sz="1800">
                <a:solidFill>
                  <a:srgbClr val="006699"/>
                </a:solidFill>
              </a:endParaRPr>
            </a:p>
          </p:txBody>
        </p:sp>
        <p:pic>
          <p:nvPicPr>
            <p:cNvPr id="2663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 y="1184"/>
              <a:ext cx="5254" cy="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358973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086185" y="437321"/>
            <a:ext cx="8243887" cy="741778"/>
          </a:xfrm>
        </p:spPr>
        <p:txBody>
          <a:bodyPr/>
          <a:lstStyle/>
          <a:p>
            <a:pPr eaLnBrk="1" hangingPunct="1"/>
            <a:r>
              <a:rPr lang="zh-CN" altLang="en-US" sz="4000" dirty="0"/>
              <a:t>随机森林算法基本原理</a:t>
            </a:r>
          </a:p>
        </p:txBody>
      </p:sp>
      <p:sp>
        <p:nvSpPr>
          <p:cNvPr id="23555" name="Rectangle 3"/>
          <p:cNvSpPr>
            <a:spLocks noGrp="1" noChangeArrowheads="1"/>
          </p:cNvSpPr>
          <p:nvPr>
            <p:ph type="body" idx="1"/>
          </p:nvPr>
        </p:nvSpPr>
        <p:spPr>
          <a:xfrm>
            <a:off x="1124465" y="1376808"/>
            <a:ext cx="9613379" cy="4863354"/>
          </a:xfrm>
        </p:spPr>
        <p:txBody>
          <a:bodyPr>
            <a:normAutofit/>
          </a:bodyPr>
          <a:lstStyle/>
          <a:p>
            <a:pPr>
              <a:spcBef>
                <a:spcPts val="1200"/>
              </a:spcBef>
              <a:spcAft>
                <a:spcPts val="1200"/>
              </a:spcAft>
            </a:pPr>
            <a:r>
              <a:rPr lang="zh-CN" altLang="en-US" sz="2400" dirty="0"/>
              <a:t>随机森林是通过一种新的自助法重采样技术生成很多个树分类器</a:t>
            </a:r>
            <a:r>
              <a:rPr lang="en-US" altLang="zh-CN" sz="2400" dirty="0"/>
              <a:t>, </a:t>
            </a:r>
            <a:r>
              <a:rPr lang="zh-CN" altLang="en-US" sz="2400" dirty="0"/>
              <a:t>其步骤如下：</a:t>
            </a:r>
          </a:p>
          <a:p>
            <a:pPr marL="430213" indent="-323850">
              <a:spcBef>
                <a:spcPts val="800"/>
              </a:spcBef>
              <a:spcAft>
                <a:spcPts val="1200"/>
              </a:spcAft>
              <a:buClr>
                <a:srgbClr val="F57900"/>
              </a:buClr>
              <a:buSzPct val="45000"/>
              <a:buFont typeface="Wingdings" charset="2"/>
              <a:buChar char=""/>
              <a:tabLst>
                <a:tab pos="723900" algn="l"/>
                <a:tab pos="1447800" algn="l"/>
                <a:tab pos="2171700" algn="l"/>
                <a:tab pos="2895600" algn="l"/>
                <a:tab pos="3619500" algn="l"/>
                <a:tab pos="4343400" algn="l"/>
                <a:tab pos="5067300" algn="l"/>
                <a:tab pos="5791200" algn="l"/>
                <a:tab pos="6515100" algn="l"/>
                <a:tab pos="7239000" algn="l"/>
                <a:tab pos="7962900" algn="l"/>
              </a:tabLst>
              <a:defRPr/>
            </a:pPr>
            <a:r>
              <a:rPr lang="zh-CN" altLang="zh-CN" sz="2400" dirty="0"/>
              <a:t>随机选取训练样本集：使用</a:t>
            </a:r>
            <a:r>
              <a:rPr lang="en-US" altLang="zh-CN" sz="2400" dirty="0"/>
              <a:t>Bagging</a:t>
            </a:r>
            <a:r>
              <a:rPr lang="zh-CN" altLang="zh-CN" sz="2400" dirty="0"/>
              <a:t>方法形成每颗树的训练集</a:t>
            </a:r>
          </a:p>
          <a:p>
            <a:pPr marL="430213" indent="-323850">
              <a:spcBef>
                <a:spcPts val="800"/>
              </a:spcBef>
              <a:spcAft>
                <a:spcPts val="1200"/>
              </a:spcAft>
              <a:buClr>
                <a:srgbClr val="F57900"/>
              </a:buClr>
              <a:buSzPct val="45000"/>
              <a:buFont typeface="Wingdings" charset="2"/>
              <a:buChar char=""/>
              <a:tabLst>
                <a:tab pos="723900" algn="l"/>
                <a:tab pos="1447800" algn="l"/>
                <a:tab pos="2171700" algn="l"/>
                <a:tab pos="2895600" algn="l"/>
                <a:tab pos="3619500" algn="l"/>
                <a:tab pos="4343400" algn="l"/>
                <a:tab pos="5067300" algn="l"/>
                <a:tab pos="5791200" algn="l"/>
                <a:tab pos="6515100" algn="l"/>
                <a:tab pos="7239000" algn="l"/>
                <a:tab pos="7962900" algn="l"/>
              </a:tabLst>
              <a:defRPr/>
            </a:pPr>
            <a:r>
              <a:rPr lang="zh-CN" altLang="zh-CN" sz="2400" dirty="0"/>
              <a:t>随机选取分裂属性集：假设共有</a:t>
            </a:r>
            <a:r>
              <a:rPr lang="en-US" altLang="zh-CN" sz="2400" dirty="0"/>
              <a:t>M</a:t>
            </a:r>
            <a:r>
              <a:rPr lang="zh-CN" altLang="zh-CN" sz="2400" dirty="0"/>
              <a:t>个属性，指定一个属性数</a:t>
            </a:r>
            <a:r>
              <a:rPr lang="en-US" altLang="zh-CN" sz="2400" dirty="0"/>
              <a:t>F≤M</a:t>
            </a:r>
            <a:r>
              <a:rPr lang="zh-CN" altLang="zh-CN" sz="2400" dirty="0"/>
              <a:t>，在每个内部结点，从</a:t>
            </a:r>
            <a:r>
              <a:rPr lang="en-US" altLang="zh-CN" sz="2400" dirty="0"/>
              <a:t>M</a:t>
            </a:r>
            <a:r>
              <a:rPr lang="zh-CN" altLang="zh-CN" sz="2400" dirty="0"/>
              <a:t>个属性中随机抽取</a:t>
            </a:r>
            <a:r>
              <a:rPr lang="en-US" altLang="zh-CN" sz="2400" dirty="0"/>
              <a:t>F</a:t>
            </a:r>
            <a:r>
              <a:rPr lang="zh-CN" altLang="zh-CN" sz="2400" dirty="0"/>
              <a:t>个属性作分裂属性集，以这</a:t>
            </a:r>
            <a:r>
              <a:rPr lang="en-US" altLang="zh-CN" sz="2400" dirty="0"/>
              <a:t>F</a:t>
            </a:r>
            <a:r>
              <a:rPr lang="zh-CN" altLang="zh-CN" sz="2400" dirty="0"/>
              <a:t>个属性上最好的分裂方式对结点进行分裂（在整个森林的生长过程中， </a:t>
            </a:r>
            <a:r>
              <a:rPr lang="en-US" altLang="zh-CN" sz="2400" dirty="0"/>
              <a:t>F</a:t>
            </a:r>
            <a:r>
              <a:rPr lang="zh-CN" altLang="zh-CN" sz="2400" dirty="0"/>
              <a:t>的值一般维持不变）</a:t>
            </a:r>
            <a:r>
              <a:rPr lang="zh-CN" altLang="en-US" sz="2400" dirty="0"/>
              <a:t>通常 </a:t>
            </a:r>
            <a:r>
              <a:rPr lang="en-US" altLang="zh-CN" sz="2400" i="1" dirty="0"/>
              <a:t>F=log</a:t>
            </a:r>
            <a:r>
              <a:rPr lang="en-US" altLang="zh-CN" sz="2400" i="1" baseline="-25000" dirty="0"/>
              <a:t>2</a:t>
            </a:r>
            <a:r>
              <a:rPr lang="en-US" altLang="zh-CN" sz="2400" i="1" dirty="0"/>
              <a:t>M</a:t>
            </a:r>
            <a:endParaRPr lang="zh-CN" altLang="zh-CN" sz="2400" i="1" dirty="0"/>
          </a:p>
          <a:p>
            <a:pPr marL="430213" indent="-323850">
              <a:spcBef>
                <a:spcPts val="800"/>
              </a:spcBef>
              <a:spcAft>
                <a:spcPts val="1200"/>
              </a:spcAft>
              <a:buClr>
                <a:srgbClr val="F57900"/>
              </a:buClr>
              <a:buSzPct val="45000"/>
              <a:buFont typeface="Wingdings" charset="2"/>
              <a:buChar char=""/>
              <a:tabLst>
                <a:tab pos="723900" algn="l"/>
                <a:tab pos="1447800" algn="l"/>
                <a:tab pos="2171700" algn="l"/>
                <a:tab pos="2895600" algn="l"/>
                <a:tab pos="3619500" algn="l"/>
                <a:tab pos="4343400" algn="l"/>
                <a:tab pos="5067300" algn="l"/>
                <a:tab pos="5791200" algn="l"/>
                <a:tab pos="6515100" algn="l"/>
                <a:tab pos="7239000" algn="l"/>
                <a:tab pos="7962900" algn="l"/>
              </a:tabLst>
              <a:defRPr/>
            </a:pPr>
            <a:r>
              <a:rPr lang="zh-CN" altLang="zh-CN" sz="2400" dirty="0"/>
              <a:t>每颗树任其生长，不进行剪枝</a:t>
            </a:r>
            <a:endParaRPr lang="en-US" altLang="zh-CN" sz="2400" dirty="0"/>
          </a:p>
          <a:p>
            <a:pPr marL="430213" indent="-323850">
              <a:spcBef>
                <a:spcPts val="800"/>
              </a:spcBef>
              <a:spcAft>
                <a:spcPts val="1200"/>
              </a:spcAft>
              <a:buClr>
                <a:srgbClr val="F57900"/>
              </a:buClr>
              <a:buSzPct val="45000"/>
              <a:buFont typeface="Wingdings" charset="2"/>
              <a:buChar char=""/>
              <a:tabLst>
                <a:tab pos="723900" algn="l"/>
                <a:tab pos="1447800" algn="l"/>
                <a:tab pos="2171700" algn="l"/>
                <a:tab pos="2895600" algn="l"/>
                <a:tab pos="3619500" algn="l"/>
                <a:tab pos="4343400" algn="l"/>
                <a:tab pos="5067300" algn="l"/>
                <a:tab pos="5791200" algn="l"/>
                <a:tab pos="6515100" algn="l"/>
                <a:tab pos="7239000" algn="l"/>
                <a:tab pos="7962900" algn="l"/>
              </a:tabLst>
              <a:defRPr/>
            </a:pPr>
            <a:r>
              <a:rPr lang="zh-CN" altLang="en-US" sz="2400" dirty="0"/>
              <a:t>根据生成的多个树分类器对新的数据进行预测</a:t>
            </a:r>
            <a:r>
              <a:rPr lang="en-US" altLang="zh-CN" sz="2400" dirty="0"/>
              <a:t>,</a:t>
            </a:r>
            <a:r>
              <a:rPr lang="zh-CN" altLang="en-US" sz="2400" dirty="0"/>
              <a:t>分类结果按每个</a:t>
            </a:r>
            <a:r>
              <a:rPr lang="zh-CN" altLang="en-US" sz="2400" dirty="0">
                <a:solidFill>
                  <a:srgbClr val="FF0000"/>
                </a:solidFill>
              </a:rPr>
              <a:t>树分类器的投票</a:t>
            </a:r>
            <a:r>
              <a:rPr lang="zh-CN" altLang="en-US" sz="2400" dirty="0"/>
              <a:t>多少而定。</a:t>
            </a:r>
            <a:endParaRPr lang="zh-CN" altLang="zh-CN" sz="2400" dirty="0"/>
          </a:p>
        </p:txBody>
      </p:sp>
    </p:spTree>
    <p:extLst>
      <p:ext uri="{BB962C8B-B14F-4D97-AF65-F5344CB8AC3E}">
        <p14:creationId xmlns:p14="http://schemas.microsoft.com/office/powerpoint/2010/main" val="1996278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5"/>
          <p:cNvSpPr>
            <a:spLocks noChangeArrowheads="1"/>
          </p:cNvSpPr>
          <p:nvPr/>
        </p:nvSpPr>
        <p:spPr bwMode="auto">
          <a:xfrm>
            <a:off x="1657829" y="1009621"/>
            <a:ext cx="8517830" cy="416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Verdana" pitchFamily="34" charset="0"/>
                <a:ea typeface="宋体" pitchFamily="2" charset="-122"/>
              </a:defRPr>
            </a:lvl1pPr>
            <a:lvl2pPr marL="742950" indent="-285750" eaLnBrk="0" hangingPunct="0">
              <a:spcBef>
                <a:spcPct val="20000"/>
              </a:spcBef>
              <a:buChar char="–"/>
              <a:defRPr sz="2800">
                <a:solidFill>
                  <a:schemeClr val="tx1"/>
                </a:solidFill>
                <a:latin typeface="Verdana" pitchFamily="34" charset="0"/>
                <a:ea typeface="宋体" pitchFamily="2" charset="-122"/>
              </a:defRPr>
            </a:lvl2pPr>
            <a:lvl3pPr marL="1143000" indent="-228600" eaLnBrk="0" hangingPunct="0">
              <a:spcBef>
                <a:spcPct val="20000"/>
              </a:spcBef>
              <a:buChar char="•"/>
              <a:defRPr sz="2400">
                <a:solidFill>
                  <a:schemeClr val="tx1"/>
                </a:solidFill>
                <a:latin typeface="Verdana" pitchFamily="34" charset="0"/>
                <a:ea typeface="宋体" pitchFamily="2" charset="-122"/>
              </a:defRPr>
            </a:lvl3pPr>
            <a:lvl4pPr marL="1600200" indent="-228600" eaLnBrk="0" hangingPunct="0">
              <a:spcBef>
                <a:spcPct val="20000"/>
              </a:spcBef>
              <a:buChar char="–"/>
              <a:defRPr sz="2000">
                <a:solidFill>
                  <a:schemeClr val="tx1"/>
                </a:solidFill>
                <a:latin typeface="Verdana" pitchFamily="34" charset="0"/>
                <a:ea typeface="宋体" pitchFamily="2" charset="-122"/>
              </a:defRPr>
            </a:lvl4pPr>
            <a:lvl5pPr marL="2057400" indent="-228600" eaLnBrk="0" hangingPunct="0">
              <a:spcBef>
                <a:spcPct val="20000"/>
              </a:spcBef>
              <a:buChar char="»"/>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Verdana" pitchFamily="34" charset="0"/>
                <a:ea typeface="宋体" pitchFamily="2" charset="-122"/>
              </a:defRPr>
            </a:lvl9pPr>
          </a:lstStyle>
          <a:p>
            <a:pPr eaLnBrk="1" fontAlgn="base" hangingPunct="1">
              <a:lnSpc>
                <a:spcPct val="150000"/>
              </a:lnSpc>
              <a:spcAft>
                <a:spcPct val="0"/>
              </a:spcAft>
              <a:defRPr/>
            </a:pPr>
            <a:r>
              <a:rPr lang="en-US" altLang="zh-CN" sz="2400" dirty="0">
                <a:solidFill>
                  <a:srgbClr val="006699"/>
                </a:solidFill>
              </a:rPr>
              <a:t>Bagging(Breiman,1996)</a:t>
            </a:r>
          </a:p>
          <a:p>
            <a:pPr lvl="1" eaLnBrk="1" fontAlgn="base" hangingPunct="1">
              <a:lnSpc>
                <a:spcPct val="150000"/>
              </a:lnSpc>
              <a:spcAft>
                <a:spcPct val="0"/>
              </a:spcAft>
              <a:defRPr/>
            </a:pPr>
            <a:r>
              <a:rPr lang="zh-CN" altLang="en-US" sz="2000" dirty="0">
                <a:solidFill>
                  <a:srgbClr val="006699"/>
                </a:solidFill>
              </a:rPr>
              <a:t>在训练的每一轮中，均从原始样本集</a:t>
            </a:r>
            <a:r>
              <a:rPr lang="en-US" altLang="zh-CN" sz="2000" dirty="0">
                <a:solidFill>
                  <a:srgbClr val="006699"/>
                </a:solidFill>
              </a:rPr>
              <a:t>S</a:t>
            </a:r>
            <a:r>
              <a:rPr lang="zh-CN" altLang="en-US" sz="2000" dirty="0">
                <a:solidFill>
                  <a:srgbClr val="006699"/>
                </a:solidFill>
              </a:rPr>
              <a:t>中有放回地随机抽取训练样本集</a:t>
            </a:r>
            <a:r>
              <a:rPr lang="en-US" altLang="zh-CN" sz="2000" dirty="0">
                <a:solidFill>
                  <a:srgbClr val="006699"/>
                </a:solidFill>
              </a:rPr>
              <a:t>T</a:t>
            </a:r>
            <a:r>
              <a:rPr lang="zh-CN" altLang="en-US" sz="2000" dirty="0">
                <a:solidFill>
                  <a:srgbClr val="006699"/>
                </a:solidFill>
              </a:rPr>
              <a:t>（</a:t>
            </a:r>
            <a:r>
              <a:rPr lang="en-US" altLang="zh-CN" sz="2000" dirty="0">
                <a:solidFill>
                  <a:srgbClr val="006699"/>
                </a:solidFill>
              </a:rPr>
              <a:t>T</a:t>
            </a:r>
            <a:r>
              <a:rPr lang="zh-CN" altLang="en-US" sz="2000" dirty="0">
                <a:solidFill>
                  <a:srgbClr val="006699"/>
                </a:solidFill>
              </a:rPr>
              <a:t>的样本个数同</a:t>
            </a:r>
            <a:r>
              <a:rPr lang="en-US" altLang="zh-CN" sz="2000" dirty="0">
                <a:solidFill>
                  <a:srgbClr val="006699"/>
                </a:solidFill>
              </a:rPr>
              <a:t>S</a:t>
            </a:r>
            <a:r>
              <a:rPr lang="zh-CN" altLang="en-US" sz="2000" dirty="0">
                <a:solidFill>
                  <a:srgbClr val="006699"/>
                </a:solidFill>
              </a:rPr>
              <a:t>），这样一个初始样本在某轮训练中可能出现多次或根本不出现（ </a:t>
            </a:r>
            <a:r>
              <a:rPr lang="en-US" altLang="zh-CN" sz="2000" dirty="0">
                <a:solidFill>
                  <a:srgbClr val="006699"/>
                </a:solidFill>
              </a:rPr>
              <a:t>S</a:t>
            </a:r>
            <a:r>
              <a:rPr lang="zh-CN" altLang="en-US" sz="2000" dirty="0">
                <a:solidFill>
                  <a:srgbClr val="006699"/>
                </a:solidFill>
              </a:rPr>
              <a:t>中每个样本未被抽取的概率为</a:t>
            </a:r>
            <a:r>
              <a:rPr lang="en-US" altLang="zh-CN" sz="2000" dirty="0">
                <a:solidFill>
                  <a:srgbClr val="006699"/>
                </a:solidFill>
              </a:rPr>
              <a:t>(</a:t>
            </a:r>
            <a:r>
              <a:rPr lang="en-US" altLang="zh-CN" sz="2000" dirty="0">
                <a:solidFill>
                  <a:srgbClr val="006699"/>
                </a:solidFill>
                <a:latin typeface="Times New Roman" pitchFamily="18" charset="0"/>
              </a:rPr>
              <a:t>1-1/|S|)</a:t>
            </a:r>
            <a:r>
              <a:rPr lang="en-US" altLang="zh-CN" sz="2000" baseline="30000" dirty="0">
                <a:solidFill>
                  <a:srgbClr val="006699"/>
                </a:solidFill>
                <a:latin typeface="Times New Roman" pitchFamily="18" charset="0"/>
              </a:rPr>
              <a:t>|S|</a:t>
            </a:r>
            <a:r>
              <a:rPr lang="en-US" altLang="zh-CN" sz="2000" dirty="0">
                <a:solidFill>
                  <a:srgbClr val="006699"/>
                </a:solidFill>
              </a:rPr>
              <a:t>≈0.368</a:t>
            </a:r>
            <a:r>
              <a:rPr lang="zh-CN" altLang="en-US" sz="2000" dirty="0">
                <a:solidFill>
                  <a:srgbClr val="006699"/>
                </a:solidFill>
              </a:rPr>
              <a:t>，当</a:t>
            </a:r>
            <a:r>
              <a:rPr lang="en-US" altLang="zh-CN" sz="2000" dirty="0">
                <a:solidFill>
                  <a:srgbClr val="006699"/>
                </a:solidFill>
                <a:latin typeface="Times New Roman" pitchFamily="18" charset="0"/>
              </a:rPr>
              <a:t>|S|</a:t>
            </a:r>
            <a:r>
              <a:rPr lang="zh-CN" altLang="en-US" sz="2000" dirty="0">
                <a:solidFill>
                  <a:srgbClr val="006699"/>
                </a:solidFill>
                <a:latin typeface="Times New Roman" pitchFamily="18" charset="0"/>
              </a:rPr>
              <a:t>很大时</a:t>
            </a:r>
            <a:r>
              <a:rPr lang="zh-CN" altLang="en-US" sz="2000" dirty="0">
                <a:solidFill>
                  <a:srgbClr val="006699"/>
                </a:solidFill>
              </a:rPr>
              <a:t>）。</a:t>
            </a:r>
          </a:p>
          <a:p>
            <a:pPr lvl="1" eaLnBrk="1" fontAlgn="base" hangingPunct="1">
              <a:lnSpc>
                <a:spcPct val="150000"/>
              </a:lnSpc>
              <a:spcAft>
                <a:spcPct val="0"/>
              </a:spcAft>
              <a:defRPr/>
            </a:pPr>
            <a:r>
              <a:rPr lang="zh-CN" altLang="en-US" sz="2000" dirty="0">
                <a:solidFill>
                  <a:srgbClr val="006699"/>
                </a:solidFill>
              </a:rPr>
              <a:t>最终的分类规则为简单多数投票法或简单平均法</a:t>
            </a:r>
            <a:endParaRPr lang="en-US" altLang="zh-CN" sz="2000" dirty="0">
              <a:solidFill>
                <a:srgbClr val="006699"/>
              </a:solidFill>
            </a:endParaRPr>
          </a:p>
          <a:p>
            <a:pPr fontAlgn="base">
              <a:lnSpc>
                <a:spcPct val="150000"/>
              </a:lnSpc>
              <a:spcAft>
                <a:spcPct val="0"/>
              </a:spcAft>
              <a:defRPr/>
            </a:pPr>
            <a:r>
              <a:rPr lang="zh-CN" altLang="en-US" sz="2400" b="1" dirty="0">
                <a:solidFill>
                  <a:srgbClr val="006699"/>
                </a:solidFill>
              </a:rPr>
              <a:t>为什么要有放回地抽样？</a:t>
            </a:r>
            <a:endParaRPr lang="zh-CN" altLang="en-US" sz="2400" dirty="0">
              <a:solidFill>
                <a:srgbClr val="006699"/>
              </a:solidFill>
            </a:endParaRPr>
          </a:p>
          <a:p>
            <a:pPr lvl="1" fontAlgn="base">
              <a:lnSpc>
                <a:spcPct val="150000"/>
              </a:lnSpc>
              <a:spcAft>
                <a:spcPct val="0"/>
              </a:spcAft>
              <a:defRPr/>
            </a:pPr>
            <a:r>
              <a:rPr lang="zh-CN" altLang="en-US" sz="2000" dirty="0">
                <a:solidFill>
                  <a:srgbClr val="006699"/>
                </a:solidFill>
              </a:rPr>
              <a:t>有放回地抽样才能保证每次抽取时可能的概率时一样的，即为了达到独立同分布，可保证每一颗决策树都是相互独立的</a:t>
            </a:r>
          </a:p>
        </p:txBody>
      </p:sp>
    </p:spTree>
    <p:extLst>
      <p:ext uri="{BB962C8B-B14F-4D97-AF65-F5344CB8AC3E}">
        <p14:creationId xmlns:p14="http://schemas.microsoft.com/office/powerpoint/2010/main" val="215990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152AC-9F03-B5DD-A1D5-2C506668F3D4}"/>
              </a:ext>
            </a:extLst>
          </p:cNvPr>
          <p:cNvSpPr>
            <a:spLocks noGrp="1"/>
          </p:cNvSpPr>
          <p:nvPr>
            <p:ph type="title"/>
          </p:nvPr>
        </p:nvSpPr>
        <p:spPr/>
        <p:txBody>
          <a:bodyPr>
            <a:normAutofit fontScale="90000"/>
          </a:bodyPr>
          <a:lstStyle/>
          <a:p>
            <a:r>
              <a:rPr kumimoji="1" lang="zh-CN" altLang="en-US" dirty="0"/>
              <a:t>随机森林案例</a:t>
            </a:r>
          </a:p>
        </p:txBody>
      </p:sp>
      <p:pic>
        <p:nvPicPr>
          <p:cNvPr id="3" name="图片 2">
            <a:extLst>
              <a:ext uri="{FF2B5EF4-FFF2-40B4-BE49-F238E27FC236}">
                <a16:creationId xmlns:a16="http://schemas.microsoft.com/office/drawing/2014/main" id="{40CFD27F-9E5A-2ED9-2968-1B07DC96E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947" y="1118152"/>
            <a:ext cx="7772400" cy="4621695"/>
          </a:xfrm>
          <a:prstGeom prst="rect">
            <a:avLst/>
          </a:prstGeom>
        </p:spPr>
      </p:pic>
    </p:spTree>
    <p:extLst>
      <p:ext uri="{BB962C8B-B14F-4D97-AF65-F5344CB8AC3E}">
        <p14:creationId xmlns:p14="http://schemas.microsoft.com/office/powerpoint/2010/main" val="19644756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EAA71-A6FB-148D-B6F1-021039B961A3}"/>
              </a:ext>
            </a:extLst>
          </p:cNvPr>
          <p:cNvSpPr>
            <a:spLocks noGrp="1"/>
          </p:cNvSpPr>
          <p:nvPr>
            <p:ph type="title"/>
          </p:nvPr>
        </p:nvSpPr>
        <p:spPr/>
        <p:txBody>
          <a:bodyPr>
            <a:normAutofit fontScale="90000"/>
          </a:bodyPr>
          <a:lstStyle/>
          <a:p>
            <a:r>
              <a:rPr kumimoji="1" lang="zh-CN" altLang="en-US" dirty="0"/>
              <a:t>随机森林案例</a:t>
            </a:r>
          </a:p>
        </p:txBody>
      </p:sp>
      <p:pic>
        <p:nvPicPr>
          <p:cNvPr id="3" name="图片 2">
            <a:extLst>
              <a:ext uri="{FF2B5EF4-FFF2-40B4-BE49-F238E27FC236}">
                <a16:creationId xmlns:a16="http://schemas.microsoft.com/office/drawing/2014/main" id="{6028B742-756C-EA2F-AF10-732598CB4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7299" y="990167"/>
            <a:ext cx="7772400" cy="5605984"/>
          </a:xfrm>
          <a:prstGeom prst="rect">
            <a:avLst/>
          </a:prstGeom>
        </p:spPr>
      </p:pic>
    </p:spTree>
    <p:extLst>
      <p:ext uri="{BB962C8B-B14F-4D97-AF65-F5344CB8AC3E}">
        <p14:creationId xmlns:p14="http://schemas.microsoft.com/office/powerpoint/2010/main" val="3875457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2275-4636-B99C-E9E5-CA9FC6826A5E}"/>
              </a:ext>
            </a:extLst>
          </p:cNvPr>
          <p:cNvSpPr>
            <a:spLocks noGrp="1"/>
          </p:cNvSpPr>
          <p:nvPr>
            <p:ph type="title"/>
          </p:nvPr>
        </p:nvSpPr>
        <p:spPr/>
        <p:txBody>
          <a:bodyPr>
            <a:normAutofit fontScale="90000"/>
          </a:bodyPr>
          <a:lstStyle/>
          <a:p>
            <a:r>
              <a:rPr kumimoji="1" lang="zh-CN" altLang="en-US" dirty="0"/>
              <a:t>随机森林案例</a:t>
            </a:r>
          </a:p>
        </p:txBody>
      </p:sp>
      <p:pic>
        <p:nvPicPr>
          <p:cNvPr id="4" name="图片 3">
            <a:extLst>
              <a:ext uri="{FF2B5EF4-FFF2-40B4-BE49-F238E27FC236}">
                <a16:creationId xmlns:a16="http://schemas.microsoft.com/office/drawing/2014/main" id="{0A98B562-ED53-1DE3-9640-F167FB344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541" y="898782"/>
            <a:ext cx="7772400" cy="5669407"/>
          </a:xfrm>
          <a:prstGeom prst="rect">
            <a:avLst/>
          </a:prstGeom>
        </p:spPr>
      </p:pic>
    </p:spTree>
    <p:extLst>
      <p:ext uri="{BB962C8B-B14F-4D97-AF65-F5344CB8AC3E}">
        <p14:creationId xmlns:p14="http://schemas.microsoft.com/office/powerpoint/2010/main" val="31077375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7258" y="379195"/>
            <a:ext cx="8243887" cy="827294"/>
          </a:xfrm>
        </p:spPr>
        <p:txBody>
          <a:bodyPr/>
          <a:lstStyle/>
          <a:p>
            <a:r>
              <a:rPr lang="zh-CN" altLang="en-US" sz="4000" b="1" dirty="0"/>
              <a:t>随机森林的优势</a:t>
            </a:r>
            <a:endParaRPr lang="zh-CN" altLang="en-US" sz="4000" dirty="0"/>
          </a:p>
        </p:txBody>
      </p:sp>
      <p:sp>
        <p:nvSpPr>
          <p:cNvPr id="3" name="内容占位符 2"/>
          <p:cNvSpPr>
            <a:spLocks noGrp="1"/>
          </p:cNvSpPr>
          <p:nvPr>
            <p:ph idx="1"/>
          </p:nvPr>
        </p:nvSpPr>
        <p:spPr>
          <a:xfrm>
            <a:off x="2301645" y="1485231"/>
            <a:ext cx="8229600" cy="4464496"/>
          </a:xfrm>
        </p:spPr>
        <p:txBody>
          <a:bodyPr/>
          <a:lstStyle/>
          <a:p>
            <a:pPr>
              <a:spcBef>
                <a:spcPts val="1200"/>
              </a:spcBef>
              <a:spcAft>
                <a:spcPts val="1200"/>
              </a:spcAft>
            </a:pPr>
            <a:r>
              <a:rPr lang="zh-CN" altLang="en-US" sz="2400" dirty="0"/>
              <a:t>在当前所有算法中，具有极好的准确率</a:t>
            </a:r>
          </a:p>
          <a:p>
            <a:pPr>
              <a:spcBef>
                <a:spcPts val="1200"/>
              </a:spcBef>
              <a:spcAft>
                <a:spcPts val="1200"/>
              </a:spcAft>
            </a:pPr>
            <a:r>
              <a:rPr lang="zh-CN" altLang="en-US" sz="2400" dirty="0"/>
              <a:t>能够有效地运行在大数据集上</a:t>
            </a:r>
          </a:p>
          <a:p>
            <a:pPr>
              <a:spcBef>
                <a:spcPts val="1200"/>
              </a:spcBef>
              <a:spcAft>
                <a:spcPts val="1200"/>
              </a:spcAft>
            </a:pPr>
            <a:r>
              <a:rPr lang="zh-CN" altLang="en-US" sz="2400" dirty="0"/>
              <a:t>能够处理具有高维特征（</a:t>
            </a:r>
            <a:r>
              <a:rPr lang="en-US" altLang="zh-CN" sz="2400" dirty="0"/>
              <a:t>feature</a:t>
            </a:r>
            <a:r>
              <a:rPr lang="zh-CN" altLang="en-US" sz="2400" dirty="0"/>
              <a:t>很多）的输入样本，而且不需要降维，不用做特征选择</a:t>
            </a:r>
          </a:p>
          <a:p>
            <a:pPr>
              <a:spcBef>
                <a:spcPts val="1200"/>
              </a:spcBef>
              <a:spcAft>
                <a:spcPts val="1200"/>
              </a:spcAft>
            </a:pPr>
            <a:r>
              <a:rPr lang="zh-CN" altLang="en-US" sz="2400" dirty="0"/>
              <a:t>能够评估各个特征在分类问题上的重要性</a:t>
            </a:r>
          </a:p>
          <a:p>
            <a:pPr>
              <a:spcBef>
                <a:spcPts val="1200"/>
              </a:spcBef>
              <a:spcAft>
                <a:spcPts val="1200"/>
              </a:spcAft>
            </a:pPr>
            <a:r>
              <a:rPr lang="zh-CN" altLang="en-US" sz="2400" dirty="0"/>
              <a:t>在生成过程中，能够获取到内部生成误差的一种无偏估计</a:t>
            </a:r>
          </a:p>
          <a:p>
            <a:pPr>
              <a:spcBef>
                <a:spcPts val="1200"/>
              </a:spcBef>
              <a:spcAft>
                <a:spcPts val="1200"/>
              </a:spcAft>
            </a:pPr>
            <a:endParaRPr lang="zh-CN" altLang="en-US" sz="2400" dirty="0"/>
          </a:p>
        </p:txBody>
      </p:sp>
    </p:spTree>
    <p:extLst>
      <p:ext uri="{BB962C8B-B14F-4D97-AF65-F5344CB8AC3E}">
        <p14:creationId xmlns:p14="http://schemas.microsoft.com/office/powerpoint/2010/main" val="1250634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34CE05-9B18-19AB-FD50-0295A1D54714}"/>
              </a:ext>
            </a:extLst>
          </p:cNvPr>
          <p:cNvSpPr txBox="1">
            <a:spLocks/>
          </p:cNvSpPr>
          <p:nvPr/>
        </p:nvSpPr>
        <p:spPr>
          <a:xfrm>
            <a:off x="831850" y="2865120"/>
            <a:ext cx="10515600" cy="229209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altLang="zh-CN" b="1" dirty="0">
                <a:solidFill>
                  <a:schemeClr val="accent1">
                    <a:lumMod val="50000"/>
                  </a:schemeClr>
                </a:solidFill>
              </a:rPr>
            </a:br>
            <a:r>
              <a:rPr lang="en-US" altLang="zh-CN" b="1" dirty="0" err="1">
                <a:solidFill>
                  <a:schemeClr val="accent1">
                    <a:lumMod val="50000"/>
                  </a:schemeClr>
                </a:solidFill>
              </a:rPr>
              <a:t>PySpark</a:t>
            </a:r>
            <a:r>
              <a:rPr lang="zh-CN" altLang="en-US" b="1">
                <a:solidFill>
                  <a:schemeClr val="accent1">
                    <a:lumMod val="50000"/>
                  </a:schemeClr>
                </a:solidFill>
              </a:rPr>
              <a:t>随机森林实现</a:t>
            </a:r>
            <a:endParaRPr lang="zh-CN" altLang="en-US" b="1" dirty="0">
              <a:solidFill>
                <a:schemeClr val="accent1">
                  <a:lumMod val="50000"/>
                </a:schemeClr>
              </a:solidFill>
            </a:endParaRPr>
          </a:p>
        </p:txBody>
      </p:sp>
    </p:spTree>
    <p:extLst>
      <p:ext uri="{BB962C8B-B14F-4D97-AF65-F5344CB8AC3E}">
        <p14:creationId xmlns:p14="http://schemas.microsoft.com/office/powerpoint/2010/main" val="14403577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CD4B6B-C662-4B07-309A-60DDA78CBD4C}"/>
              </a:ext>
            </a:extLst>
          </p:cNvPr>
          <p:cNvSpPr>
            <a:spLocks noGrp="1"/>
          </p:cNvSpPr>
          <p:nvPr>
            <p:ph type="title"/>
          </p:nvPr>
        </p:nvSpPr>
        <p:spPr/>
        <p:txBody>
          <a:bodyPr>
            <a:normAutofit fontScale="90000"/>
          </a:bodyPr>
          <a:lstStyle/>
          <a:p>
            <a:r>
              <a:rPr kumimoji="1" lang="zh-CN" altLang="en-US" dirty="0"/>
              <a:t>数据处理</a:t>
            </a:r>
          </a:p>
        </p:txBody>
      </p:sp>
      <p:pic>
        <p:nvPicPr>
          <p:cNvPr id="5" name="图片 4">
            <a:extLst>
              <a:ext uri="{FF2B5EF4-FFF2-40B4-BE49-F238E27FC236}">
                <a16:creationId xmlns:a16="http://schemas.microsoft.com/office/drawing/2014/main" id="{3C3E107D-C577-C8CC-C10F-C4FC26ACA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42" y="1168292"/>
            <a:ext cx="8748207" cy="1636901"/>
          </a:xfrm>
          <a:prstGeom prst="rect">
            <a:avLst/>
          </a:prstGeom>
        </p:spPr>
      </p:pic>
      <p:pic>
        <p:nvPicPr>
          <p:cNvPr id="7" name="图片 6">
            <a:extLst>
              <a:ext uri="{FF2B5EF4-FFF2-40B4-BE49-F238E27FC236}">
                <a16:creationId xmlns:a16="http://schemas.microsoft.com/office/drawing/2014/main" id="{3106941E-BDDF-9550-2C3C-4B11A866A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542" y="2747074"/>
            <a:ext cx="7251700" cy="3022600"/>
          </a:xfrm>
          <a:prstGeom prst="rect">
            <a:avLst/>
          </a:prstGeom>
        </p:spPr>
      </p:pic>
    </p:spTree>
    <p:extLst>
      <p:ext uri="{BB962C8B-B14F-4D97-AF65-F5344CB8AC3E}">
        <p14:creationId xmlns:p14="http://schemas.microsoft.com/office/powerpoint/2010/main" val="1672586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4A51BE-C0B9-3490-CEB5-11C702D6FEF6}"/>
              </a:ext>
            </a:extLst>
          </p:cNvPr>
          <p:cNvSpPr>
            <a:spLocks noGrp="1"/>
          </p:cNvSpPr>
          <p:nvPr>
            <p:ph type="title"/>
          </p:nvPr>
        </p:nvSpPr>
        <p:spPr/>
        <p:txBody>
          <a:bodyPr>
            <a:normAutofit fontScale="90000"/>
          </a:bodyPr>
          <a:lstStyle/>
          <a:p>
            <a:r>
              <a:rPr kumimoji="1" lang="zh-CN" altLang="en-US" dirty="0"/>
              <a:t>模型构建</a:t>
            </a:r>
          </a:p>
        </p:txBody>
      </p:sp>
      <p:pic>
        <p:nvPicPr>
          <p:cNvPr id="4" name="图片 3">
            <a:extLst>
              <a:ext uri="{FF2B5EF4-FFF2-40B4-BE49-F238E27FC236}">
                <a16:creationId xmlns:a16="http://schemas.microsoft.com/office/drawing/2014/main" id="{7565994A-0A27-DBD2-C802-F37920B23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042" y="1087465"/>
            <a:ext cx="9061361" cy="1500752"/>
          </a:xfrm>
          <a:prstGeom prst="rect">
            <a:avLst/>
          </a:prstGeom>
        </p:spPr>
      </p:pic>
      <p:pic>
        <p:nvPicPr>
          <p:cNvPr id="6" name="图片 5">
            <a:extLst>
              <a:ext uri="{FF2B5EF4-FFF2-40B4-BE49-F238E27FC236}">
                <a16:creationId xmlns:a16="http://schemas.microsoft.com/office/drawing/2014/main" id="{67FBB798-097F-3356-B28C-B87FF62B6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042" y="2588216"/>
            <a:ext cx="9049226" cy="1177871"/>
          </a:xfrm>
          <a:prstGeom prst="rect">
            <a:avLst/>
          </a:prstGeom>
        </p:spPr>
      </p:pic>
      <p:pic>
        <p:nvPicPr>
          <p:cNvPr id="8" name="图片 7">
            <a:extLst>
              <a:ext uri="{FF2B5EF4-FFF2-40B4-BE49-F238E27FC236}">
                <a16:creationId xmlns:a16="http://schemas.microsoft.com/office/drawing/2014/main" id="{A55D3F64-86FE-2D60-D46E-8562B5AB05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4907" y="3766087"/>
            <a:ext cx="9049226" cy="1465005"/>
          </a:xfrm>
          <a:prstGeom prst="rect">
            <a:avLst/>
          </a:prstGeom>
        </p:spPr>
      </p:pic>
    </p:spTree>
    <p:extLst>
      <p:ext uri="{BB962C8B-B14F-4D97-AF65-F5344CB8AC3E}">
        <p14:creationId xmlns:p14="http://schemas.microsoft.com/office/powerpoint/2010/main" val="1891075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9C014-0C3C-CEE2-2CE7-065D4E917013}"/>
              </a:ext>
            </a:extLst>
          </p:cNvPr>
          <p:cNvSpPr>
            <a:spLocks noGrp="1"/>
          </p:cNvSpPr>
          <p:nvPr>
            <p:ph type="title"/>
          </p:nvPr>
        </p:nvSpPr>
        <p:spPr/>
        <p:txBody>
          <a:bodyPr>
            <a:normAutofit fontScale="90000"/>
          </a:bodyPr>
          <a:lstStyle/>
          <a:p>
            <a:r>
              <a:rPr kumimoji="1" lang="zh-CN" altLang="en-US" dirty="0"/>
              <a:t>模型评价</a:t>
            </a:r>
          </a:p>
        </p:txBody>
      </p:sp>
      <p:pic>
        <p:nvPicPr>
          <p:cNvPr id="4" name="图片 3">
            <a:extLst>
              <a:ext uri="{FF2B5EF4-FFF2-40B4-BE49-F238E27FC236}">
                <a16:creationId xmlns:a16="http://schemas.microsoft.com/office/drawing/2014/main" id="{C9BB39C3-DD75-775B-F0FF-4F3E751F6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039" y="1109635"/>
            <a:ext cx="9377696" cy="5322161"/>
          </a:xfrm>
          <a:prstGeom prst="rect">
            <a:avLst/>
          </a:prstGeom>
        </p:spPr>
      </p:pic>
    </p:spTree>
    <p:extLst>
      <p:ext uri="{BB962C8B-B14F-4D97-AF65-F5344CB8AC3E}">
        <p14:creationId xmlns:p14="http://schemas.microsoft.com/office/powerpoint/2010/main" val="29384063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5811</TotalTime>
  <Words>4734</Words>
  <Application>Microsoft Macintosh PowerPoint</Application>
  <PresentationFormat>宽屏</PresentationFormat>
  <Paragraphs>2464</Paragraphs>
  <Slides>55</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69" baseType="lpstr">
      <vt:lpstr>等线</vt:lpstr>
      <vt:lpstr>等线 Light</vt:lpstr>
      <vt:lpstr>宋体</vt:lpstr>
      <vt:lpstr>微软雅黑</vt:lpstr>
      <vt:lpstr>Arial</vt:lpstr>
      <vt:lpstr>Calibri</vt:lpstr>
      <vt:lpstr>Cambria Math</vt:lpstr>
      <vt:lpstr>Monotype Sorts</vt:lpstr>
      <vt:lpstr>Times New Roman</vt:lpstr>
      <vt:lpstr>Verdana</vt:lpstr>
      <vt:lpstr>Wingdings</vt:lpstr>
      <vt:lpstr>Office 主题​​</vt:lpstr>
      <vt:lpstr>Equation</vt:lpstr>
      <vt:lpstr>公式</vt:lpstr>
      <vt:lpstr>PowerPoint 演示文稿</vt:lpstr>
      <vt:lpstr>PowerPoint 演示文稿</vt:lpstr>
      <vt:lpstr>PowerPoint 演示文稿</vt:lpstr>
      <vt:lpstr>PowerPoint 演示文稿</vt:lpstr>
      <vt:lpstr>一个决策树的例子（Different？）</vt:lpstr>
      <vt:lpstr>决策树构建方法</vt:lpstr>
      <vt:lpstr>Hunt算法</vt:lpstr>
      <vt:lpstr>Hunt算法</vt:lpstr>
      <vt:lpstr>Hunt算法</vt:lpstr>
      <vt:lpstr>Hunt算法</vt:lpstr>
      <vt:lpstr>Hunt算法</vt:lpstr>
      <vt:lpstr>Hunt算法</vt:lpstr>
      <vt:lpstr>Hunt算法</vt:lpstr>
      <vt:lpstr>怎样为不同类型的属性指定测试条件</vt:lpstr>
      <vt:lpstr>基于标称属性的分裂</vt:lpstr>
      <vt:lpstr>基于序数属性的划分</vt:lpstr>
      <vt:lpstr>基于连续属性的划分</vt:lpstr>
      <vt:lpstr>决策树归纳的设计问题</vt:lpstr>
      <vt:lpstr>怎样选择最佳划分</vt:lpstr>
      <vt:lpstr>Entropy 熵</vt:lpstr>
      <vt:lpstr>Entropy 熵</vt:lpstr>
      <vt:lpstr>Entropy 基于熵 —— 信息增益算法ID3</vt:lpstr>
      <vt:lpstr>Entropy 基于熵 —— 信息增益算法ID3</vt:lpstr>
      <vt:lpstr>Entropy 基于熵 —— 信息增益算法ID3</vt:lpstr>
      <vt:lpstr>Entropy 基于熵 —— 信息增益算法ID3</vt:lpstr>
      <vt:lpstr>其它结点纯性的测量</vt:lpstr>
      <vt:lpstr>纯性的测量：GINI</vt:lpstr>
      <vt:lpstr>基于 Classification Error的划分</vt:lpstr>
      <vt:lpstr>纯性度量之间的比较</vt:lpstr>
      <vt:lpstr>思考，哪棵树子节点纯性最高？</vt:lpstr>
      <vt:lpstr>考虑增益率（Gain Ratio）C4.5算法</vt:lpstr>
      <vt:lpstr>考虑增益率（Gain Ratio）C4.5算法</vt:lpstr>
      <vt:lpstr>数据是连续的怎么办</vt:lpstr>
      <vt:lpstr>一个例子</vt:lpstr>
      <vt:lpstr>数据是连续的怎么办</vt:lpstr>
      <vt:lpstr>决策树归纳的设计问题</vt:lpstr>
      <vt:lpstr>决策树构建</vt:lpstr>
      <vt:lpstr>CART决策树构建-案例</vt:lpstr>
      <vt:lpstr>CART-案例</vt:lpstr>
      <vt:lpstr>CART-案例</vt:lpstr>
      <vt:lpstr>CART-案例</vt:lpstr>
      <vt:lpstr>剪枝方法解决过拟合问题</vt:lpstr>
      <vt:lpstr>PowerPoint 演示文稿</vt:lpstr>
      <vt:lpstr>随机森林</vt:lpstr>
      <vt:lpstr>PowerPoint 演示文稿</vt:lpstr>
      <vt:lpstr>随机森林算法基本原理</vt:lpstr>
      <vt:lpstr>PowerPoint 演示文稿</vt:lpstr>
      <vt:lpstr>随机森林案例</vt:lpstr>
      <vt:lpstr>随机森林案例</vt:lpstr>
      <vt:lpstr>随机森林案例</vt:lpstr>
      <vt:lpstr>随机森林的优势</vt:lpstr>
      <vt:lpstr>PowerPoint 演示文稿</vt:lpstr>
      <vt:lpstr>数据处理</vt:lpstr>
      <vt:lpstr>模型构建</vt:lpstr>
      <vt:lpstr>模型评价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说课 ——《动力工程测控技术》</dc:title>
  <dc:creator>陈 冰虹</dc:creator>
  <cp:lastModifiedBy>Microsoft Office User</cp:lastModifiedBy>
  <cp:revision>846</cp:revision>
  <dcterms:created xsi:type="dcterms:W3CDTF">2021-11-17T13:21:01Z</dcterms:created>
  <dcterms:modified xsi:type="dcterms:W3CDTF">2025-04-21T01:22:31Z</dcterms:modified>
</cp:coreProperties>
</file>